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713f9c3-0bcc-74a1-77ad-8d9b186b46b0}">
          <p14:sldIdLst>
            <p14:sldId id="256"/>
          </p14:sldIdLst>
        </p14:section>
        <p14:section name="Opportunity" id="{17fad9b9-457f-957f-d619-ea2dd15b0ea7}">
          <p14:sldIdLst>
            <p14:sldId id="257"/>
            <p14:sldId id="258"/>
            <p14:sldId id="259"/>
            <p14:sldId id="260"/>
            <p14:sldId id="261"/>
          </p14:sldIdLst>
        </p14:section>
        <p14:section name="Business" id="{f6cb4538-efde-1f2e-46d6-5a571146a0c4}">
          <p14:sldIdLst>
            <p14:sldId id="262"/>
            <p14:sldId id="263"/>
            <p14:sldId id="264"/>
            <p14:sldId id="265"/>
          </p14:sldIdLst>
        </p14:section>
        <p14:section name="Team &amp; Financials" id="{054fa790-c744-1853-3110-2f899ca84aca}">
          <p14:sldIdLst>
            <p14:sldId id="266"/>
            <p14:sldId id="267"/>
            <p14:sldId id="268"/>
          </p14:sldIdLst>
        </p14:section>
        <p14:section name="Close" id="{1e759a61-7715-5b14-10c3-d3c905373a76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5E7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6B5E73"/>
                </a:solidFill>
                <a:latin typeface="+mn-lt"/>
              </a:rPr>
              <a:t>[Revenue / users] by month (sample data: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[Metric]</c:v>
                </c:pt>
              </c:strCache>
            </c:strRef>
          </c:tx>
          <c:spPr>
            <a:solidFill>
              <a:srgbClr val="7B3F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6B5E7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[M1]</c:v>
                  </c:pt>
                  <c:pt idx="1">
                    <c:v>[M2]</c:v>
                  </c:pt>
                  <c:pt idx="2">
                    <c:v>[M3]</c:v>
                  </c:pt>
                  <c:pt idx="3">
                    <c:v>[M4]</c:v>
                  </c:pt>
                  <c:pt idx="4">
                    <c:v>[M5]</c:v>
                  </c:pt>
                  <c:pt idx="5">
                    <c:v>[M6]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26</c:v>
                </c:pt>
                <c:pt idx="4">
                  <c:v>34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6B5E7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5E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5E7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6B5E73"/>
                </a:solidFill>
                <a:latin typeface="+mn-lt"/>
              </a:rPr>
              <a:t>Use of funds (placeholder split: replace)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152E"/>
              </a:solidFill>
              <a:effectLst/>
            </c:spPr>
          </c:dPt>
          <c:dPt>
            <c:idx val="1"/>
            <c:bubble3D val="0"/>
            <c:spPr>
              <a:solidFill>
                <a:srgbClr val="7B3FE4"/>
              </a:solidFill>
              <a:effectLst/>
            </c:spPr>
          </c:dPt>
          <c:dPt>
            <c:idx val="2"/>
            <c:bubble3D val="0"/>
            <c:spPr>
              <a:solidFill>
                <a:srgbClr val="D9A08F"/>
              </a:solidFill>
              <a:effectLst/>
            </c:spPr>
          </c:dPt>
          <c:dPt>
            <c:idx val="3"/>
            <c:bubble3D val="0"/>
            <c:spPr>
              <a:solidFill>
                <a:srgbClr val="C9B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Sales &amp; marketing</c:v>
                </c:pt>
                <c:pt idx="2">
                  <c:v>Operations &amp; G&amp;A</c:v>
                </c:pt>
                <c:pt idx="3">
                  <c:v>[Other]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2215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/ ONE-LINER
If an investor reads only this slide, they should know what you do. Use a plain-language one-liner (YC style: 'We help [who] do [what]'), not a slogan. Avoid jargon and buzzwords.
The raise chip is optional; some founders prefer to save the ask for the end. In a cold, send-ahead deck it's useful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(Sequoia: 'Describe the pain of the customer'; YC: 'Why is this a big, urgent problem?')
- Who has the problem, specifically? Name the customer segment.
- How painful is it? Quantify in time, money, or risk.
- How do they solve it today, and why does that fall short?
- One sharp stat or a short customer quote is more persuasive than a list.
Investors need to believe the problem is real, frequent, and expensive before they care about your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(Sequoia: 'Demonstrate your company's value proposition')
- Focus on what changes for the customer, not on a feature list.
- Make the before/after contrast obvious and, if possible, measurable.
- The 'insight' line is your secret: what you know that incumbents and other founders don't. Strong insights are often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/ DEMO
- Show, don't tell: real screenshots beat mockups; a short GIF or live demo beats both.
- Call out the 'magic moment', the point where the user gets value.
- Mention the product roadmap only briefly; you can put it in the appendix.
- If you're pre-product, show the prototype and what you've validated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(Sequoia: 'Set up the historical evolution of your category. Why hasn't this been done before?')
- Investors look hard at this slide: great ideas often failed because they were too early.
- Common 'why now' drivers: a new platform or technology (e.g., AI models, cheaper sensors), a regulatory change, a behavior shift, a collapse in cost, or a market dislocation.
- You don't need all three cards; one compelling shift is better than three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 (Sequoia: 'Identify/profile the customer you cater to')
- Build the number bottom-up: (number of target customers) × (what each pays per year). Top-down figures ('1% of a $50B market') are a red flag to most VCs.
- Venture investors generally need to see a path to a $1B+ company, so the TAM should support that.
- Show your math, or keep it ready for the appendix; cite sources for any third-party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(Sequoia: 'Revenue model, pricing, average account size, lifetime value')
- Who pays, how much, how often? (subscription, usage-based, transaction fee, marketplace take rate…)
- Swap the pricing tiers for a single price if that's simpler; delete what you don't need.
- Unit economics: only show what you actually have. At pre-seed it's fine to show target or early numbers, labeled as such.
- Rough benchmarks investors use for SaaS: LTV:CAC ≥ 3:1, CAC payback &lt; 12–18 months, gross margin 70%+.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(YC: 'This is often the most important slide')
- Put your single best number in the headline and make it big.
- Show growth over time, not a snapshot: a chart going up and to the right is the point of this slide.
- The chart uses SAMPLE data. Right-click it → Edit Data to enter your real numbers.
- Pick metrics that fit your stage: revenue/MRR, active users, retention, paid pilots, LOIs, waitlist, notable customer logos.
- If traction is your strongest card, move this slide up to right after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(Sequoia: 'List competitors; list your plan to win')
- Never say 'we have no competitors'. It signals naïveté or no market. Include the status quo (spreadsheets, doing nothing) and big incumbents.
- Pick 2×2 axes that genuinely matter to customers and honestly put you in the top-right. If the axes feel contrived, use a comparison table instead.
- The 'why we win' column matters more than the chart: what's defensible and gets stronger over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
- How do you find, win, and keep customers, and how does that scale?
- Be specific about the first channel that works; 'viral growth' or 'partnerships' with no evidence won't land.
- If you have data (CAC by channel, conversion rates, sales cycle length, pipeline), it belongs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(Sequoia: 'Founders, management, board of directors/advisors')
- At early stages, investors are betting on the team more than anything else.
- For each person, give the one credential that makes them uniquely suited to THIS problem (domain expertise, prior startup or exit, technical depth), not a full CV.
- Show how long the founders have worked together and that you're full-time.
- Delete or add cards to match your team; notable advisors and angels go in the bottom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
- Keep it high level: 3–5 years of revenue, burn, and headcount. Detailed models go in the appendix or data room.
- Investors know projections are guesses; they're judging whether your assumptions are reasonable and whether you understand your business's drivers.
- Pre-revenue? Show the plan for the next 18–24 months and the milestones that unlock the next round instead.
- Rename the year columns (e.g., 2027, 2028…) and delete rows you don't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/ USE OF FUNDS
- State the amount, instrument (SAFE or priced round), and anything already committed or a lead investor.
- Tie the money to milestones: 'this round gets us to X, which sets us up for the next round'. Investors fund milestones, not runway.
- 18–24 months of runway is a typical target.
- The doughnut uses a placeholder 25/25/25/25 split. Right-click → Edit Data to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/ CLOSE
- End on the big picture: if everything works, what does this company become in 10 years?
- Leave contact details on screen during Q&amp;A.
- Optionally restate the ask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
Backup slides for diligence questions. Keep them out of the main flow, but have them ready. Typical contents: detailed model, cohort/retention curves, customer references and case studies, technical deep-dive, roadmap, cap table, and full TAM math.
Duplicate any content slide (right-click → Duplicate Slide) to build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SPLIT_RIGHT-image-2.jpe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SPLIT_LEFT-image-2.jpe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STATEMENT_DARK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74980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8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806440"/>
            <a:ext cx="6400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41248" y="384048"/>
            <a:ext cx="10799064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8000"/>
              </a:lnSpc>
              <a:buNone/>
              <a:defRPr lang="en-US" sz="38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88000"/>
              </a:lnSpc>
              <a:buNone/>
            </a:pPr>
            <a:endParaRPr lang="en-US" sz="3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[Company name] · 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_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41248" y="384048"/>
            <a:ext cx="641268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713232"/>
            <a:ext cx="670529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8000"/>
              </a:lnSpc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88000"/>
              </a:lnSpc>
              <a:buNone/>
            </a:pPr>
            <a:endParaRPr lang="en-US" sz="32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[Company name] · 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_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429768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276088" y="384048"/>
            <a:ext cx="6366967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983480" y="713232"/>
            <a:ext cx="665957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8000"/>
              </a:lnSpc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88000"/>
              </a:lnSpc>
              <a:buNone/>
            </a:pPr>
            <a:endParaRPr lang="en-US" sz="3200" dirty="0"/>
          </a:p>
        </p:txBody>
      </p:sp>
      <p:sp>
        <p:nvSpPr>
          <p:cNvPr id="5" name="Text 0"/>
          <p:cNvSpPr/>
          <p:nvPr/>
        </p:nvSpPr>
        <p:spPr>
          <a:xfrm>
            <a:off x="498348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[Company name] · Confidential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97280"/>
            <a:ext cx="1069848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600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ceholder"/>
          <p:cNvSpPr/>
          <p:nvPr/>
        </p:nvSpPr>
        <p:spPr>
          <a:xfrm>
            <a:off x="731520" y="640080"/>
            <a:ext cx="1463040" cy="731520"/>
          </a:xfrm>
          <a:prstGeom prst="roundRect">
            <a:avLst>
              <a:gd name="adj" fmla="val 17500"/>
            </a:avLst>
          </a:prstGeom>
          <a:solidFill>
            <a:schemeClr val="bg1">
              <a:alpha val="60000"/>
            </a:schemeClr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[Logo]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73736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400" dirty="0">
                <a:solidFill>
                  <a:schemeClr val="tx1"/>
                </a:solidFill>
              </a:rPr>
              <a:t>[Company name]</a:t>
            </a:r>
            <a:endParaRPr lang="en-US" sz="8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5204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[One-liner: We help (who) do (what) by (how)]</a:t>
            </a:r>
            <a:endParaRPr lang="en-US" sz="2200" dirty="0"/>
          </a:p>
        </p:txBody>
      </p:sp>
      <p:sp>
        <p:nvSpPr>
          <p:cNvPr id="6" name="Raise chip"/>
          <p:cNvSpPr/>
          <p:nvPr/>
        </p:nvSpPr>
        <p:spPr>
          <a:xfrm>
            <a:off x="731520" y="4663440"/>
            <a:ext cx="4572000" cy="56692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Raising </a:t>
            </a:r>
            <a:pPr algn="ctr" indent="0" marL="0">
              <a:buNone/>
            </a:pPr>
            <a:r>
              <a:rPr lang="en-US" sz="2200" b="1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  ·  [Pre-seed / Seed / Series A]</a:t>
            </a:r>
            <a:endParaRPr lang="en-US" sz="1500" dirty="0"/>
          </a:p>
        </p:txBody>
      </p:sp>
      <p:sp>
        <p:nvSpPr>
          <p:cNvPr id="8" name="Text 0"/>
          <p:cNvSpPr/>
          <p:nvPr>
            <p:ph idx="102" type="body" hasCustomPrompt="1"/>
          </p:nvPr>
        </p:nvSpPr>
        <p:spPr>
          <a:xfrm>
            <a:off x="731520" y="5806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[Founder name], [Title]  ·  [email@company.com]  ·  [Month YYYY]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41248" y="384048"/>
            <a:ext cx="6412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01 — THE PROBLEM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6705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dirty="0">
                <a:solidFill>
                  <a:schemeClr val="tx1"/>
                </a:solidFill>
              </a:rPr>
              <a:t>[Target customers] struggle to [do X], and it costs them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[time / money]</a:t>
            </a:r>
            <a:endParaRPr lang="en-US" sz="3200" dirty="0"/>
          </a:p>
        </p:txBody>
      </p:sp>
      <p:pic>
        <p:nvPicPr>
          <p:cNvPr id="4" name="Marker 0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938528"/>
            <a:ext cx="5928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[Pain point 1]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395728"/>
            <a:ext cx="5928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[Who feels it, how often, and what it costs them]</a:t>
            </a:r>
            <a:endParaRPr lang="en-US" sz="1600" dirty="0"/>
          </a:p>
        </p:txBody>
      </p:sp>
      <p:pic>
        <p:nvPicPr>
          <p:cNvPr id="8" name="Marker 0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37560"/>
            <a:ext cx="566928" cy="5669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3355848"/>
            <a:ext cx="5928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[Pain point 2]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813048"/>
            <a:ext cx="5928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[Make it concrete: a real customer story beats an abstract claim]</a:t>
            </a:r>
            <a:endParaRPr lang="en-US" sz="1600" dirty="0"/>
          </a:p>
        </p:txBody>
      </p:sp>
      <p:pic>
        <p:nvPicPr>
          <p:cNvPr id="12" name="Marker 03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0"/>
            <a:ext cx="566928" cy="56692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4773168"/>
            <a:ext cx="5928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How it's handled today: [current workaround]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5230368"/>
            <a:ext cx="5928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[Spreadsheets, manual work, legacy tools, and why they fall short]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122615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THE COST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122615" y="155448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[XX%]</a:t>
            </a:r>
            <a:endParaRPr lang="en-US" sz="12000" dirty="0"/>
          </a:p>
        </p:txBody>
      </p:sp>
      <p:sp>
        <p:nvSpPr>
          <p:cNvPr id="18" name="Text 13"/>
          <p:cNvSpPr txBox="1"/>
          <p:nvPr/>
        </p:nvSpPr>
        <p:spPr>
          <a:xfrm>
            <a:off x="8122615" y="3291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of [target customers] [experience this pain / lose $X per year to it]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122615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Source: [citation]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41248" y="384048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02 — THE SOLUTION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[Product] lets [customer] </a:t>
            </a:r>
            <a:pPr algn="l" indent="0" marL="0">
              <a:lnSpc>
                <a:spcPct val="88000"/>
              </a:lnSpc>
              <a:buNone/>
            </a:pPr>
            <a:r>
              <a:rPr lang="en-US" sz="41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[achieve outcome]</a:t>
            </a:r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 in [time] instead of [time]</a:t>
            </a:r>
            <a:endParaRPr lang="en-US" sz="3800" dirty="0"/>
          </a:p>
        </p:txBody>
      </p:sp>
      <p:sp>
        <p:nvSpPr>
          <p:cNvPr id="4" name="Today card"/>
          <p:cNvSpPr/>
          <p:nvPr/>
        </p:nvSpPr>
        <p:spPr>
          <a:xfrm>
            <a:off x="548640" y="1874520"/>
            <a:ext cx="4937760" cy="310896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tx2"/>
                </a:solidFill>
              </a:rPr>
              <a:t>TODAY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343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[Slow / manual step]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[Costly or error-prone step]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tx2"/>
                </a:solidFill>
              </a:rPr>
              <a:t>[The outcome customers settle for]</a:t>
            </a:r>
            <a:endParaRPr lang="en-US" sz="1900" dirty="0"/>
          </a:p>
        </p:txBody>
      </p:sp>
      <p:pic>
        <p:nvPicPr>
          <p:cNvPr id="7" name="Marker →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3044952"/>
            <a:ext cx="777240" cy="777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87568" y="30449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→</a:t>
            </a:r>
            <a:endParaRPr lang="en-US" sz="2900" dirty="0"/>
          </a:p>
        </p:txBody>
      </p:sp>
      <p:pic>
        <p:nvPicPr>
          <p:cNvPr id="9" name="With product card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74520"/>
            <a:ext cx="4965192" cy="31089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9516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WITH [PRODUCT]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995160" y="2606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[What becomes fast or automatic]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[Measurable gain: X× faster, $Y saved]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</a:rPr>
              <a:t>[A new outcome that wasn't possible before]</a:t>
            </a:r>
            <a:endParaRPr lang="en-US" sz="1900" dirty="0"/>
          </a:p>
        </p:txBody>
      </p:sp>
      <p:pic>
        <p:nvPicPr>
          <p:cNvPr id="12" name="Insight card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212080"/>
            <a:ext cx="11091672" cy="9601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68680" y="52120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Our insight 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[The non-obvious thing you understand about this problem that others miss]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41248" y="384048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03 — PRODUCT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How it works: </a:t>
            </a:r>
            <a:pPr algn="l" indent="0" marL="0">
              <a:lnSpc>
                <a:spcPct val="88000"/>
              </a:lnSpc>
              <a:buNone/>
            </a:pPr>
            <a:r>
              <a:rPr lang="en-US" sz="41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[the product in one sentence]</a:t>
            </a:r>
            <a:endParaRPr lang="en-US" sz="3800" dirty="0"/>
          </a:p>
        </p:txBody>
      </p:sp>
      <p:sp>
        <p:nvSpPr>
          <p:cNvPr id="4" name="Screenshot frame"/>
          <p:cNvSpPr/>
          <p:nvPr/>
        </p:nvSpPr>
        <p:spPr>
          <a:xfrm>
            <a:off x="548640" y="1783080"/>
            <a:ext cx="7223760" cy="438912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84248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84248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984248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Screenshot placeholder"/>
          <p:cNvSpPr/>
          <p:nvPr/>
        </p:nvSpPr>
        <p:spPr>
          <a:xfrm>
            <a:off x="777240" y="2286000"/>
            <a:ext cx="6766560" cy="3657600"/>
          </a:xfrm>
          <a:prstGeom prst="roundRect">
            <a:avLst>
              <a:gd name="adj" fmla="val 3500"/>
            </a:avLst>
          </a:prstGeom>
          <a:solidFill>
            <a:srgbClr val="F0E4E6"/>
          </a:solidFill>
          <a:ln w="12700">
            <a:solidFill>
              <a:schemeClr val="accent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777240" y="2286000"/>
            <a:ext cx="6766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[Product screenshot, mockup, or demo GIF]</a:t>
            </a:r>
            <a:endParaRPr lang="en-US" sz="1800" dirty="0"/>
          </a:p>
        </p:txBody>
      </p:sp>
      <p:pic>
        <p:nvPicPr>
          <p:cNvPr id="10" name="Marker 0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828800"/>
            <a:ext cx="566928" cy="56692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0924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1856232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[Key feature 1]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2304288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[What it does and why the user cares]</a:t>
            </a:r>
            <a:endParaRPr lang="en-US" sz="1600" dirty="0"/>
          </a:p>
        </p:txBody>
      </p:sp>
      <p:pic>
        <p:nvPicPr>
          <p:cNvPr id="14" name="Marker 0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91840"/>
            <a:ext cx="566928" cy="5669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92440" y="3291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8823960" y="3319272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[Key feature 2]</a:t>
            </a:r>
            <a:endParaRPr lang="en-US" sz="2100" dirty="0"/>
          </a:p>
        </p:txBody>
      </p:sp>
      <p:sp>
        <p:nvSpPr>
          <p:cNvPr id="17" name="Text 13"/>
          <p:cNvSpPr txBox="1"/>
          <p:nvPr/>
        </p:nvSpPr>
        <p:spPr>
          <a:xfrm>
            <a:off x="8823960" y="3767328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[What it does and why the user cares]</a:t>
            </a:r>
            <a:endParaRPr lang="en-US" sz="1600" dirty="0"/>
          </a:p>
        </p:txBody>
      </p:sp>
      <p:pic>
        <p:nvPicPr>
          <p:cNvPr id="18" name="Marker 03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754880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9244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8823960" y="4782312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[Key feature 3]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8823960" y="5230368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[What it does and why the user cares]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41248" y="384048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04 — WHY NOW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Why now: </a:t>
            </a:r>
            <a:pPr algn="l" indent="0" marL="0">
              <a:lnSpc>
                <a:spcPct val="88000"/>
              </a:lnSpc>
              <a:buNone/>
            </a:pPr>
            <a:r>
              <a:rPr lang="en-US" sz="41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[the shift that makes this possible today]</a:t>
            </a:r>
            <a:endParaRPr lang="en-US" sz="3800" dirty="0"/>
          </a:p>
        </p:txBody>
      </p:sp>
      <p:sp>
        <p:nvSpPr>
          <p:cNvPr id="4" name="Why now card 1"/>
          <p:cNvSpPr/>
          <p:nvPr/>
        </p:nvSpPr>
        <p:spPr>
          <a:xfrm>
            <a:off x="548640" y="1828800"/>
            <a:ext cx="3520440" cy="434340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pic>
        <p:nvPicPr>
          <p:cNvPr id="5" name="Marker 0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TECHNOLOGY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8328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the tech]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0060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600" dirty="0"/>
          </a:p>
        </p:txBody>
      </p:sp>
      <p:pic>
        <p:nvPicPr>
          <p:cNvPr id="10" name="Why now card 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828800"/>
            <a:ext cx="3520440" cy="4343400"/>
          </a:xfrm>
          <a:prstGeom prst="rect">
            <a:avLst/>
          </a:prstGeom>
        </p:spPr>
      </p:pic>
      <p:pic>
        <p:nvPicPr>
          <p:cNvPr id="11" name="Marker 0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214884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5429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4654296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MARKET / BEHAVIOR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654296" y="338328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how people buy or work]</a:t>
            </a:r>
            <a:endParaRPr lang="en-US" sz="2700" dirty="0"/>
          </a:p>
        </p:txBody>
      </p:sp>
      <p:sp>
        <p:nvSpPr>
          <p:cNvPr id="15" name="Text 10"/>
          <p:cNvSpPr txBox="1"/>
          <p:nvPr/>
        </p:nvSpPr>
        <p:spPr>
          <a:xfrm>
            <a:off x="4654296" y="480060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[Why this makes your solution possible, or necessary, now and not 5 years ago]</a:t>
            </a:r>
            <a:endParaRPr lang="en-US" sz="1600" dirty="0"/>
          </a:p>
        </p:txBody>
      </p:sp>
      <p:sp>
        <p:nvSpPr>
          <p:cNvPr id="16" name="Why now card 3"/>
          <p:cNvSpPr/>
          <p:nvPr/>
        </p:nvSpPr>
        <p:spPr>
          <a:xfrm>
            <a:off x="8119872" y="1828800"/>
            <a:ext cx="3520440" cy="434340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pic>
        <p:nvPicPr>
          <p:cNvPr id="17" name="Marker 03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214884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3991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8439912" y="3017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REGULATION / COST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8439912" y="338328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[What changed in rules or costs]</a:t>
            </a:r>
            <a:endParaRPr lang="en-US" sz="2700" dirty="0"/>
          </a:p>
        </p:txBody>
      </p:sp>
      <p:sp>
        <p:nvSpPr>
          <p:cNvPr id="21" name="Text 15"/>
          <p:cNvSpPr txBox="1"/>
          <p:nvPr/>
        </p:nvSpPr>
        <p:spPr>
          <a:xfrm>
            <a:off x="8439912" y="480060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[Why this makes your solution possible, or necessary, now and not 5 years ago]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41248" y="384048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05 — MARKET SIZE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A $[X]B market, and we can win </a:t>
            </a:r>
            <a:pPr algn="l" indent="0" marL="0">
              <a:lnSpc>
                <a:spcPct val="88000"/>
              </a:lnSpc>
              <a:buNone/>
            </a:pPr>
            <a:r>
              <a:rPr lang="en-US" sz="41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$[Y]M of it</a:t>
            </a:r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 in [N] years</a:t>
            </a:r>
            <a:endParaRPr lang="en-US" sz="3800" dirty="0"/>
          </a:p>
        </p:txBody>
      </p:sp>
      <p:sp>
        <p:nvSpPr>
          <p:cNvPr id="4" name="TAM circle"/>
          <p:cNvSpPr/>
          <p:nvPr/>
        </p:nvSpPr>
        <p:spPr>
          <a:xfrm>
            <a:off x="685800" y="1755648"/>
            <a:ext cx="4434840" cy="44348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5" name="SAM circle"/>
          <p:cNvSpPr/>
          <p:nvPr/>
        </p:nvSpPr>
        <p:spPr>
          <a:xfrm>
            <a:off x="1348740" y="3081528"/>
            <a:ext cx="3108960" cy="3108960"/>
          </a:xfrm>
          <a:prstGeom prst="ellipse">
            <a:avLst/>
          </a:prstGeom>
          <a:solidFill>
            <a:srgbClr val="EADDF0"/>
          </a:solidFill>
          <a:ln/>
        </p:spPr>
      </p:sp>
      <p:pic>
        <p:nvPicPr>
          <p:cNvPr id="6" name="SOM sphere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361688"/>
            <a:ext cx="1828800" cy="1828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8882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98882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98882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SOM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5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1801368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Total addressable market (TAM)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2194560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[Everyone who could ever buy this × annual spend]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295351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56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01752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Serviceable market (SAM)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3410712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[The segment you can reach with today's product and channels]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416966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56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4233672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Obtainable in [3–5] years (SOM)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4626864"/>
            <a:ext cx="3593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[The realistic share you can win: the number to defend]</a:t>
            </a:r>
            <a:endParaRPr lang="en-US" sz="1600" dirty="0"/>
          </a:p>
        </p:txBody>
      </p:sp>
      <p:sp>
        <p:nvSpPr>
          <p:cNvPr id="19" name="Bottom-up math"/>
          <p:cNvSpPr/>
          <p:nvPr/>
        </p:nvSpPr>
        <p:spPr>
          <a:xfrm>
            <a:off x="5760720" y="5486400"/>
            <a:ext cx="5879592" cy="685800"/>
          </a:xfrm>
          <a:prstGeom prst="roundRect">
            <a:avLst>
              <a:gd name="adj" fmla="val 37333"/>
            </a:avLst>
          </a:prstGeom>
          <a:solidFill>
            <a:srgbClr val="F0E4E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035040" y="54864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Bottom-up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[# customers] × $[ACV] = $[SAM]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41248" y="384048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06 — BUSINESS MODEL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We charge [customer] </a:t>
            </a:r>
            <a:pPr algn="l" indent="0" marL="0">
              <a:lnSpc>
                <a:spcPct val="88000"/>
              </a:lnSpc>
              <a:buNone/>
            </a:pPr>
            <a:r>
              <a:rPr lang="en-US" sz="41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[$X per unit]</a:t>
            </a:r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: [pricing model in one line]</a:t>
            </a:r>
            <a:endParaRPr lang="en-US" sz="3800" dirty="0"/>
          </a:p>
        </p:txBody>
      </p:sp>
      <p:sp>
        <p:nvSpPr>
          <p:cNvPr id="4" name="Pricing tier 1"/>
          <p:cNvSpPr/>
          <p:nvPr/>
        </p:nvSpPr>
        <p:spPr>
          <a:xfrm>
            <a:off x="548640" y="1783080"/>
            <a:ext cx="3520440" cy="22402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[TIER 1]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/ [user · month]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[Who it's for and what's included]</a:t>
            </a:r>
            <a:endParaRPr lang="en-US" sz="1600" dirty="0"/>
          </a:p>
        </p:txBody>
      </p:sp>
      <p:pic>
        <p:nvPicPr>
          <p:cNvPr id="8" name="Pricing tier 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4256" y="1783080"/>
            <a:ext cx="3520440" cy="2240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654296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[TIER 2]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654296" y="22860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 / [user · month]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4654296" y="3291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[Who it's for and what's included]</a:t>
            </a:r>
            <a:endParaRPr lang="en-US" sz="1600" dirty="0"/>
          </a:p>
        </p:txBody>
      </p:sp>
      <p:sp>
        <p:nvSpPr>
          <p:cNvPr id="12" name="Pricing tier 3"/>
          <p:cNvSpPr/>
          <p:nvPr/>
        </p:nvSpPr>
        <p:spPr>
          <a:xfrm>
            <a:off x="8119872" y="1783080"/>
            <a:ext cx="3520440" cy="22402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439912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[TIER 3]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439912" y="22860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/ [user · month]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8439912" y="32918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[Who it's for and what's included]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24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UNIT ECONOMICS</a:t>
            </a:r>
            <a:endParaRPr lang="en-US" sz="1300" dirty="0"/>
          </a:p>
        </p:txBody>
      </p:sp>
      <p:sp>
        <p:nvSpPr>
          <p:cNvPr id="17" name="Unit economics 1"/>
          <p:cNvSpPr/>
          <p:nvPr/>
        </p:nvSpPr>
        <p:spPr>
          <a:xfrm>
            <a:off x="548640" y="4553712"/>
            <a:ext cx="2574036" cy="1618488"/>
          </a:xfrm>
          <a:prstGeom prst="roundRect">
            <a:avLst>
              <a:gd name="adj" fmla="val 1581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22960" y="4681728"/>
            <a:ext cx="20253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52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559552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Avg. contract value (ACV)</a:t>
            </a:r>
            <a:endParaRPr lang="en-US" sz="1600" dirty="0"/>
          </a:p>
        </p:txBody>
      </p:sp>
      <p:sp>
        <p:nvSpPr>
          <p:cNvPr id="20" name="Unit economics 2"/>
          <p:cNvSpPr/>
          <p:nvPr/>
        </p:nvSpPr>
        <p:spPr>
          <a:xfrm>
            <a:off x="3387852" y="4553712"/>
            <a:ext cx="2574036" cy="1618488"/>
          </a:xfrm>
          <a:prstGeom prst="roundRect">
            <a:avLst>
              <a:gd name="adj" fmla="val 1581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662172" y="4681728"/>
            <a:ext cx="20253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5200" dirty="0"/>
          </a:p>
        </p:txBody>
      </p:sp>
      <p:sp>
        <p:nvSpPr>
          <p:cNvPr id="22" name="Text 19"/>
          <p:cNvSpPr txBox="1"/>
          <p:nvPr/>
        </p:nvSpPr>
        <p:spPr>
          <a:xfrm>
            <a:off x="3662172" y="5559552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Gross margin</a:t>
            </a:r>
            <a:endParaRPr lang="en-US" sz="1600" dirty="0"/>
          </a:p>
        </p:txBody>
      </p:sp>
      <p:sp>
        <p:nvSpPr>
          <p:cNvPr id="23" name="Unit economics 3"/>
          <p:cNvSpPr/>
          <p:nvPr/>
        </p:nvSpPr>
        <p:spPr>
          <a:xfrm>
            <a:off x="6227064" y="4553712"/>
            <a:ext cx="2574036" cy="1618488"/>
          </a:xfrm>
          <a:prstGeom prst="roundRect">
            <a:avLst>
              <a:gd name="adj" fmla="val 1581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501384" y="4681728"/>
            <a:ext cx="20253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</a:t>
            </a:r>
            <a:endParaRPr lang="en-US" sz="5200" dirty="0"/>
          </a:p>
        </p:txBody>
      </p:sp>
      <p:sp>
        <p:nvSpPr>
          <p:cNvPr id="25" name="Text 22"/>
          <p:cNvSpPr txBox="1"/>
          <p:nvPr/>
        </p:nvSpPr>
        <p:spPr>
          <a:xfrm>
            <a:off x="6501384" y="5559552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CAC payback period</a:t>
            </a:r>
            <a:endParaRPr lang="en-US" sz="1600" dirty="0"/>
          </a:p>
        </p:txBody>
      </p:sp>
      <p:sp>
        <p:nvSpPr>
          <p:cNvPr id="26" name="Unit economics 4"/>
          <p:cNvSpPr/>
          <p:nvPr/>
        </p:nvSpPr>
        <p:spPr>
          <a:xfrm>
            <a:off x="9066276" y="4553712"/>
            <a:ext cx="2574036" cy="1618488"/>
          </a:xfrm>
          <a:prstGeom prst="roundRect">
            <a:avLst>
              <a:gd name="adj" fmla="val 1581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340596" y="4681728"/>
            <a:ext cx="20253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[X]:1</a:t>
            </a:r>
            <a:endParaRPr lang="en-US" sz="5200" dirty="0"/>
          </a:p>
        </p:txBody>
      </p:sp>
      <p:sp>
        <p:nvSpPr>
          <p:cNvPr id="28" name="Text 25"/>
          <p:cNvSpPr txBox="1"/>
          <p:nvPr/>
        </p:nvSpPr>
        <p:spPr>
          <a:xfrm>
            <a:off x="9340596" y="5559552"/>
            <a:ext cx="2025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LTV : CAC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41248" y="384048"/>
            <a:ext cx="6412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07 — TRACTION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6705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dirty="0">
                <a:solidFill>
                  <a:schemeClr val="tx1"/>
                </a:solidFill>
              </a:rPr>
              <a:t>[Key metric]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grew [X]×</a:t>
            </a:r>
            <a:pPr algn="l" indent="0" marL="0">
              <a:lnSpc>
                <a:spcPct val="88000"/>
              </a:lnSpc>
              <a:buNone/>
            </a:pPr>
            <a:r>
              <a:rPr lang="en-US" sz="3200" dirty="0">
                <a:solidFill>
                  <a:schemeClr val="tx1"/>
                </a:solidFill>
              </a:rPr>
              <a:t> in [N] months</a:t>
            </a:r>
            <a:endParaRPr lang="en-US" sz="3200" dirty="0"/>
          </a:p>
        </p:txBody>
      </p:sp>
      <p:sp>
        <p:nvSpPr>
          <p:cNvPr id="4" name="Chart card"/>
          <p:cNvSpPr/>
          <p:nvPr/>
        </p:nvSpPr>
        <p:spPr>
          <a:xfrm>
            <a:off x="548640" y="1783080"/>
            <a:ext cx="6705295" cy="438912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920240"/>
          <a:ext cx="633953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2615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KEY METRICS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122615" y="13716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6400" dirty="0"/>
          </a:p>
        </p:txBody>
      </p:sp>
      <p:sp>
        <p:nvSpPr>
          <p:cNvPr id="8" name="Text 5"/>
          <p:cNvSpPr txBox="1"/>
          <p:nvPr/>
        </p:nvSpPr>
        <p:spPr>
          <a:xfrm>
            <a:off x="8122615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Monthly recurring revenue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122615" y="29718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+[X]%</a:t>
            </a:r>
            <a:endParaRPr lang="en-US" sz="6400" dirty="0"/>
          </a:p>
        </p:txBody>
      </p:sp>
      <p:sp>
        <p:nvSpPr>
          <p:cNvPr id="10" name="Text 7"/>
          <p:cNvSpPr txBox="1"/>
          <p:nvPr/>
        </p:nvSpPr>
        <p:spPr>
          <a:xfrm>
            <a:off x="8122615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Month-over-month growth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122615" y="4572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6400" dirty="0"/>
          </a:p>
        </p:txBody>
      </p:sp>
      <p:sp>
        <p:nvSpPr>
          <p:cNvPr id="12" name="Text 9"/>
          <p:cNvSpPr txBox="1"/>
          <p:nvPr/>
        </p:nvSpPr>
        <p:spPr>
          <a:xfrm>
            <a:off x="8122615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Net revenue retention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41248" y="384048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08 — COMPETITION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[Company] is the only [category] that </a:t>
            </a:r>
            <a:pPr algn="l" indent="0" marL="0">
              <a:lnSpc>
                <a:spcPct val="88000"/>
              </a:lnSpc>
              <a:buNone/>
            </a:pPr>
            <a:r>
              <a:rPr lang="en-US" sz="41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[key differentiator]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83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↑  [Y axis: e.g., Depth / power]</a:t>
            </a:r>
            <a:endParaRPr lang="en-US" sz="1300" dirty="0"/>
          </a:p>
        </p:txBody>
      </p:sp>
      <p:sp>
        <p:nvSpPr>
          <p:cNvPr id="5" name="Matrix background"/>
          <p:cNvSpPr/>
          <p:nvPr/>
        </p:nvSpPr>
        <p:spPr>
          <a:xfrm>
            <a:off x="914400" y="2103120"/>
            <a:ext cx="5760720" cy="3703320"/>
          </a:xfrm>
          <a:prstGeom prst="roundRect">
            <a:avLst>
              <a:gd name="adj" fmla="val 6914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94760" y="2240280"/>
            <a:ext cx="0" cy="34290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959352"/>
            <a:ext cx="54864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58704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[X axis: e.g., Ease of use]  →</a:t>
            </a:r>
            <a:endParaRPr lang="en-US" sz="1300" dirty="0"/>
          </a:p>
        </p:txBody>
      </p:sp>
      <p:pic>
        <p:nvPicPr>
          <p:cNvPr id="9" name="Your company marker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286000"/>
            <a:ext cx="566928" cy="56692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886200" y="228600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[Your company]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80160" y="2697480"/>
            <a:ext cx="384048" cy="384048"/>
          </a:xfrm>
          <a:prstGeom prst="ellipse">
            <a:avLst/>
          </a:prstGeom>
          <a:solidFill>
            <a:srgbClr val="D9CC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783080" y="2697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[Competitor A]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206240" y="4434840"/>
            <a:ext cx="384048" cy="384048"/>
          </a:xfrm>
          <a:prstGeom prst="ellipse">
            <a:avLst/>
          </a:prstGeom>
          <a:solidFill>
            <a:srgbClr val="D9CCD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09160" y="4434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[Competitor B]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280160" y="4892040"/>
            <a:ext cx="384048" cy="384048"/>
          </a:xfrm>
          <a:prstGeom prst="ellipse">
            <a:avLst/>
          </a:prstGeom>
          <a:solidFill>
            <a:srgbClr val="D9CCD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783080" y="48920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[Competitor C]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210312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WHY WE WIN</a:t>
            </a:r>
            <a:endParaRPr lang="en-US" sz="1300" dirty="0"/>
          </a:p>
        </p:txBody>
      </p:sp>
      <p:pic>
        <p:nvPicPr>
          <p:cNvPr id="18" name="Marker 0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56032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780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7863840" y="2578608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[Unfair advantage 1]</a:t>
            </a:r>
            <a:endParaRPr lang="en-US" sz="1900" dirty="0"/>
          </a:p>
        </p:txBody>
      </p:sp>
      <p:sp>
        <p:nvSpPr>
          <p:cNvPr id="21" name="Text 17"/>
          <p:cNvSpPr txBox="1"/>
          <p:nvPr/>
        </p:nvSpPr>
        <p:spPr>
          <a:xfrm>
            <a:off x="7863840" y="2990088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500" dirty="0"/>
          </a:p>
        </p:txBody>
      </p:sp>
      <p:pic>
        <p:nvPicPr>
          <p:cNvPr id="22" name="Marker 0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74904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1780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7863840" y="3767328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[Unfair advantage 2]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7863840" y="4178808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500" dirty="0"/>
          </a:p>
        </p:txBody>
      </p:sp>
      <p:pic>
        <p:nvPicPr>
          <p:cNvPr id="26" name="Marker 03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493776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780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7863840" y="4956048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[Unfair advantage 3]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7863840" y="5367528"/>
            <a:ext cx="3776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41248" y="384048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09 — GO-TO-MARKET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How we reach customers: </a:t>
            </a:r>
            <a:pPr algn="l" indent="0" marL="0">
              <a:lnSpc>
                <a:spcPct val="88000"/>
              </a:lnSpc>
              <a:buNone/>
            </a:pPr>
            <a:r>
              <a:rPr lang="en-US" sz="41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[primary channel]</a:t>
            </a:r>
            <a:endParaRPr lang="en-US" sz="3800" dirty="0"/>
          </a:p>
        </p:txBody>
      </p:sp>
      <p:pic>
        <p:nvPicPr>
          <p:cNvPr id="4" name="Marker 0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1463040" y="2171700"/>
            <a:ext cx="27340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2743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STEP 1 · LAND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632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Founder-led sales to 10 design partners]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4164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[Timing, target, and what success looks like]</a:t>
            </a:r>
            <a:endParaRPr lang="en-US" sz="1600" dirty="0"/>
          </a:p>
        </p:txBody>
      </p:sp>
      <p:pic>
        <p:nvPicPr>
          <p:cNvPr id="10" name="Marker 0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783080"/>
            <a:ext cx="777240" cy="7772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34256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900" dirty="0"/>
          </a:p>
        </p:txBody>
      </p:sp>
      <p:sp>
        <p:nvSpPr>
          <p:cNvPr id="12" name="Shape 8"/>
          <p:cNvSpPr/>
          <p:nvPr/>
        </p:nvSpPr>
        <p:spPr>
          <a:xfrm>
            <a:off x="5248656" y="2171700"/>
            <a:ext cx="27340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4334256" y="2743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STEP 2 · EXPAND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334256" y="30632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Referrals and upsell within accounts]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4334256" y="404164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[Timing, target, and what success looks like]</a:t>
            </a:r>
            <a:endParaRPr lang="en-US" sz="1600" dirty="0"/>
          </a:p>
        </p:txBody>
      </p:sp>
      <p:pic>
        <p:nvPicPr>
          <p:cNvPr id="16" name="Marker 03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7830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19872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900" dirty="0"/>
          </a:p>
        </p:txBody>
      </p:sp>
      <p:sp>
        <p:nvSpPr>
          <p:cNvPr id="18" name="Text 13"/>
          <p:cNvSpPr txBox="1"/>
          <p:nvPr/>
        </p:nvSpPr>
        <p:spPr>
          <a:xfrm>
            <a:off x="8119872" y="2743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STEP 3 · SCALE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119872" y="30632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Inside sales team + partner channel]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8119872" y="404164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[Timing, target, and what success looks like]</a:t>
            </a:r>
            <a:endParaRPr lang="en-US" sz="1600" dirty="0"/>
          </a:p>
        </p:txBody>
      </p:sp>
      <p:sp>
        <p:nvSpPr>
          <p:cNvPr id="21" name="GTM card 1"/>
          <p:cNvSpPr/>
          <p:nvPr/>
        </p:nvSpPr>
        <p:spPr>
          <a:xfrm>
            <a:off x="548640" y="4754880"/>
            <a:ext cx="3520440" cy="1417320"/>
          </a:xfrm>
          <a:prstGeom prst="roundRect">
            <a:avLst>
              <a:gd name="adj" fmla="val 1806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822960" y="4919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Ideal customer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53035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[Industry, company size, buyer title]</a:t>
            </a:r>
            <a:endParaRPr lang="en-US" sz="1600" dirty="0"/>
          </a:p>
        </p:txBody>
      </p:sp>
      <p:sp>
        <p:nvSpPr>
          <p:cNvPr id="24" name="GTM card 2"/>
          <p:cNvSpPr/>
          <p:nvPr/>
        </p:nvSpPr>
        <p:spPr>
          <a:xfrm>
            <a:off x="4334256" y="4754880"/>
            <a:ext cx="3520440" cy="1417320"/>
          </a:xfrm>
          <a:prstGeom prst="roundRect">
            <a:avLst>
              <a:gd name="adj" fmla="val 1806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4608576" y="4919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Sales motion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4608576" y="53035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[Self-serve, PLG, or sales team]</a:t>
            </a:r>
            <a:endParaRPr lang="en-US" sz="1600" dirty="0"/>
          </a:p>
        </p:txBody>
      </p:sp>
      <p:sp>
        <p:nvSpPr>
          <p:cNvPr id="27" name="GTM card 3"/>
          <p:cNvSpPr/>
          <p:nvPr/>
        </p:nvSpPr>
        <p:spPr>
          <a:xfrm>
            <a:off x="8119872" y="4754880"/>
            <a:ext cx="3520440" cy="1417320"/>
          </a:xfrm>
          <a:prstGeom prst="roundRect">
            <a:avLst>
              <a:gd name="adj" fmla="val 1806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8394192" y="4919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Proof it works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8394192" y="53035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[CAC by channel, conversion rate, pipeline]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41248" y="384048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10 — TEAM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Why us: </a:t>
            </a:r>
            <a:pPr algn="l" indent="0" marL="0">
              <a:lnSpc>
                <a:spcPct val="88000"/>
              </a:lnSpc>
              <a:buNone/>
            </a:pPr>
            <a:r>
              <a:rPr lang="en-US" sz="41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[the unfair advantage this team brings]</a:t>
            </a:r>
            <a:endParaRPr lang="en-US" sz="3800" dirty="0"/>
          </a:p>
        </p:txBody>
      </p:sp>
      <p:sp>
        <p:nvSpPr>
          <p:cNvPr id="4" name="Team card 1"/>
          <p:cNvSpPr/>
          <p:nvPr/>
        </p:nvSpPr>
        <p:spPr>
          <a:xfrm>
            <a:off x="548640" y="1783080"/>
            <a:ext cx="2574036" cy="3931920"/>
          </a:xfrm>
          <a:prstGeom prst="roundRect">
            <a:avLst>
              <a:gd name="adj" fmla="val 994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5" name="Photo 1"/>
          <p:cNvSpPr/>
          <p:nvPr/>
        </p:nvSpPr>
        <p:spPr>
          <a:xfrm>
            <a:off x="914400" y="2148840"/>
            <a:ext cx="1234440" cy="1234440"/>
          </a:xfrm>
          <a:prstGeom prst="ellipse">
            <a:avLst/>
          </a:prstGeom>
          <a:solidFill>
            <a:srgbClr val="F0E4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[Photo]</a:t>
            </a:r>
            <a:endParaRPr lang="en-US" sz="1200" dirty="0"/>
          </a:p>
        </p:txBody>
      </p:sp>
      <p:pic>
        <p:nvPicPr>
          <p:cNvPr id="7" name="Photo ring 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1417320" cy="1417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611880"/>
            <a:ext cx="2025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3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3308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[Role]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526280"/>
            <a:ext cx="2025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500" dirty="0"/>
          </a:p>
        </p:txBody>
      </p:sp>
      <p:sp>
        <p:nvSpPr>
          <p:cNvPr id="11" name="Team card 2"/>
          <p:cNvSpPr/>
          <p:nvPr/>
        </p:nvSpPr>
        <p:spPr>
          <a:xfrm>
            <a:off x="3387852" y="1783080"/>
            <a:ext cx="2574036" cy="3931920"/>
          </a:xfrm>
          <a:prstGeom prst="roundRect">
            <a:avLst>
              <a:gd name="adj" fmla="val 994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12" name="Photo 2"/>
          <p:cNvSpPr/>
          <p:nvPr/>
        </p:nvSpPr>
        <p:spPr>
          <a:xfrm>
            <a:off x="3753612" y="2148840"/>
            <a:ext cx="1234440" cy="1234440"/>
          </a:xfrm>
          <a:prstGeom prst="ellipse">
            <a:avLst/>
          </a:prstGeom>
          <a:solidFill>
            <a:srgbClr val="F0E4E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753612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[Photo]</a:t>
            </a:r>
            <a:endParaRPr lang="en-US" sz="1200" dirty="0"/>
          </a:p>
        </p:txBody>
      </p:sp>
      <p:pic>
        <p:nvPicPr>
          <p:cNvPr id="14" name="Photo ring 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2057400"/>
            <a:ext cx="1417320" cy="1417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62172" y="3611880"/>
            <a:ext cx="2025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3100" dirty="0"/>
          </a:p>
        </p:txBody>
      </p:sp>
      <p:sp>
        <p:nvSpPr>
          <p:cNvPr id="16" name="Text 12"/>
          <p:cNvSpPr txBox="1"/>
          <p:nvPr/>
        </p:nvSpPr>
        <p:spPr>
          <a:xfrm>
            <a:off x="3662172" y="413308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[Role]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662172" y="4526280"/>
            <a:ext cx="2025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500" dirty="0"/>
          </a:p>
        </p:txBody>
      </p:sp>
      <p:sp>
        <p:nvSpPr>
          <p:cNvPr id="18" name="Team card 3"/>
          <p:cNvSpPr/>
          <p:nvPr/>
        </p:nvSpPr>
        <p:spPr>
          <a:xfrm>
            <a:off x="6227064" y="1783080"/>
            <a:ext cx="2574036" cy="3931920"/>
          </a:xfrm>
          <a:prstGeom prst="roundRect">
            <a:avLst>
              <a:gd name="adj" fmla="val 994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19" name="Photo 3"/>
          <p:cNvSpPr/>
          <p:nvPr/>
        </p:nvSpPr>
        <p:spPr>
          <a:xfrm>
            <a:off x="6592824" y="2148840"/>
            <a:ext cx="1234440" cy="1234440"/>
          </a:xfrm>
          <a:prstGeom prst="ellipse">
            <a:avLst/>
          </a:prstGeom>
          <a:solidFill>
            <a:srgbClr val="F0E4E6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592824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[Photo]</a:t>
            </a:r>
            <a:endParaRPr lang="en-US" sz="1200" dirty="0"/>
          </a:p>
        </p:txBody>
      </p:sp>
      <p:pic>
        <p:nvPicPr>
          <p:cNvPr id="21" name="Photo ring 3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057400"/>
            <a:ext cx="1417320" cy="1417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01384" y="3611880"/>
            <a:ext cx="2025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3100" dirty="0"/>
          </a:p>
        </p:txBody>
      </p:sp>
      <p:sp>
        <p:nvSpPr>
          <p:cNvPr id="23" name="Text 18"/>
          <p:cNvSpPr txBox="1"/>
          <p:nvPr/>
        </p:nvSpPr>
        <p:spPr>
          <a:xfrm>
            <a:off x="6501384" y="413308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[Role]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501384" y="4526280"/>
            <a:ext cx="2025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500" dirty="0"/>
          </a:p>
        </p:txBody>
      </p:sp>
      <p:sp>
        <p:nvSpPr>
          <p:cNvPr id="25" name="Team card 4"/>
          <p:cNvSpPr/>
          <p:nvPr/>
        </p:nvSpPr>
        <p:spPr>
          <a:xfrm>
            <a:off x="9066276" y="1783080"/>
            <a:ext cx="2574036" cy="3931920"/>
          </a:xfrm>
          <a:prstGeom prst="roundRect">
            <a:avLst>
              <a:gd name="adj" fmla="val 994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26" name="Photo 4"/>
          <p:cNvSpPr/>
          <p:nvPr/>
        </p:nvSpPr>
        <p:spPr>
          <a:xfrm>
            <a:off x="9432036" y="2148840"/>
            <a:ext cx="1234440" cy="1234440"/>
          </a:xfrm>
          <a:prstGeom prst="ellipse">
            <a:avLst/>
          </a:prstGeom>
          <a:solidFill>
            <a:srgbClr val="F0E4E6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432036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[Photo]</a:t>
            </a:r>
            <a:endParaRPr lang="en-US" sz="1200" dirty="0"/>
          </a:p>
        </p:txBody>
      </p:sp>
      <p:pic>
        <p:nvPicPr>
          <p:cNvPr id="28" name="Photo ring 4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596" y="2057400"/>
            <a:ext cx="1417320" cy="1417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340596" y="3611880"/>
            <a:ext cx="20253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3100" dirty="0"/>
          </a:p>
        </p:txBody>
      </p:sp>
      <p:sp>
        <p:nvSpPr>
          <p:cNvPr id="30" name="Text 24"/>
          <p:cNvSpPr txBox="1"/>
          <p:nvPr/>
        </p:nvSpPr>
        <p:spPr>
          <a:xfrm>
            <a:off x="9340596" y="4133088"/>
            <a:ext cx="20253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[Role]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9340596" y="4526280"/>
            <a:ext cx="20253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779008"/>
            <a:ext cx="11091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Advisors &amp; investors  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[Name (credential)]  ·  [Name (credential)]  ·  [Name (credential)]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41248" y="384048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11 — FINANCIALS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Path to </a:t>
            </a:r>
            <a:pPr algn="l" indent="0" marL="0">
              <a:lnSpc>
                <a:spcPct val="88000"/>
              </a:lnSpc>
              <a:buNone/>
            </a:pPr>
            <a:r>
              <a:rPr lang="en-US" sz="41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 revenue</a:t>
            </a:r>
            <a:pPr algn="l" indent="0" marL="0">
              <a:lnSpc>
                <a:spcPct val="88000"/>
              </a:lnSpc>
              <a:buNone/>
            </a:pPr>
            <a:r>
              <a:rPr lang="en-US" sz="3800" dirty="0">
                <a:solidFill>
                  <a:schemeClr val="tx1"/>
                </a:solidFill>
              </a:rPr>
              <a:t> by [year]</a:t>
            </a:r>
            <a:endParaRPr lang="en-US" sz="3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[Year 1]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[Year 2]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[Year 3]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[Year 4]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[Year 5]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Revenue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Gross margin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Operating expenses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Net burn / EBITDA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Ending cash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Headcount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600" dirty="0"/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6"/>
                    </a:solidFill>
                  </a:tcPr>
                </a:tc>
              </a:tr>
            </a:tbl>
          </a:graphicData>
        </a:graphic>
      </p:graphicFrame>
      <p:pic>
        <p:nvPicPr>
          <p:cNvPr id="5" name="Assumptions card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212080"/>
            <a:ext cx="11091672" cy="9601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8680" y="5212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Key assumptions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3383280" y="5285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[Growth rate and what drives it]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[Pricing, churn, and sales capacity assumptions]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[When you reach breakeven, or what the next round funds]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276088" y="384048"/>
            <a:ext cx="63669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12 — THE ASK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983480" y="713232"/>
            <a:ext cx="6659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dirty="0">
                <a:solidFill>
                  <a:schemeClr val="tx1"/>
                </a:solidFill>
              </a:rPr>
              <a:t>We're raising $[X]M to reach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[milestone]</a:t>
            </a:r>
            <a:pPr algn="l" indent="0" marL="0">
              <a:lnSpc>
                <a:spcPct val="88000"/>
              </a:lnSpc>
              <a:buNone/>
            </a:pPr>
            <a:r>
              <a:rPr lang="en-US" sz="3200" dirty="0">
                <a:solidFill>
                  <a:schemeClr val="tx1"/>
                </a:solidFill>
              </a:rPr>
              <a:t> in [N] months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RAISING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5448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1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290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accent6"/>
                </a:solidFill>
              </a:rPr>
              <a:t>[SAFE / priced round]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accent6"/>
                </a:solidFill>
              </a:rPr>
              <a:t>[Pre-seed / Seed / Series A]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accent6"/>
                </a:solidFill>
              </a:rPr>
              <a:t>[$X committed · Lead: (name)]</a:t>
            </a:r>
            <a:endParaRPr lang="en-US" sz="2000" dirty="0"/>
          </a:p>
        </p:txBody>
      </p:sp>
      <p:sp>
        <p:nvSpPr>
          <p:cNvPr id="7" name="Use of funds card"/>
          <p:cNvSpPr/>
          <p:nvPr/>
        </p:nvSpPr>
        <p:spPr>
          <a:xfrm>
            <a:off x="4983480" y="1783080"/>
            <a:ext cx="6659575" cy="2651760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5120640" y="1874520"/>
          <a:ext cx="6385255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Milestone 1"/>
          <p:cNvSpPr/>
          <p:nvPr/>
        </p:nvSpPr>
        <p:spPr>
          <a:xfrm>
            <a:off x="4983480" y="4617720"/>
            <a:ext cx="2067458" cy="155448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212080" y="4773168"/>
            <a:ext cx="1610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MILESTONE 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5074920"/>
            <a:ext cx="1610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$1M ARR]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5623560"/>
            <a:ext cx="1610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[by month N]</a:t>
            </a:r>
            <a:endParaRPr lang="en-US" sz="1500" dirty="0"/>
          </a:p>
        </p:txBody>
      </p:sp>
      <p:sp>
        <p:nvSpPr>
          <p:cNvPr id="13" name="Milestone 2"/>
          <p:cNvSpPr/>
          <p:nvPr/>
        </p:nvSpPr>
        <p:spPr>
          <a:xfrm>
            <a:off x="7279538" y="4617720"/>
            <a:ext cx="2067458" cy="155448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508138" y="4773168"/>
            <a:ext cx="1610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MILESTONE 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508138" y="5074920"/>
            <a:ext cx="1610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[e.g., 50 logos]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508138" y="5623560"/>
            <a:ext cx="1610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[by month N]</a:t>
            </a:r>
            <a:endParaRPr lang="en-US" sz="1500" dirty="0"/>
          </a:p>
        </p:txBody>
      </p:sp>
      <p:sp>
        <p:nvSpPr>
          <p:cNvPr id="17" name="Milestone 3"/>
          <p:cNvSpPr/>
          <p:nvPr/>
        </p:nvSpPr>
        <p:spPr>
          <a:xfrm>
            <a:off x="9575597" y="4617720"/>
            <a:ext cx="2067458" cy="1554480"/>
          </a:xfrm>
          <a:prstGeom prst="roundRect">
            <a:avLst>
              <a:gd name="adj" fmla="val 16471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381000" dist="76200" dir="5400000">
              <a:srgbClr val="B5487A">
                <a:alpha val="14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804197" y="4773168"/>
            <a:ext cx="1610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RUNWAY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804197" y="5074920"/>
            <a:ext cx="1610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months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804197" y="5623560"/>
            <a:ext cx="1610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[to next round]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97280"/>
            <a:ext cx="10698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chemeClr val="bg1"/>
                </a:solidFill>
              </a:rPr>
              <a:t>[Your vision in one bold sentence: </a:t>
            </a:r>
            <a:pPr algn="l" indent="0" marL="0">
              <a:lnSpc>
                <a:spcPct val="90000"/>
              </a:lnSpc>
              <a:buNone/>
            </a:pPr>
            <a:r>
              <a:rPr lang="en-US" sz="6400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the world looks like if you win]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[Founder name]  ·  [email@company.com]  ·  [phone]  ·  [company.com]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97280"/>
            <a:ext cx="10698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800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Appendix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[Detailed financials  ·  Cohort and retention data  ·  Customer case studies  ·  Technical architecture  ·  Product roadmap  ·  Cap table]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ybreak Metallic">
  <a:themeElements>
    <a:clrScheme name="Daybreak Metallic">
      <a:dk1>
        <a:srgbClr val="22152E"/>
      </a:dk1>
      <a:lt1>
        <a:srgbClr val="FFFFFF"/>
      </a:lt1>
      <a:dk2>
        <a:srgbClr val="6B5E73"/>
      </a:dk2>
      <a:lt2>
        <a:srgbClr val="F7F1F0"/>
      </a:lt2>
      <a:accent1>
        <a:srgbClr val="7B3FE4"/>
      </a:accent1>
      <a:accent2>
        <a:srgbClr val="B5487A"/>
      </a:accent2>
      <a:accent3>
        <a:srgbClr val="D9A08F"/>
      </a:accent3>
      <a:accent4>
        <a:srgbClr val="1E8C73"/>
      </a:accent4>
      <a:accent5>
        <a:srgbClr val="E8DCDF"/>
      </a:accent5>
      <a:accent6>
        <a:srgbClr val="F3DCC4"/>
      </a:accent6>
      <a:hlink>
        <a:srgbClr val="7B3FE4"/>
      </a:hlink>
      <a:folHlink>
        <a:srgbClr val="6B5E73"/>
      </a:folHlink>
    </a:clrScheme>
    <a:fontScheme name="Daybreak Metallic">
      <a:majorFont>
        <a:latin typeface="Instrument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 (Daybreak Metallic)</dc:title>
  <dc:subject>PptxGenJS Presentation</dc:subject>
  <dc:creator>PptxGenJS</dc:creator>
  <cp:lastModifiedBy>PptxGenJS</cp:lastModifiedBy>
  <cp:revision>1</cp:revision>
  <dcterms:created xsi:type="dcterms:W3CDTF">2026-10-12T01:11:17Z</dcterms:created>
  <dcterms:modified xsi:type="dcterms:W3CDTF">2026-10-12T01:11:17Z</dcterms:modified>
</cp:coreProperties>
</file>