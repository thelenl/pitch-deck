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23605d-23fd-ece9-daf9-38f21804778d}">
          <p14:sldIdLst>
            <p14:sldId id="256"/>
          </p14:sldIdLst>
        </p14:section>
        <p14:section name="Opportunity" id="{1ed13970-42c1-6102-88a1-da5e959951a9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5ce97bbc-36fe-087c-fb4c-a87d1372dbba}">
          <p14:sldIdLst>
            <p14:sldId id="262"/>
            <p14:sldId id="263"/>
            <p14:sldId id="264"/>
            <p14:sldId id="265"/>
          </p14:sldIdLst>
        </p14:section>
        <p14:section name="Team &amp; Financials" id="{87ce39ed-3ac1-5dcd-ddbd-02957f5936d0}">
          <p14:sldIdLst>
            <p14:sldId id="266"/>
            <p14:sldId id="267"/>
            <p14:sldId id="268"/>
          </p14:sldIdLst>
        </p14:section>
        <p14:section name="Close" id="{0d23910e-ad7f-e35c-f326-490d217898e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E5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E5A55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FA52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1"/>
                    </a:solidFill>
                    <a:latin typeface="+mj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11111"/>
                  </a:solidFill>
                  <a:latin typeface="+mj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E5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E5A55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A520F"/>
              </a:solidFill>
              <a:effectLst/>
            </c:spPr>
          </c:dPt>
          <c:dPt>
            <c:idx val="1"/>
            <c:bubble3D val="0"/>
            <c:spPr>
              <a:solidFill>
                <a:srgbClr val="FFA110"/>
              </a:solidFill>
              <a:effectLst/>
            </c:spPr>
          </c:dPt>
          <c:dPt>
            <c:idx val="2"/>
            <c:bubble3D val="0"/>
            <c:spPr>
              <a:solidFill>
                <a:srgbClr val="FFD900"/>
              </a:solidFill>
              <a:effectLst/>
            </c:spPr>
          </c:dPt>
          <c:dPt>
            <c:idx val="3"/>
            <c:bubble3D val="0"/>
            <c:spPr>
              <a:solidFill>
                <a:srgbClr val="11111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1111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EMB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946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7252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1558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5864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70170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8782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43088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7394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1700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6006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40312" y="274320"/>
            <a:ext cx="0" cy="6309360"/>
          </a:xfrm>
          <a:prstGeom prst="line">
            <a:avLst/>
          </a:prstGeom>
          <a:noFill/>
          <a:ln w="9525">
            <a:solidFill>
              <a:srgbClr val="FF6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5394960"/>
            <a:ext cx="91440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Shape 14"/>
          <p:cNvSpPr/>
          <p:nvPr/>
        </p:nvSpPr>
        <p:spPr>
          <a:xfrm>
            <a:off x="8897112" y="5394960"/>
            <a:ext cx="91440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7112" y="4480560"/>
            <a:ext cx="914400" cy="9144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Shape 16"/>
          <p:cNvSpPr/>
          <p:nvPr/>
        </p:nvSpPr>
        <p:spPr>
          <a:xfrm>
            <a:off x="9811512" y="5394960"/>
            <a:ext cx="91440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Shape 17"/>
          <p:cNvSpPr/>
          <p:nvPr/>
        </p:nvSpPr>
        <p:spPr>
          <a:xfrm>
            <a:off x="9811512" y="4480560"/>
            <a:ext cx="914400" cy="9144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Shape 18"/>
          <p:cNvSpPr/>
          <p:nvPr/>
        </p:nvSpPr>
        <p:spPr>
          <a:xfrm>
            <a:off x="9811512" y="3566160"/>
            <a:ext cx="914400" cy="9144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25912" y="5394960"/>
            <a:ext cx="91440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25912" y="4480560"/>
            <a:ext cx="914400" cy="9144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25912" y="3566160"/>
            <a:ext cx="914400" cy="9144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25912" y="2651760"/>
            <a:ext cx="914400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/>
          <p:nvPr>
            <p:ph idx="123" type="title" hasCustomPrompt="1"/>
          </p:nvPr>
        </p:nvSpPr>
        <p:spPr>
          <a:xfrm>
            <a:off x="548640" y="1737360"/>
            <a:ext cx="78638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26" name="Text 23"/>
          <p:cNvSpPr/>
          <p:nvPr>
            <p:ph idx="124" type="body" hasCustomPrompt="1"/>
          </p:nvPr>
        </p:nvSpPr>
        <p:spPr>
          <a:xfrm>
            <a:off x="54864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7" name="Text 23"/>
          <p:cNvSpPr/>
          <p:nvPr>
            <p:ph idx="125" type="body" hasCustomPrompt="1"/>
          </p:nvPr>
        </p:nvSpPr>
        <p:spPr>
          <a:xfrm>
            <a:off x="548640" y="5989320"/>
            <a:ext cx="7223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946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7252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1558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5864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70170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8782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43088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7394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1700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6006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40312" y="274320"/>
            <a:ext cx="0" cy="63093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48640" y="6428232"/>
            <a:ext cx="256032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" y="6428232"/>
            <a:ext cx="256032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Shape 16"/>
          <p:cNvSpPr/>
          <p:nvPr/>
        </p:nvSpPr>
        <p:spPr>
          <a:xfrm>
            <a:off x="1060704" y="6428232"/>
            <a:ext cx="256032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hape 17"/>
          <p:cNvSpPr/>
          <p:nvPr/>
        </p:nvSpPr>
        <p:spPr>
          <a:xfrm>
            <a:off x="1316736" y="6428232"/>
            <a:ext cx="256032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Text 18"/>
          <p:cNvSpPr/>
          <p:nvPr/>
        </p:nvSpPr>
        <p:spPr>
          <a:xfrm>
            <a:off x="1737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IN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946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7252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1558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5864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70170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8782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43088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7394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1700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6006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40312" y="274320"/>
            <a:ext cx="0" cy="6309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097280"/>
            <a:ext cx="8229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1097280"/>
            <a:ext cx="82296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4560" y="1097280"/>
            <a:ext cx="82296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1097280"/>
            <a:ext cx="822960" cy="274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/>
          <p:nvPr>
            <p:ph idx="117" type="title" hasCustomPrompt="1"/>
          </p:nvPr>
        </p:nvSpPr>
        <p:spPr>
          <a:xfrm>
            <a:off x="548640" y="1828800"/>
            <a:ext cx="10149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0" name="Text 17"/>
          <p:cNvSpPr/>
          <p:nvPr>
            <p:ph idx="118" type="body" hasCustomPrompt="1"/>
          </p:nvPr>
        </p:nvSpPr>
        <p:spPr>
          <a:xfrm>
            <a:off x="548640" y="4114800"/>
            <a:ext cx="10149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548640" y="548640"/>
            <a:ext cx="146304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23"/>
          <p:cNvSpPr/>
          <p:nvPr>
            <p:ph idx="123" type="title" hasCustomPrompt="1"/>
          </p:nvPr>
        </p:nvSpPr>
        <p:spPr>
          <a:xfrm>
            <a:off x="548640" y="17373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tx1"/>
                </a:solidFill>
              </a:rPr>
              <a:t>[Company name]</a:t>
            </a:r>
            <a:endParaRPr lang="en-US" sz="6400" dirty="0"/>
          </a:p>
        </p:txBody>
      </p:sp>
      <p:sp>
        <p:nvSpPr>
          <p:cNvPr id="5" name="Text 23"/>
          <p:cNvSpPr/>
          <p:nvPr>
            <p:ph idx="124" type="body" hasCustomPrompt="1"/>
          </p:nvPr>
        </p:nvSpPr>
        <p:spPr>
          <a:xfrm>
            <a:off x="548640" y="4160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[One-liner: We help (who) do (what) by (how)]</a:t>
            </a:r>
            <a:endParaRPr lang="en-US" sz="2200" dirty="0"/>
          </a:p>
        </p:txBody>
      </p:sp>
      <p:sp>
        <p:nvSpPr>
          <p:cNvPr id="6" name="Raise chip"/>
          <p:cNvSpPr/>
          <p:nvPr/>
        </p:nvSpPr>
        <p:spPr>
          <a:xfrm>
            <a:off x="548640" y="5120640"/>
            <a:ext cx="448056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8" name="Text 23"/>
          <p:cNvSpPr/>
          <p:nvPr>
            <p:ph idx="125" type="body" hasCustomPrompt="1"/>
          </p:nvPr>
        </p:nvSpPr>
        <p:spPr>
          <a:xfrm>
            <a:off x="548640" y="5989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[Target customers] struggle to [do X], and it costs them [time / money]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[Pain point 1]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10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[Pain point 2]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216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932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943088" y="1920240"/>
            <a:ext cx="369722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3128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600" dirty="0"/>
          </a:p>
        </p:txBody>
      </p:sp>
      <p:sp>
        <p:nvSpPr>
          <p:cNvPr id="19" name="Text 17"/>
          <p:cNvSpPr txBox="1"/>
          <p:nvPr/>
        </p:nvSpPr>
        <p:spPr>
          <a:xfrm>
            <a:off x="8263128" y="352044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63128" y="5120640"/>
            <a:ext cx="27432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Shape 19"/>
          <p:cNvSpPr/>
          <p:nvPr/>
        </p:nvSpPr>
        <p:spPr>
          <a:xfrm>
            <a:off x="8537448" y="5120640"/>
            <a:ext cx="27432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Shape 20"/>
          <p:cNvSpPr/>
          <p:nvPr/>
        </p:nvSpPr>
        <p:spPr>
          <a:xfrm>
            <a:off x="8811768" y="5120640"/>
            <a:ext cx="274320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63128" y="539496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[Product] lets [customer] [achieve outcome] in [time] instead of [time]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oday card"/>
          <p:cNvSpPr/>
          <p:nvPr/>
        </p:nvSpPr>
        <p:spPr>
          <a:xfrm>
            <a:off x="548640" y="1920240"/>
            <a:ext cx="462153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398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398145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79898" y="3291840"/>
            <a:ext cx="198374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5514848" y="3200400"/>
            <a:ext cx="198374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Shape 8"/>
          <p:cNvSpPr/>
          <p:nvPr/>
        </p:nvSpPr>
        <p:spPr>
          <a:xfrm>
            <a:off x="5749798" y="3108960"/>
            <a:ext cx="198374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With product card"/>
          <p:cNvSpPr/>
          <p:nvPr/>
        </p:nvSpPr>
        <p:spPr>
          <a:xfrm>
            <a:off x="6094476" y="1920240"/>
            <a:ext cx="5545836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4516" y="219456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WITH [PRODUCT]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651760"/>
            <a:ext cx="49057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4" name="Insight card"/>
          <p:cNvSpPr/>
          <p:nvPr/>
        </p:nvSpPr>
        <p:spPr>
          <a:xfrm>
            <a:off x="548640" y="5212080"/>
            <a:ext cx="11091672" cy="777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532120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212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insight: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[How it works: the product in one sentence]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creenshot placeholder"/>
          <p:cNvSpPr/>
          <p:nvPr/>
        </p:nvSpPr>
        <p:spPr>
          <a:xfrm>
            <a:off x="548640" y="1920240"/>
            <a:ext cx="7211568" cy="411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72115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43088" y="192024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43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83168" y="195681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1]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83168" y="23774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43088" y="33375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4308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83168" y="337413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2]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83168" y="37947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43088" y="475488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4308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83168" y="479145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3]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83168" y="521208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WHY NOW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now: [the shift that makes this possible today]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Why now card 1"/>
          <p:cNvSpPr/>
          <p:nvPr/>
        </p:nvSpPr>
        <p:spPr>
          <a:xfrm>
            <a:off x="548640" y="1920240"/>
            <a:ext cx="35143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384048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2240280"/>
            <a:ext cx="384048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4048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the tech]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548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2" name="Why now card 2"/>
          <p:cNvSpPr/>
          <p:nvPr/>
        </p:nvSpPr>
        <p:spPr>
          <a:xfrm>
            <a:off x="4245864" y="1920240"/>
            <a:ext cx="35143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5904" y="2240280"/>
            <a:ext cx="384048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Shape 12"/>
          <p:cNvSpPr/>
          <p:nvPr/>
        </p:nvSpPr>
        <p:spPr>
          <a:xfrm>
            <a:off x="4949952" y="2240280"/>
            <a:ext cx="384048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0" y="2240280"/>
            <a:ext cx="384048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65904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35204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MARKET / BEHAVIOR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65904" y="384048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how people buy or work]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65904" y="47548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0" name="Why now card 3"/>
          <p:cNvSpPr/>
          <p:nvPr/>
        </p:nvSpPr>
        <p:spPr>
          <a:xfrm>
            <a:off x="7943088" y="1920240"/>
            <a:ext cx="35143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3128" y="2240280"/>
            <a:ext cx="384048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>
            <a:off x="8647176" y="2240280"/>
            <a:ext cx="384048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1224" y="2240280"/>
            <a:ext cx="384048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5272" y="2240280"/>
            <a:ext cx="384048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63128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8263128" y="35204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REGULATION / COST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63128" y="384048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rules or costs]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263128" y="47548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MARKET SIZE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$[X]B market, and we can win $[Y]M of it in [N] years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AM bar"/>
          <p:cNvSpPr/>
          <p:nvPr/>
        </p:nvSpPr>
        <p:spPr>
          <a:xfrm>
            <a:off x="548640" y="1920240"/>
            <a:ext cx="5545836" cy="10058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323076" y="2011680"/>
            <a:ext cx="5317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addressable market (TAM)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23076" y="237744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0" name="SAM bar"/>
          <p:cNvSpPr/>
          <p:nvPr/>
        </p:nvSpPr>
        <p:spPr>
          <a:xfrm>
            <a:off x="548640" y="3108960"/>
            <a:ext cx="3697224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23076" y="3200400"/>
            <a:ext cx="5317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Serviceable market (SAM)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356616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5" name="SOM bar"/>
          <p:cNvSpPr/>
          <p:nvPr/>
        </p:nvSpPr>
        <p:spPr>
          <a:xfrm>
            <a:off x="548640" y="4297680"/>
            <a:ext cx="1848612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SOM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09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4389120"/>
            <a:ext cx="5317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Obtainable in [3–5] years (SOM)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23076" y="475488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20" name="Bottom-up math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Bottom-up: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[# target customers] × $[annual contract value] = $[SAM]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 charge [customer] [$X per unit]: [pricing model in one line]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Pricing tier 1"/>
          <p:cNvSpPr/>
          <p:nvPr/>
        </p:nvSpPr>
        <p:spPr>
          <a:xfrm>
            <a:off x="548640" y="1920240"/>
            <a:ext cx="3514344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[TIER 1]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82112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9" name="Pricing tier 2"/>
          <p:cNvSpPr/>
          <p:nvPr/>
        </p:nvSpPr>
        <p:spPr>
          <a:xfrm>
            <a:off x="4245864" y="1920240"/>
            <a:ext cx="3514344" cy="1874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5904" y="21488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[TIER 2]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68880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182112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3" name="Pricing tier 3"/>
          <p:cNvSpPr/>
          <p:nvPr/>
        </p:nvSpPr>
        <p:spPr>
          <a:xfrm>
            <a:off x="7943088" y="1920240"/>
            <a:ext cx="3514344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3128" y="21488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[TIER 3]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63128" y="2468880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63128" y="3182112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18" name="Unit economics 1"/>
          <p:cNvSpPr/>
          <p:nvPr/>
        </p:nvSpPr>
        <p:spPr>
          <a:xfrm>
            <a:off x="548640" y="4434840"/>
            <a:ext cx="2590038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45152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21808"/>
            <a:ext cx="20413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1" name="Unit economics 2"/>
          <p:cNvSpPr/>
          <p:nvPr/>
        </p:nvSpPr>
        <p:spPr>
          <a:xfrm>
            <a:off x="3321558" y="4434840"/>
            <a:ext cx="2590038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95878" y="4645152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595878" y="5321808"/>
            <a:ext cx="20413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4" name="Unit economics 3"/>
          <p:cNvSpPr/>
          <p:nvPr/>
        </p:nvSpPr>
        <p:spPr>
          <a:xfrm>
            <a:off x="6094476" y="4434840"/>
            <a:ext cx="2590038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8796" y="4645152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368796" y="5321808"/>
            <a:ext cx="20413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7" name="Unit economics 4"/>
          <p:cNvSpPr/>
          <p:nvPr/>
        </p:nvSpPr>
        <p:spPr>
          <a:xfrm>
            <a:off x="8867394" y="4434840"/>
            <a:ext cx="2590038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1714" y="4645152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141714" y="5321808"/>
            <a:ext cx="20413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TRACTION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[Key metric] grew [X]× in [N] months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7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7120128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action stat 1"/>
          <p:cNvSpPr/>
          <p:nvPr/>
        </p:nvSpPr>
        <p:spPr>
          <a:xfrm>
            <a:off x="7943088" y="1920240"/>
            <a:ext cx="3697224" cy="1234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63128" y="20574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63128" y="26974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9" name="Traction stat 2"/>
          <p:cNvSpPr/>
          <p:nvPr/>
        </p:nvSpPr>
        <p:spPr>
          <a:xfrm>
            <a:off x="7943088" y="3291840"/>
            <a:ext cx="3697224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63128" y="34290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263128" y="40690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2" name="Traction stat 3"/>
          <p:cNvSpPr/>
          <p:nvPr/>
        </p:nvSpPr>
        <p:spPr>
          <a:xfrm>
            <a:off x="7943088" y="4663440"/>
            <a:ext cx="3697224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63128" y="48006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263128" y="54406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COMPETITION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[Company] is the only [category] that [key differentiator]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6" name="Matrix background"/>
          <p:cNvSpPr/>
          <p:nvPr/>
        </p:nvSpPr>
        <p:spPr>
          <a:xfrm>
            <a:off x="548640" y="2240280"/>
            <a:ext cx="6241542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3669411" y="224028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954780"/>
            <a:ext cx="624154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760720"/>
            <a:ext cx="6241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[X axis: e.g., Ease of use] 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04382" y="256032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92702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[Your company]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292608" cy="2926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89451" y="4503420"/>
            <a:ext cx="292608" cy="2926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00931" y="45034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983480"/>
            <a:ext cx="292608" cy="2926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5880" y="4983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10222" y="193852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84542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WHY WE WIN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10222" y="2377440"/>
            <a:ext cx="411480" cy="411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10222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04582" y="2404872"/>
            <a:ext cx="3935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04582" y="2788920"/>
            <a:ext cx="3935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10222" y="3520440"/>
            <a:ext cx="411480" cy="411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1022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04582" y="3547872"/>
            <a:ext cx="3935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04582" y="3931920"/>
            <a:ext cx="3935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10222" y="4663440"/>
            <a:ext cx="411480" cy="411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10222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04582" y="4690872"/>
            <a:ext cx="3935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704582" y="5074920"/>
            <a:ext cx="3935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we reach customers: [primary channel]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7200" dirty="0"/>
          </a:p>
        </p:txBody>
      </p:sp>
      <p:sp>
        <p:nvSpPr>
          <p:cNvPr id="5" name="Step 1 block"/>
          <p:cNvSpPr/>
          <p:nvPr/>
        </p:nvSpPr>
        <p:spPr>
          <a:xfrm>
            <a:off x="548640" y="2377440"/>
            <a:ext cx="3514344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STEP 1 · LAND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3422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Founder-led sales to 10 design partners]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0" name="Step 2 block"/>
          <p:cNvSpPr/>
          <p:nvPr/>
        </p:nvSpPr>
        <p:spPr>
          <a:xfrm>
            <a:off x="4245864" y="2103120"/>
            <a:ext cx="3514344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74464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45864" y="297180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STEP 2 · EXPAND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45864" y="3291840"/>
            <a:ext cx="3422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Referrals and upsell within accounts]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45864" y="40690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5" name="Step 3 block"/>
          <p:cNvSpPr/>
          <p:nvPr/>
        </p:nvSpPr>
        <p:spPr>
          <a:xfrm>
            <a:off x="7943088" y="1828800"/>
            <a:ext cx="3514344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71688" y="18288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943088" y="297180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STEP 3 · SCALE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43088" y="3291840"/>
            <a:ext cx="3422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Inside sales team + partner channel]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43088" y="40690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20" name="GTM card 1"/>
          <p:cNvSpPr/>
          <p:nvPr/>
        </p:nvSpPr>
        <p:spPr>
          <a:xfrm>
            <a:off x="548640" y="4754880"/>
            <a:ext cx="3514344" cy="12801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Ideal customer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0352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3" name="GTM card 2"/>
          <p:cNvSpPr/>
          <p:nvPr/>
        </p:nvSpPr>
        <p:spPr>
          <a:xfrm>
            <a:off x="4245864" y="4754880"/>
            <a:ext cx="3514344" cy="12801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0184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motion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20184" y="530352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26" name="GTM card 3"/>
          <p:cNvSpPr/>
          <p:nvPr/>
        </p:nvSpPr>
        <p:spPr>
          <a:xfrm>
            <a:off x="7943088" y="4754880"/>
            <a:ext cx="3514344" cy="12801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7408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Proof it works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17408" y="530352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us: [the unfair advantage this team brings]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am card 1"/>
          <p:cNvSpPr/>
          <p:nvPr/>
        </p:nvSpPr>
        <p:spPr>
          <a:xfrm>
            <a:off x="548640" y="1920240"/>
            <a:ext cx="2590038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Photo 1"/>
          <p:cNvSpPr/>
          <p:nvPr/>
        </p:nvSpPr>
        <p:spPr>
          <a:xfrm>
            <a:off x="822960" y="2194560"/>
            <a:ext cx="1188720" cy="11887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3236976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2041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[Role]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20413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2" name="Team card 2"/>
          <p:cNvSpPr/>
          <p:nvPr/>
        </p:nvSpPr>
        <p:spPr>
          <a:xfrm>
            <a:off x="3321558" y="1920240"/>
            <a:ext cx="2590038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Photo 2"/>
          <p:cNvSpPr/>
          <p:nvPr/>
        </p:nvSpPr>
        <p:spPr>
          <a:xfrm>
            <a:off x="3595878" y="2194560"/>
            <a:ext cx="1188720" cy="11887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95878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84598" y="3236976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95878" y="3566160"/>
            <a:ext cx="2041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95878" y="393192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[Role]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95878" y="4297680"/>
            <a:ext cx="20413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9" name="Team card 3"/>
          <p:cNvSpPr/>
          <p:nvPr/>
        </p:nvSpPr>
        <p:spPr>
          <a:xfrm>
            <a:off x="6094476" y="1920240"/>
            <a:ext cx="2590038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Photo 3"/>
          <p:cNvSpPr/>
          <p:nvPr/>
        </p:nvSpPr>
        <p:spPr>
          <a:xfrm>
            <a:off x="6368796" y="2194560"/>
            <a:ext cx="1188720" cy="11887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68796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57516" y="3236976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68796" y="3566160"/>
            <a:ext cx="2041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68796" y="393192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[Role]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68796" y="4297680"/>
            <a:ext cx="20413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6" name="Team card 4"/>
          <p:cNvSpPr/>
          <p:nvPr/>
        </p:nvSpPr>
        <p:spPr>
          <a:xfrm>
            <a:off x="8867394" y="1920240"/>
            <a:ext cx="2590038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Photo 4"/>
          <p:cNvSpPr/>
          <p:nvPr/>
        </p:nvSpPr>
        <p:spPr>
          <a:xfrm>
            <a:off x="9141714" y="2194560"/>
            <a:ext cx="1188720" cy="11887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1714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30434" y="3236976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1714" y="3566160"/>
            <a:ext cx="2041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141714" y="393192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[Role]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1714" y="4297680"/>
            <a:ext cx="20413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Advisors &amp; investors: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FINANCIALS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Path to $[X]M revenue by [year]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7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s card"/>
          <p:cNvSpPr/>
          <p:nvPr/>
        </p:nvSpPr>
        <p:spPr>
          <a:xfrm>
            <a:off x="548640" y="4800600"/>
            <a:ext cx="11091672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5029200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4965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body" hasCustomPrompt="1"/>
          </p:nvPr>
        </p:nvSpPr>
        <p:spPr>
          <a:xfrm>
            <a:off x="82296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THE ASK</a:t>
            </a:r>
            <a:endParaRPr lang="en-US" sz="1200" dirty="0"/>
          </a:p>
        </p:txBody>
      </p:sp>
      <p:sp>
        <p:nvSpPr>
          <p:cNvPr id="3" name="Text 14"/>
          <p:cNvSpPr/>
          <p:nvPr>
            <p:ph idx="115" type="title" hasCustomPrompt="1"/>
          </p:nvPr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We're raising $[X]M to reach [milestone] in [N] months</a:t>
            </a:r>
            <a:endParaRPr lang="en-US" sz="26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9902952" y="274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7200" dirty="0"/>
          </a:p>
        </p:txBody>
      </p:sp>
      <p:sp>
        <p:nvSpPr>
          <p:cNvPr id="5" name="Raise card"/>
          <p:cNvSpPr/>
          <p:nvPr/>
        </p:nvSpPr>
        <p:spPr>
          <a:xfrm>
            <a:off x="548640" y="1874520"/>
            <a:ext cx="3514344" cy="4206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87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RAISING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2874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874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[$X committed · Lead: (name)]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5623560"/>
            <a:ext cx="27432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623560"/>
            <a:ext cx="27432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5623560"/>
            <a:ext cx="274320" cy="109728"/>
          </a:xfrm>
          <a:prstGeom prst="rect">
            <a:avLst/>
          </a:prstGeom>
          <a:solidFill>
            <a:schemeClr val="tx1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4337304" y="1828800"/>
          <a:ext cx="730300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Milestone 1"/>
          <p:cNvSpPr/>
          <p:nvPr/>
        </p:nvSpPr>
        <p:spPr>
          <a:xfrm>
            <a:off x="4337304" y="4617720"/>
            <a:ext cx="2312416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5904" y="4800600"/>
            <a:ext cx="185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65904" y="5120640"/>
            <a:ext cx="185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65904" y="5577840"/>
            <a:ext cx="185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7" name="Milestone 2"/>
          <p:cNvSpPr/>
          <p:nvPr/>
        </p:nvSpPr>
        <p:spPr>
          <a:xfrm>
            <a:off x="6832600" y="4617720"/>
            <a:ext cx="2312416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61200" y="4800600"/>
            <a:ext cx="185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061200" y="5120640"/>
            <a:ext cx="185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61200" y="5577840"/>
            <a:ext cx="185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21" name="Milestone 3"/>
          <p:cNvSpPr/>
          <p:nvPr/>
        </p:nvSpPr>
        <p:spPr>
          <a:xfrm>
            <a:off x="9327896" y="4617720"/>
            <a:ext cx="2312416" cy="146304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56496" y="4800600"/>
            <a:ext cx="185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RUNWAY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556496" y="5120640"/>
            <a:ext cx="185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556496" y="5577840"/>
            <a:ext cx="185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[to Series X metrics]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/>
          <p:nvPr>
            <p:ph idx="117" type="title" hasCustomPrompt="1"/>
          </p:nvPr>
        </p:nvSpPr>
        <p:spPr>
          <a:xfrm>
            <a:off x="548640" y="1828800"/>
            <a:ext cx="10149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4000" dirty="0"/>
          </a:p>
        </p:txBody>
      </p:sp>
      <p:sp>
        <p:nvSpPr>
          <p:cNvPr id="3" name="Text 17"/>
          <p:cNvSpPr/>
          <p:nvPr>
            <p:ph idx="118" type="body" hasCustomPrompt="1"/>
          </p:nvPr>
        </p:nvSpPr>
        <p:spPr>
          <a:xfrm>
            <a:off x="548640" y="41148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/>
          <p:nvPr>
            <p:ph idx="117" type="title" hasCustomPrompt="1"/>
          </p:nvPr>
        </p:nvSpPr>
        <p:spPr>
          <a:xfrm>
            <a:off x="548640" y="1828800"/>
            <a:ext cx="10149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7"/>
          <p:cNvSpPr/>
          <p:nvPr>
            <p:ph idx="118" type="body" hasCustomPrompt="1"/>
          </p:nvPr>
        </p:nvSpPr>
        <p:spPr>
          <a:xfrm>
            <a:off x="548640" y="41148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r Grid">
  <a:themeElements>
    <a:clrScheme name="Ember Grid">
      <a:dk1>
        <a:srgbClr val="111111"/>
      </a:dk1>
      <a:lt1>
        <a:srgbClr val="FFFFFF"/>
      </a:lt1>
      <a:dk2>
        <a:srgbClr val="5E5A55"/>
      </a:dk2>
      <a:lt2>
        <a:srgbClr val="F4F3F0"/>
      </a:lt2>
      <a:accent1>
        <a:srgbClr val="FA520F"/>
      </a:accent1>
      <a:accent2>
        <a:srgbClr val="FFA110"/>
      </a:accent2>
      <a:accent3>
        <a:srgbClr val="FFD900"/>
      </a:accent3>
      <a:accent4>
        <a:srgbClr val="9A958E"/>
      </a:accent4>
      <a:accent5>
        <a:srgbClr val="E9E6E1"/>
      </a:accent5>
      <a:accent6>
        <a:srgbClr val="2A2A2A"/>
      </a:accent6>
      <a:hlink>
        <a:srgbClr val="FA520F"/>
      </a:hlink>
      <a:folHlink>
        <a:srgbClr val="9A958E"/>
      </a:folHlink>
    </a:clrScheme>
    <a:fontScheme name="Ember Grid">
      <a:majorFont>
        <a:latin typeface="Archivo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2026-10-11T23:32:47Z</dcterms:created>
  <dcterms:modified xsi:type="dcterms:W3CDTF">2026-10-11T23:32:47Z</dcterms:modified>
</cp:coreProperties>
</file>