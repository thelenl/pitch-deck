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db8ebd4-fa60-d55a-ffa6-be4d2d7c4f0a}">
          <p14:sldIdLst>
            <p14:sldId id="256"/>
          </p14:sldIdLst>
        </p14:section>
        <p14:section name="Opportunity" id="{650030b7-3c78-9206-4af5-8e1f8b9f0ec4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ef047170-90a3-5bc5-7079-f5a855fe77bc}">
          <p14:sldIdLst>
            <p14:sldId id="262"/>
            <p14:sldId id="263"/>
            <p14:sldId id="264"/>
            <p14:sldId id="265"/>
          </p14:sldIdLst>
        </p14:section>
        <p14:section name="Team &amp; Financials" id="{e02d9cd8-9787-76ab-1fd5-1a5bca27d6a6}">
          <p14:sldIdLst>
            <p14:sldId id="266"/>
            <p14:sldId id="267"/>
            <p14:sldId id="268"/>
          </p14:sldIdLst>
        </p14:section>
        <p14:section name="Close" id="{794487a7-ae0b-89d5-47de-7cb13182f81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BDBAB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BDBAB5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E4F2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2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2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89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D6C6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D6C6B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F222"/>
              </a:solidFill>
              <a:effectLst/>
            </c:spPr>
          </c:dPt>
          <c:dPt>
            <c:idx val="1"/>
            <c:bubble3D val="0"/>
            <c:spPr>
              <a:solidFill>
                <a:srgbClr val="0C0A08"/>
              </a:solidFill>
              <a:effectLst/>
            </c:spPr>
          </c:dPt>
          <c:dPt>
            <c:idx val="2"/>
            <c:bubble3D val="0"/>
            <c:spPr>
              <a:solidFill>
                <a:srgbClr val="9A9894"/>
              </a:solidFill>
              <a:effectLst/>
            </c:spPr>
          </c:dPt>
          <c:dPt>
            <c:idx val="3"/>
            <c:bubble3D val="0"/>
            <c:spPr>
              <a:solidFill>
                <a:srgbClr val="D6D3C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0C0A0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EDITORI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1109167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88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8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598932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EDITORI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IN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16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4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34340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548640" y="502920"/>
            <a:ext cx="137160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[Logo]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982712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INVESTOR PRESENTATION</a:t>
            </a:r>
            <a:endParaRPr lang="en-US" sz="11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132588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800" dirty="0">
                <a:solidFill>
                  <a:schemeClr val="tx1"/>
                </a:solidFill>
                <a:highlight>
                  <a:srgbClr val="E4F222"/>
                </a:highlight>
              </a:rPr>
              <a:t>[Company name]</a:t>
            </a:r>
            <a:endParaRPr lang="en-US" sz="88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[One-liner: We help (who) do (what) by (how)]</a:t>
            </a:r>
            <a:endParaRPr lang="en-US" sz="2800" dirty="0"/>
          </a:p>
        </p:txBody>
      </p:sp>
      <p:sp>
        <p:nvSpPr>
          <p:cNvPr id="7" name="Raise tag"/>
          <p:cNvSpPr/>
          <p:nvPr/>
        </p:nvSpPr>
        <p:spPr>
          <a:xfrm>
            <a:off x="548640" y="4572000"/>
            <a:ext cx="475488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572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Raising $[X]M · [Pre-seed / Seed / Series A]</a:t>
            </a:r>
            <a:endParaRPr lang="en-US" sz="1500" dirty="0"/>
          </a:p>
        </p:txBody>
      </p:sp>
      <p:sp>
        <p:nvSpPr>
          <p:cNvPr id="9" name="Text 1"/>
          <p:cNvSpPr/>
          <p:nvPr>
            <p:ph idx="103" type="body" hasCustomPrompt="1"/>
          </p:nvPr>
        </p:nvSpPr>
        <p:spPr>
          <a:xfrm>
            <a:off x="548640" y="5989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[Founder name], [Title]  ·  [email@company.com]  ·  [Month YYYY]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01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[Target customers] struggle to [do X], and it costs them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[time / money]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[Pain point 1]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651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74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[Pain point 2]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3977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800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How it's handled today: [current workaround]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5303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sp>
        <p:nvSpPr>
          <p:cNvPr id="16" name="Stat panel"/>
          <p:cNvSpPr/>
          <p:nvPr/>
        </p:nvSpPr>
        <p:spPr>
          <a:xfrm>
            <a:off x="7406640" y="2194560"/>
            <a:ext cx="4233672" cy="3931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2668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[XX%]</a:t>
            </a:r>
            <a:endParaRPr lang="en-US" sz="80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37947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5623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02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The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[Product] lets [customer]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[achieve outcome]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 in [time] instead of [time]</a:t>
            </a:r>
            <a:endParaRPr lang="en-US" sz="3600" dirty="0"/>
          </a:p>
        </p:txBody>
      </p:sp>
      <p:sp>
        <p:nvSpPr>
          <p:cNvPr id="5" name="Today card"/>
          <p:cNvSpPr/>
          <p:nvPr/>
        </p:nvSpPr>
        <p:spPr>
          <a:xfrm>
            <a:off x="548640" y="2194560"/>
            <a:ext cx="4937760" cy="26974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TODAY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[Slow / manual step]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[Costly or error-prone step]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[The outcome customers settle for]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→</a:t>
            </a:r>
            <a:endParaRPr lang="en-US" sz="4800" dirty="0"/>
          </a:p>
        </p:txBody>
      </p:sp>
      <p:sp>
        <p:nvSpPr>
          <p:cNvPr id="9" name="With product card"/>
          <p:cNvSpPr/>
          <p:nvPr/>
        </p:nvSpPr>
        <p:spPr>
          <a:xfrm>
            <a:off x="6675120" y="2194560"/>
            <a:ext cx="4965192" cy="2697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9516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WITH [PRODUCT]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88036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[What becomes fast or automatic]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[Measurable gain: X× faster, $Y saved]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[A new outcome that wasn't possible before]</a:t>
            </a:r>
            <a:endParaRPr lang="en-US" sz="1700" dirty="0"/>
          </a:p>
        </p:txBody>
      </p:sp>
      <p:sp>
        <p:nvSpPr>
          <p:cNvPr id="12" name="Insight band"/>
          <p:cNvSpPr/>
          <p:nvPr/>
        </p:nvSpPr>
        <p:spPr>
          <a:xfrm>
            <a:off x="0" y="5166360"/>
            <a:ext cx="12191695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5166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Our insight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[The non-obvious thing you understand about this problem that others miss]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03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Product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[How it works: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the product in one sentence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]</a:t>
            </a:r>
            <a:endParaRPr lang="en-US" sz="3600" dirty="0"/>
          </a:p>
        </p:txBody>
      </p:sp>
      <p:sp>
        <p:nvSpPr>
          <p:cNvPr id="5" name="Browser frame"/>
          <p:cNvSpPr/>
          <p:nvPr/>
        </p:nvSpPr>
        <p:spPr>
          <a:xfrm>
            <a:off x="548640" y="2194560"/>
            <a:ext cx="6766560" cy="3931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Browser bar"/>
          <p:cNvSpPr/>
          <p:nvPr/>
        </p:nvSpPr>
        <p:spPr>
          <a:xfrm>
            <a:off x="548640" y="2194560"/>
            <a:ext cx="676656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31343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2313432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2313432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56032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01 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157984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[Key feature 1]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60604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26680" y="3337560"/>
            <a:ext cx="39136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3520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02 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483864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[Key feature 2]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93192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26680" y="4663440"/>
            <a:ext cx="391363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26680" y="4846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03 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809744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[Key feature 3]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5257800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04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Why now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Why now: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[the shift that makes this possible today]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TECHNOLOGY 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[What changed in the tech]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97096" y="2194560"/>
            <a:ext cx="0" cy="3931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08576" y="21031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4608576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MARKET / BEHAVIOR 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08576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[What changed in how people buy or work]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82712" y="2194560"/>
            <a:ext cx="0" cy="39319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94192" y="21031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3"/>
          <p:cNvSpPr txBox="1"/>
          <p:nvPr/>
        </p:nvSpPr>
        <p:spPr>
          <a:xfrm>
            <a:off x="8394192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REGULATION / COST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394192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[What changed in rules or costs]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05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Market size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A $[X]B market, and we can win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$[Y]M of it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 in [N] years</a:t>
            </a:r>
            <a:endParaRPr lang="en-US" sz="3600" dirty="0"/>
          </a:p>
        </p:txBody>
      </p:sp>
      <p:sp>
        <p:nvSpPr>
          <p:cNvPr id="5" name="TAM circle"/>
          <p:cNvSpPr/>
          <p:nvPr/>
        </p:nvSpPr>
        <p:spPr>
          <a:xfrm>
            <a:off x="914400" y="2194560"/>
            <a:ext cx="3931920" cy="393192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SAM circle"/>
          <p:cNvSpPr/>
          <p:nvPr/>
        </p:nvSpPr>
        <p:spPr>
          <a:xfrm>
            <a:off x="1508760" y="338328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SOM circle"/>
          <p:cNvSpPr/>
          <p:nvPr/>
        </p:nvSpPr>
        <p:spPr>
          <a:xfrm>
            <a:off x="2103120" y="457200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659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chemeClr val="tx1"/>
                </a:solidFill>
              </a:rPr>
              <a:t>TAM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chemeClr val="bg1"/>
                </a:solidFill>
              </a:rPr>
              <a:t>SAM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chemeClr val="tx1"/>
                </a:solidFill>
              </a:rPr>
              <a:t>SOM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$[X]B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21284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addressable market (TAM)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57860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0" y="3154680"/>
            <a:ext cx="6062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7784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$[X]B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31012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Serviceable market (SAM)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367588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77840" y="4251960"/>
            <a:ext cx="6062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77840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$[X]M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4407408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Obtainable in [3–5] years (SOM)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477316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300" dirty="0"/>
          </a:p>
        </p:txBody>
      </p:sp>
      <p:sp>
        <p:nvSpPr>
          <p:cNvPr id="22" name="Bottom-up math"/>
          <p:cNvSpPr/>
          <p:nvPr/>
        </p:nvSpPr>
        <p:spPr>
          <a:xfrm>
            <a:off x="5577840" y="5349240"/>
            <a:ext cx="6062472" cy="7772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806440" y="53492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BOTTOM-UP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[# target customers] × $[annual contract value] = $[SAM]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06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Business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We charge [customer]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[$X per unit]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: [pricing model in one line]</a:t>
            </a:r>
            <a:endParaRPr lang="en-US" sz="3600" dirty="0"/>
          </a:p>
        </p:txBody>
      </p:sp>
      <p:sp>
        <p:nvSpPr>
          <p:cNvPr id="5" name="Pricing tier 1"/>
          <p:cNvSpPr/>
          <p:nvPr/>
        </p:nvSpPr>
        <p:spPr>
          <a:xfrm>
            <a:off x="548640" y="2103120"/>
            <a:ext cx="3520440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331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[TIER 1]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9" name="Pricing tier 2"/>
          <p:cNvSpPr/>
          <p:nvPr/>
        </p:nvSpPr>
        <p:spPr>
          <a:xfrm>
            <a:off x="4334256" y="2103120"/>
            <a:ext cx="3520440" cy="1920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54296" y="2331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[TIER 2]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654296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3" name="Pricing tier 3"/>
          <p:cNvSpPr/>
          <p:nvPr/>
        </p:nvSpPr>
        <p:spPr>
          <a:xfrm>
            <a:off x="8119872" y="2103120"/>
            <a:ext cx="3520440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39912" y="2331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[TIER 3]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439912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439912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7" name="Unit economics band"/>
          <p:cNvSpPr/>
          <p:nvPr/>
        </p:nvSpPr>
        <p:spPr>
          <a:xfrm>
            <a:off x="0" y="4206240"/>
            <a:ext cx="12191695" cy="19202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846320"/>
            <a:ext cx="2391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559552"/>
            <a:ext cx="2391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50692" y="4892040"/>
            <a:ext cx="0" cy="1005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9292" y="4846320"/>
            <a:ext cx="2391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[X]%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3479292" y="5559552"/>
            <a:ext cx="2391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89904" y="4892040"/>
            <a:ext cx="0" cy="1005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18504" y="4846320"/>
            <a:ext cx="2391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[N] mo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6318504" y="5559552"/>
            <a:ext cx="2391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29116" y="4892040"/>
            <a:ext cx="0" cy="1005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57716" y="4846320"/>
            <a:ext cx="23911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[X]:1</a:t>
            </a:r>
            <a:endParaRPr lang="en-US" sz="4000" dirty="0"/>
          </a:p>
        </p:txBody>
      </p:sp>
      <p:sp>
        <p:nvSpPr>
          <p:cNvPr id="29" name="Text 26"/>
          <p:cNvSpPr txBox="1"/>
          <p:nvPr/>
        </p:nvSpPr>
        <p:spPr>
          <a:xfrm>
            <a:off x="9157716" y="5559552"/>
            <a:ext cx="2391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07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Traction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[Key metric] grew [X]×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 in [N] months</a:t>
            </a:r>
            <a:endParaRPr lang="en-US" sz="3600" dirty="0"/>
          </a:p>
        </p:txBody>
      </p:sp>
      <p:sp>
        <p:nvSpPr>
          <p:cNvPr id="5" name="Chart panel"/>
          <p:cNvSpPr/>
          <p:nvPr/>
        </p:nvSpPr>
        <p:spPr>
          <a:xfrm>
            <a:off x="548640" y="2194560"/>
            <a:ext cx="6949440" cy="3931920"/>
          </a:xfrm>
          <a:prstGeom prst="rect">
            <a:avLst/>
          </a:prstGeom>
          <a:solidFill>
            <a:schemeClr val="accent2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31520" y="233172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raction stat 1"/>
          <p:cNvSpPr/>
          <p:nvPr/>
        </p:nvSpPr>
        <p:spPr>
          <a:xfrm>
            <a:off x="7772400" y="2194560"/>
            <a:ext cx="3867912" cy="1188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046720" y="23042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Monthly recurring revenue</a:t>
            </a:r>
            <a:endParaRPr lang="en-US" sz="1300" dirty="0"/>
          </a:p>
        </p:txBody>
      </p:sp>
      <p:sp>
        <p:nvSpPr>
          <p:cNvPr id="10" name="Traction stat 2"/>
          <p:cNvSpPr/>
          <p:nvPr/>
        </p:nvSpPr>
        <p:spPr>
          <a:xfrm>
            <a:off x="7772400" y="3566160"/>
            <a:ext cx="3867912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0" y="36758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[X]%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Month-over-month growth</a:t>
            </a:r>
            <a:endParaRPr lang="en-US" sz="1300" dirty="0"/>
          </a:p>
        </p:txBody>
      </p:sp>
      <p:sp>
        <p:nvSpPr>
          <p:cNvPr id="13" name="Traction stat 3"/>
          <p:cNvSpPr/>
          <p:nvPr/>
        </p:nvSpPr>
        <p:spPr>
          <a:xfrm>
            <a:off x="7772400" y="4937760"/>
            <a:ext cx="3867912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0" y="5047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[X]%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5715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Net revenue retention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08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Competition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[Company] is the only [category] that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[key differentiator]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6" name="Matrix"/>
          <p:cNvSpPr/>
          <p:nvPr/>
        </p:nvSpPr>
        <p:spPr>
          <a:xfrm>
            <a:off x="548640" y="2514600"/>
            <a:ext cx="5852160" cy="3246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2514600"/>
            <a:ext cx="0" cy="324612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137660"/>
            <a:ext cx="58521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806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[X axis: e.g., Ease of use]  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743200"/>
            <a:ext cx="411480" cy="4114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E4F222"/>
                </a:highlight>
              </a:rPr>
              <a:t> [Your company] 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97180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325880" y="2971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31920" y="457200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43400" y="4572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493776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25880" y="4937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WHY WE WIN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297180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333756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949440" y="3886200"/>
            <a:ext cx="46908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635240" y="402336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438912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49440" y="4937760"/>
            <a:ext cx="46908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9440" y="5029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507492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5440680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09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Go-to-market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How we reach customers: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[primary channel]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1920240" y="2542032"/>
            <a:ext cx="223113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STEP 1 · LAND 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[e.g., Founder-led sales to 10 design partners]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334256" y="2057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Shape 8"/>
          <p:cNvSpPr/>
          <p:nvPr/>
        </p:nvSpPr>
        <p:spPr>
          <a:xfrm>
            <a:off x="5705856" y="2542032"/>
            <a:ext cx="223113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334256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STEP 2 · EXPAND 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334256" y="3520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[e.g., Referrals and upsell within accounts]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334256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119872" y="2057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STEP 3 · SCALE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19872" y="3520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[e.g., Inside sales team + partner channel]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119872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9" name="GTM card 1"/>
          <p:cNvSpPr/>
          <p:nvPr/>
        </p:nvSpPr>
        <p:spPr>
          <a:xfrm>
            <a:off x="548640" y="493776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IDEAL CUSTOMER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468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2" name="GTM card 2"/>
          <p:cNvSpPr/>
          <p:nvPr/>
        </p:nvSpPr>
        <p:spPr>
          <a:xfrm>
            <a:off x="4334256" y="493776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08576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SALES MOTION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608576" y="5468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25" name="GTM card 3"/>
          <p:cNvSpPr/>
          <p:nvPr/>
        </p:nvSpPr>
        <p:spPr>
          <a:xfrm>
            <a:off x="8119872" y="4937760"/>
            <a:ext cx="3520440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94192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PROOF IT WORKS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394192" y="5468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10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Why us: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[the unfair advantage this team brings]</a:t>
            </a:r>
            <a:endParaRPr lang="en-US" sz="3600" dirty="0"/>
          </a:p>
        </p:txBody>
      </p:sp>
      <p:sp>
        <p:nvSpPr>
          <p:cNvPr id="5" name="Team card 1"/>
          <p:cNvSpPr/>
          <p:nvPr/>
        </p:nvSpPr>
        <p:spPr>
          <a:xfrm>
            <a:off x="548640" y="2194560"/>
            <a:ext cx="2574036" cy="3566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Photo 1"/>
          <p:cNvSpPr/>
          <p:nvPr/>
        </p:nvSpPr>
        <p:spPr>
          <a:xfrm>
            <a:off x="777240" y="2423160"/>
            <a:ext cx="2116836" cy="1325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21168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86200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[Name]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97680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E4F222"/>
                </a:highlight>
              </a:rPr>
              <a:t> [Role] 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663440"/>
            <a:ext cx="21168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1" name="Team card 2"/>
          <p:cNvSpPr/>
          <p:nvPr/>
        </p:nvSpPr>
        <p:spPr>
          <a:xfrm>
            <a:off x="3387852" y="2194560"/>
            <a:ext cx="2574036" cy="3566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Photo 2"/>
          <p:cNvSpPr/>
          <p:nvPr/>
        </p:nvSpPr>
        <p:spPr>
          <a:xfrm>
            <a:off x="3616452" y="2423160"/>
            <a:ext cx="2116836" cy="1325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16452" y="2423160"/>
            <a:ext cx="21168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16452" y="3886200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[Name]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616452" y="4297680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E4F222"/>
                </a:highlight>
              </a:rPr>
              <a:t> [Role] 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16452" y="4663440"/>
            <a:ext cx="21168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7" name="Team card 3"/>
          <p:cNvSpPr/>
          <p:nvPr/>
        </p:nvSpPr>
        <p:spPr>
          <a:xfrm>
            <a:off x="6227064" y="2194560"/>
            <a:ext cx="2574036" cy="3566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Photo 3"/>
          <p:cNvSpPr/>
          <p:nvPr/>
        </p:nvSpPr>
        <p:spPr>
          <a:xfrm>
            <a:off x="6455664" y="2423160"/>
            <a:ext cx="2116836" cy="1325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55664" y="2423160"/>
            <a:ext cx="21168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3886200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[Name]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4297680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E4F222"/>
                </a:highlight>
              </a:rPr>
              <a:t> [Role] 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4663440"/>
            <a:ext cx="21168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3" name="Team card 4"/>
          <p:cNvSpPr/>
          <p:nvPr/>
        </p:nvSpPr>
        <p:spPr>
          <a:xfrm>
            <a:off x="9066276" y="2194560"/>
            <a:ext cx="2574036" cy="3566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Photo 4"/>
          <p:cNvSpPr/>
          <p:nvPr/>
        </p:nvSpPr>
        <p:spPr>
          <a:xfrm>
            <a:off x="9294876" y="2423160"/>
            <a:ext cx="2116836" cy="1325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294876" y="2423160"/>
            <a:ext cx="21168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294876" y="3886200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[Name]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294876" y="4297680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highlight>
                  <a:srgbClr val="E4F222"/>
                </a:highlight>
              </a:rPr>
              <a:t> [Role] 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294876" y="4663440"/>
            <a:ext cx="21168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Advisors &amp; investors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11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Financials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Path to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$[X]M revenue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 by [year]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s card"/>
          <p:cNvSpPr/>
          <p:nvPr/>
        </p:nvSpPr>
        <p:spPr>
          <a:xfrm>
            <a:off x="548640" y="4937760"/>
            <a:ext cx="11091672" cy="11887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KEY ASSUMPTIONS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37667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highlight>
                  <a:srgbClr val="E4F222"/>
                </a:highlight>
              </a:rPr>
              <a:t> 12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 The ask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We're raising 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  <a:highlight>
                  <a:srgbClr val="E4F222"/>
                </a:highlight>
              </a:rPr>
              <a:t>$[X]M</a:t>
            </a:r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 to reach [milestone] in [N] months</a:t>
            </a:r>
            <a:endParaRPr lang="en-US" sz="3600" dirty="0"/>
          </a:p>
        </p:txBody>
      </p:sp>
      <p:sp>
        <p:nvSpPr>
          <p:cNvPr id="5" name="Raise panel"/>
          <p:cNvSpPr/>
          <p:nvPr/>
        </p:nvSpPr>
        <p:spPr>
          <a:xfrm>
            <a:off x="548640" y="2194560"/>
            <a:ext cx="4206240" cy="3931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RAISING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88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$[X]M</a:t>
            </a:r>
            <a:endParaRPr lang="en-US" sz="8000" dirty="0"/>
          </a:p>
        </p:txBody>
      </p:sp>
      <p:sp>
        <p:nvSpPr>
          <p:cNvPr id="8" name="Shape 5"/>
          <p:cNvSpPr/>
          <p:nvPr/>
        </p:nvSpPr>
        <p:spPr>
          <a:xfrm>
            <a:off x="868680" y="4206240"/>
            <a:ext cx="35661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3891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[$X committed · Lead: (name)]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120640" y="2148840"/>
          <a:ext cx="651967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Milestone 1"/>
          <p:cNvSpPr/>
          <p:nvPr/>
        </p:nvSpPr>
        <p:spPr>
          <a:xfrm>
            <a:off x="5120640" y="4663440"/>
            <a:ext cx="2020824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49240" y="48280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513892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[e.g., $1M ARR]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559612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5" name="Milestone 2"/>
          <p:cNvSpPr/>
          <p:nvPr/>
        </p:nvSpPr>
        <p:spPr>
          <a:xfrm>
            <a:off x="7370064" y="4663440"/>
            <a:ext cx="2020824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98664" y="48280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598664" y="513892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[e.g., 50 logos]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598664" y="559612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9" name="Milestone 3"/>
          <p:cNvSpPr/>
          <p:nvPr/>
        </p:nvSpPr>
        <p:spPr>
          <a:xfrm>
            <a:off x="9619488" y="4663440"/>
            <a:ext cx="2020824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848088" y="4828032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RUNWAY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9848088" y="513892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[N] months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9848088" y="5596128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[to Series X metrics]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VISION 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</a:rPr>
              <a:t>[Your vision in one bold sentence: </a:t>
            </a:r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tx1"/>
                </a:solidFill>
                <a:highlight>
                  <a:srgbClr val="E4F222"/>
                </a:highlight>
              </a:rPr>
              <a:t>what the world looks like if you win</a:t>
            </a:r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</a:rPr>
              <a:t>]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3434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tx1"/>
                </a:solidFill>
                <a:highlight>
                  <a:srgbClr val="E4F222"/>
                </a:highlight>
              </a:rPr>
              <a:t> BACKUP 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110916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tx1"/>
                </a:solidFill>
                <a:highlight>
                  <a:srgbClr val="E4F222"/>
                </a:highlight>
              </a:rPr>
              <a:t>Appendix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3434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id Editorial">
  <a:themeElements>
    <a:clrScheme name="Acid Editorial">
      <a:dk1>
        <a:srgbClr val="0C0A08"/>
      </a:dk1>
      <a:lt1>
        <a:srgbClr val="F4F2F0"/>
      </a:lt1>
      <a:dk2>
        <a:srgbClr val="6D6C6B"/>
      </a:dk2>
      <a:lt2>
        <a:srgbClr val="FFFFFF"/>
      </a:lt2>
      <a:accent1>
        <a:srgbClr val="E4F222"/>
      </a:accent1>
      <a:accent2>
        <a:srgbClr val="1A1919"/>
      </a:accent2>
      <a:accent3>
        <a:srgbClr val="D6D3CF"/>
      </a:accent3>
      <a:accent4>
        <a:srgbClr val="9A9894"/>
      </a:accent4>
      <a:accent5>
        <a:srgbClr val="BDBAB5"/>
      </a:accent5>
      <a:accent6>
        <a:srgbClr val="3D3B39"/>
      </a:accent6>
      <a:hlink>
        <a:srgbClr val="0C0A08"/>
      </a:hlink>
      <a:folHlink>
        <a:srgbClr val="6D6C6B"/>
      </a:folHlink>
    </a:clrScheme>
    <a:fontScheme name="Acid Editorial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 (Acid Editorial)</dc:title>
  <dc:subject>PptxGenJS Presentation</dc:subject>
  <dc:creator>PptxGenJS</dc:creator>
  <cp:lastModifiedBy>PptxGenJS</cp:lastModifiedBy>
  <cp:revision>1</cp:revision>
  <dcterms:created xsi:type="dcterms:W3CDTF">2026-10-11T23:32:33Z</dcterms:created>
  <dcterms:modified xsi:type="dcterms:W3CDTF">2026-10-11T23:32:33Z</dcterms:modified>
</cp:coreProperties>
</file>