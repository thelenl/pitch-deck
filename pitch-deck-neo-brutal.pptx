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99258de-b438-ec1b-0e6e-b74bdcf17ccb}">
          <p14:sldIdLst>
            <p14:sldId id="256"/>
          </p14:sldIdLst>
        </p14:section>
        <p14:section name="Opportunity" id="{3e8fa848-b607-5d1b-2e5a-043e9f03b502}">
          <p14:sldIdLst>
            <p14:sldId id="257"/>
            <p14:sldId id="258"/>
            <p14:sldId id="259"/>
            <p14:sldId id="260"/>
            <p14:sldId id="261"/>
          </p14:sldIdLst>
        </p14:section>
        <p14:section name="Business" id="{2d135fd4-5ce2-fc30-9d20-f90032ef9646}">
          <p14:sldIdLst>
            <p14:sldId id="262"/>
            <p14:sldId id="263"/>
            <p14:sldId id="264"/>
            <p14:sldId id="265"/>
          </p14:sldIdLst>
        </p14:section>
        <p14:section name="Team &amp; Financials" id="{b9fee03b-fa64-a85e-b0df-88b6aceadd0f}">
          <p14:sldIdLst>
            <p14:sldId id="266"/>
            <p14:sldId id="267"/>
            <p14:sldId id="268"/>
          </p14:sldIdLst>
        </p14:section>
        <p14:section name="Close" id="{e8fbc48e-5787-60f2-1210-35cf64a2adb0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[Revenue / users] by month (sample data: replace)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[Metric]</c:v>
                </c:pt>
              </c:strCache>
            </c:strRef>
          </c:tx>
          <c:spPr>
            <a:solidFill>
              <a:srgbClr val="5B5B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[M1]</c:v>
                  </c:pt>
                  <c:pt idx="1">
                    <c:v>[M2]</c:v>
                  </c:pt>
                  <c:pt idx="2">
                    <c:v>[M3]</c:v>
                  </c:pt>
                  <c:pt idx="3">
                    <c:v>[M4]</c:v>
                  </c:pt>
                  <c:pt idx="4">
                    <c:v>[M5]</c:v>
                  </c:pt>
                  <c:pt idx="5">
                    <c:v>[M6]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19</c:v>
                </c:pt>
                <c:pt idx="3">
                  <c:v>26</c:v>
                </c:pt>
                <c:pt idx="4">
                  <c:v>34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254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+mn-lt"/>
              </a:rPr>
              <a:t>Use of funds (placeholder split: replace)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5BFF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9FE870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D400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F90E8"/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000000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Sales &amp; marketing</c:v>
                </c:pt>
                <c:pt idx="2">
                  <c:v>Operations &amp; G&amp;A</c:v>
                </c:pt>
                <c:pt idx="3">
                  <c:v>[Other]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/ ONE-LINER
If an investor reads only this slide, they should know what you do. Use a plain-language one-liner (YC style: 'We help [who] do [what]'), not a slogan. Avoid jargon and buzzwords.
The raise chip is optional; some founders prefer to save the ask for the end. In a cold, send-ahead deck it's useful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(Sequoia: 'Describe the pain of the customer'; YC: 'Why is this a big, urgent problem?')
- Who has the problem, specifically? Name the customer segment.
- How painful is it? Quantify in time, money, or risk.
- How do they solve it today, and why does that fall short?
- One sharp stat or a short customer quote is more persuasive than a list.
Investors need to believe the problem is real, frequent, and expensive before they care about your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(Sequoia: 'Demonstrate your company's value proposition')
- Focus on what changes for the customer, not on a feature list.
- Make the before/after contrast obvious and, if possible, measurable.
- The 'insight' line is your secret: what you know that incumbents and other founders don't. Strong insights are often counter-intuitive.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/ DEMO
- Show, don't tell: real screenshots beat mockups; a short GIF or live demo beats both.
- Call out the 'magic moment', the point where the user gets value.
- Mention the product roadmap only briefly; you can put it in the appendix.
- If you're pre-product, show the prototype and what you've validated with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(Sequoia: 'Set up the historical evolution of your category. Why hasn't this been done before?')
- Investors look hard at this slide: great ideas often failed because they were too early.
- Common 'why now' drivers: a new platform or technology (e.g., AI models, cheaper sensors), a regulatory change, a behavior shift, a collapse in cost, or a market dislocation.
- You don't need all three cards; one compelling shift is better than three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 (Sequoia: 'Identify/profile the customer you cater to')
- Build the number bottom-up: (number of target customers) × (what each pays per year). Top-down figures ('1% of a $50B market') are a red flag to most VCs.
- Venture investors generally need to see a path to a $1B+ company, so the TAM should support that.
- Show your math, or keep it ready for the appendix; cite sources for any third-party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 (Sequoia: 'Revenue model, pricing, average account size, lifetime value')
- Who pays, how much, how often? (subscription, usage-based, transaction fee, marketplace take rate…)
- Swap the pricing tiers for a single price if that's simpler; delete what you don't need.
- Unit economics: only show what you actually have. At pre-seed it's fine to show target or early numbers, labeled as such.
- Rough benchmarks investors use for SaaS: LTV:CAC ≥ 3:1, CAC payback &lt; 12–18 months, gross margin 70%+.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(YC: 'This is often the most important slide')
- Put your single best number in the headline and make it big.
- Show growth over time, not a snapshot: a chart going up and to the right is the point of this slide.
- The chart uses SAMPLE data. Right-click it → Edit Data to enter your real numbers.
- Pick metrics that fit your stage: revenue/MRR, active users, retention, paid pilots, LOIs, waitlist, notable customer logos.
- If traction is your strongest card, move this slide up to right after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COMPETITION (Sequoia: 'List competitors; list your plan to win')
- Never say 'we have no competitors'. It signals naïveté or no market. Include the status quo (spreadsheets, doing nothing) and big incumbents.
- Pick 2×2 axes that genuinely matter to customers and honestly put you in the top-right. If the axes feel contrived, use a comparison table instead.
- The 'why we win' column matters more than the chart: what's defensible and gets stronger over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GO-TO-MARKET
- How do you find, win, and keep customers, and how does that scale?
- Be specific about the first channel that works; 'viral growth' or 'partnerships' with no evidence won't land.
- If you have data (CAC by channel, conversion rates, sales cycle length, pipeline), it belongs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(Sequoia: 'Founders, management, board of directors/advisors')
- At early stages, investors are betting on the team more than anything else.
- For each person, give the one credential that makes them uniquely suited to THIS problem (domain expertise, prior startup or exit, technical depth), not a full CV.
- Show how long the founders have worked together and that you're full-time.
- Delete or add cards to match your team; notable advisors and angels go in the bottom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FINANCIALS
- Keep it high level: 3–5 years of revenue, burn, and headcount. Detailed models go in the appendix or data room.
- Investors know projections are guesses; they're judging whether your assumptions are reasonable and whether you understand your business's drivers.
- Pre-revenue? Show the plan for the next 18–24 months and the milestones that unlock the next round instead.
- Rename the year columns (e.g., 2027, 2028…) and delete rows you don't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/ USE OF FUNDS
- State the amount, instrument (SAFE or priced round), and anything already committed or a lead investor.
- Tie the money to milestones: 'this round gets us to X, which sets us up for the next round'. Investors fund milestones, not runway.
- 18–24 months of runway is a typical target.
- The doughnut uses a placeholder 25/25/25/25 split. Right-click → Edit Data to change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/ CLOSE
- End on the big picture: if everything works, what does this company become in 10 years?
- Leave contact details on screen during Q&amp;A.
- Optionally restate the ask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
Backup slides for diligence questions. Keep them out of the main flow, but have them ready. Typical contents: detailed model, cohort/retention curves, customer references and case studies, technical deep-dive, roadmap, cap table, and full TAM math.
Duplicate any content slide (right-click → Duplicate Slide) to build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BLOCK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75895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[Company name] · Confidential</a:t>
            </a:r>
            <a:endParaRPr lang="en-US" sz="1000" dirty="0"/>
          </a:p>
        </p:txBody>
      </p:sp>
      <p:sp>
        <p:nvSpPr>
          <p:cNvPr id="5" name="Shape 1"/>
          <p:cNvSpPr/>
          <p:nvPr/>
        </p:nvSpPr>
        <p:spPr>
          <a:xfrm>
            <a:off x="11183112" y="6336792"/>
            <a:ext cx="457200" cy="34747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_IN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8412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87782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accent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731520"/>
            <a:ext cx="2377440" cy="237744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" name="Blue disc"/>
          <p:cNvSpPr/>
          <p:nvPr/>
        </p:nvSpPr>
        <p:spPr>
          <a:xfrm>
            <a:off x="9144000" y="640080"/>
            <a:ext cx="2377440" cy="23774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10149840" y="3749040"/>
            <a:ext cx="1554480" cy="15544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Pink block"/>
          <p:cNvSpPr/>
          <p:nvPr/>
        </p:nvSpPr>
        <p:spPr>
          <a:xfrm rot="720000">
            <a:off x="10058400" y="3657600"/>
            <a:ext cx="1554480" cy="1554480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6" name="Lime star"/>
          <p:cNvSpPr/>
          <p:nvPr/>
        </p:nvSpPr>
        <p:spPr>
          <a:xfrm rot="-600000">
            <a:off x="8732520" y="2880360"/>
            <a:ext cx="1325880" cy="1325880"/>
          </a:xfrm>
          <a:prstGeom prst="star5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722376"/>
            <a:ext cx="1463040" cy="7315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8" name="Logo placeholder"/>
          <p:cNvSpPr/>
          <p:nvPr/>
        </p:nvSpPr>
        <p:spPr>
          <a:xfrm>
            <a:off x="731520" y="640080"/>
            <a:ext cx="1463040" cy="73152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640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[Logo]</a:t>
            </a:r>
            <a:endParaRPr lang="en-US" sz="12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731520" y="18288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[Company name]</a:t>
            </a:r>
            <a:endParaRPr lang="en-US" sz="66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731520" y="34747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[One-liner: We help (who) do (what) by (how)]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 rot="-180000">
            <a:off x="786384" y="4764024"/>
            <a:ext cx="5120640" cy="5669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Sticker"/>
          <p:cNvSpPr/>
          <p:nvPr/>
        </p:nvSpPr>
        <p:spPr>
          <a:xfrm rot="-180000">
            <a:off x="731520" y="4709160"/>
            <a:ext cx="5120640" cy="566928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 rot="-180000">
            <a:off x="731520" y="47091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Raising $[X]M · [Pre-seed / Seed / Series A]</a:t>
            </a:r>
            <a:endParaRPr lang="en-US" sz="1400" dirty="0"/>
          </a:p>
        </p:txBody>
      </p:sp>
      <p:sp>
        <p:nvSpPr>
          <p:cNvPr id="15" name="Text 0"/>
          <p:cNvSpPr/>
          <p:nvPr>
            <p:ph idx="102" type="body" hasCustomPrompt="1"/>
          </p:nvPr>
        </p:nvSpPr>
        <p:spPr>
          <a:xfrm>
            <a:off x="73152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[Founder name], [Title]  ·  [email@company.com]  ·  [Month YYYY]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2050085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Eyebrow tag"/>
          <p:cNvSpPr/>
          <p:nvPr/>
        </p:nvSpPr>
        <p:spPr>
          <a:xfrm>
            <a:off x="548640" y="384048"/>
            <a:ext cx="2050085" cy="384048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[Target customers] struggle to [do X], and it costs them [time / money]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30936" y="2185416"/>
            <a:ext cx="6492240" cy="10789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Pain card 1"/>
          <p:cNvSpPr/>
          <p:nvPr/>
        </p:nvSpPr>
        <p:spPr>
          <a:xfrm>
            <a:off x="548640" y="2103120"/>
            <a:ext cx="6492240" cy="1078992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68296"/>
            <a:ext cx="548640" cy="54864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68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286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[Pain point 1]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67004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[Who feels it, how often, and what it costs them]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" y="3483864"/>
            <a:ext cx="6492240" cy="10789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Pain card 2"/>
          <p:cNvSpPr/>
          <p:nvPr/>
        </p:nvSpPr>
        <p:spPr>
          <a:xfrm>
            <a:off x="548640" y="3401568"/>
            <a:ext cx="6492240" cy="1078992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666744"/>
            <a:ext cx="548640" cy="54864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666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5844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[Pain point 2]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96849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[Make it concrete: a real customer story beats an abstract claim]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" y="4782312"/>
            <a:ext cx="6492240" cy="10789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9" name="Pain card 3"/>
          <p:cNvSpPr/>
          <p:nvPr/>
        </p:nvSpPr>
        <p:spPr>
          <a:xfrm>
            <a:off x="548640" y="4700016"/>
            <a:ext cx="6492240" cy="1078992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65192"/>
            <a:ext cx="548640" cy="548640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965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88289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How it's handled today: [current workaround]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26694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[Spreadsheets, manual work, legacy tools, and why they fall short]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80376" y="2185416"/>
            <a:ext cx="4023360" cy="367588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5" name="Stat card"/>
          <p:cNvSpPr/>
          <p:nvPr/>
        </p:nvSpPr>
        <p:spPr>
          <a:xfrm>
            <a:off x="7498080" y="2103120"/>
            <a:ext cx="4023360" cy="3675888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18120" y="24688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[XX%]</a:t>
            </a:r>
            <a:endParaRPr lang="en-US" sz="6400" dirty="0"/>
          </a:p>
        </p:txBody>
      </p:sp>
      <p:sp>
        <p:nvSpPr>
          <p:cNvPr id="27" name="Text 25"/>
          <p:cNvSpPr txBox="1"/>
          <p:nvPr/>
        </p:nvSpPr>
        <p:spPr>
          <a:xfrm>
            <a:off x="7818120" y="374904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of [target customers] [experience this pain / lose $X per year to it]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5257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Source: [citation]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rot="480000">
            <a:off x="10524744" y="1883664"/>
            <a:ext cx="1143000" cy="43891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0" name="Sticker"/>
          <p:cNvSpPr/>
          <p:nvPr/>
        </p:nvSpPr>
        <p:spPr>
          <a:xfrm rot="480000">
            <a:off x="10469880" y="1828800"/>
            <a:ext cx="1143000" cy="438912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 rot="480000">
            <a:off x="10469880" y="182880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OUCH.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2152498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Eyebrow tag"/>
          <p:cNvSpPr/>
          <p:nvPr/>
        </p:nvSpPr>
        <p:spPr>
          <a:xfrm>
            <a:off x="548640" y="384048"/>
            <a:ext cx="2152498" cy="38404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· THE SOLUTION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[Product] lets [customer] [achieve outcome] in [time] instead of [time]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30936" y="2185416"/>
            <a:ext cx="4846320" cy="2743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oday card"/>
          <p:cNvSpPr/>
          <p:nvPr/>
        </p:nvSpPr>
        <p:spPr>
          <a:xfrm>
            <a:off x="548640" y="2103120"/>
            <a:ext cx="4846320" cy="274320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TODAY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4320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[Slow / manual step]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[Costly or error-prone step]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[The outcome customers settle for]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41848" y="3172968"/>
            <a:ext cx="914400" cy="77724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1" name="Arrow"/>
          <p:cNvSpPr/>
          <p:nvPr/>
        </p:nvSpPr>
        <p:spPr>
          <a:xfrm>
            <a:off x="5577840" y="3108960"/>
            <a:ext cx="914400" cy="777240"/>
          </a:xfrm>
          <a:prstGeom prst="rightArrow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57416" y="2185416"/>
            <a:ext cx="4846320" cy="2743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With product card"/>
          <p:cNvSpPr/>
          <p:nvPr/>
        </p:nvSpPr>
        <p:spPr>
          <a:xfrm>
            <a:off x="6675120" y="2103120"/>
            <a:ext cx="4846320" cy="27432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WITH [PRODUCT]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2743200"/>
            <a:ext cx="4343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[What becomes fast or automatic]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[Measurable gain: X× faster, $Y saved]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[A new outcome that wasn't possible before]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" y="5202936"/>
            <a:ext cx="10972800" cy="8229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Insight card"/>
          <p:cNvSpPr/>
          <p:nvPr/>
        </p:nvSpPr>
        <p:spPr>
          <a:xfrm>
            <a:off x="548640" y="5120640"/>
            <a:ext cx="10972800" cy="82296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Our insight: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[The non-obvious thing you understand about this problem that others miss]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640434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Eyebrow tag"/>
          <p:cNvSpPr/>
          <p:nvPr/>
        </p:nvSpPr>
        <p:spPr>
          <a:xfrm>
            <a:off x="548640" y="384048"/>
            <a:ext cx="1640434" cy="384048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· PRODUCT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[How it works: the product in one sentence]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30936" y="2139696"/>
            <a:ext cx="6675120" cy="3886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Screenshot frame"/>
          <p:cNvSpPr/>
          <p:nvPr/>
        </p:nvSpPr>
        <p:spPr>
          <a:xfrm>
            <a:off x="548640" y="2057400"/>
            <a:ext cx="6675120" cy="388620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8" name="Browser bar"/>
          <p:cNvSpPr/>
          <p:nvPr/>
        </p:nvSpPr>
        <p:spPr>
          <a:xfrm>
            <a:off x="548640" y="2057400"/>
            <a:ext cx="6675120" cy="41148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76272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2176272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Shape 9"/>
          <p:cNvSpPr/>
          <p:nvPr/>
        </p:nvSpPr>
        <p:spPr>
          <a:xfrm>
            <a:off x="1335024" y="2176272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68880"/>
            <a:ext cx="6675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[Product screenshot, mockup, or demo GIF]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71816" y="2139696"/>
            <a:ext cx="3931920" cy="1097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4" name="Feature 1"/>
          <p:cNvSpPr/>
          <p:nvPr/>
        </p:nvSpPr>
        <p:spPr>
          <a:xfrm>
            <a:off x="7589520" y="2057400"/>
            <a:ext cx="3931920" cy="109728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90688" y="2331720"/>
            <a:ext cx="548640" cy="54864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90688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22208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[Key feature 1]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22208" y="2606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[What it does and why the user cares]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71816" y="3483864"/>
            <a:ext cx="3931920" cy="1097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0" name="Feature 2"/>
          <p:cNvSpPr/>
          <p:nvPr/>
        </p:nvSpPr>
        <p:spPr>
          <a:xfrm>
            <a:off x="7589520" y="3401568"/>
            <a:ext cx="3931920" cy="109728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90688" y="3675888"/>
            <a:ext cx="548640" cy="548640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675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522208" y="3584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[Key feature 2]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522208" y="39502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[What it does and why the user cares]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71816" y="4828032"/>
            <a:ext cx="3931920" cy="1097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6" name="Feature 3"/>
          <p:cNvSpPr/>
          <p:nvPr/>
        </p:nvSpPr>
        <p:spPr>
          <a:xfrm>
            <a:off x="7589520" y="4745736"/>
            <a:ext cx="3931920" cy="109728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90688" y="5020056"/>
            <a:ext cx="548640" cy="54864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90688" y="5020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522208" y="49286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[Key feature 3]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522208" y="52943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[What it does and why the user cares]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640434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Eyebrow tag"/>
          <p:cNvSpPr/>
          <p:nvPr/>
        </p:nvSpPr>
        <p:spPr>
          <a:xfrm>
            <a:off x="548640" y="384048"/>
            <a:ext cx="1640434" cy="38404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· WHY NOW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now: [the shift that makes this possible today]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30936" y="2185416"/>
            <a:ext cx="3438144" cy="37490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Why now card 1"/>
          <p:cNvSpPr/>
          <p:nvPr/>
        </p:nvSpPr>
        <p:spPr>
          <a:xfrm>
            <a:off x="548640" y="2103120"/>
            <a:ext cx="3438144" cy="374904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2860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8444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[What changed in the tech]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526280"/>
            <a:ext cx="2798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16552" y="2185416"/>
            <a:ext cx="3438144" cy="37490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Why now card 2"/>
          <p:cNvSpPr/>
          <p:nvPr/>
        </p:nvSpPr>
        <p:spPr>
          <a:xfrm>
            <a:off x="4334256" y="2103120"/>
            <a:ext cx="3438144" cy="3749040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54296" y="22860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324612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MARKET / BEHAVIOR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54296" y="358444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[What changed in how people buy or work]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654296" y="4526280"/>
            <a:ext cx="2798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02168" y="2185416"/>
            <a:ext cx="3438144" cy="37490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9" name="Why now card 3"/>
          <p:cNvSpPr/>
          <p:nvPr/>
        </p:nvSpPr>
        <p:spPr>
          <a:xfrm>
            <a:off x="8119872" y="2103120"/>
            <a:ext cx="3438144" cy="374904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39912" y="22860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8439912" y="324612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REGULATION / COST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39912" y="358444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[What changed in rules or costs]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439912" y="4526280"/>
            <a:ext cx="2798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[Why this makes your solution possible, or necessary, now and not 5 years ago]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2050085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Eyebrow tag"/>
          <p:cNvSpPr/>
          <p:nvPr/>
        </p:nvSpPr>
        <p:spPr>
          <a:xfrm>
            <a:off x="548640" y="384048"/>
            <a:ext cx="2050085" cy="384048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· MARKET SIZE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$[X]B market, and we can win $[Y]M of it in [N] years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3840480" cy="38404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AM circle"/>
          <p:cNvSpPr/>
          <p:nvPr/>
        </p:nvSpPr>
        <p:spPr>
          <a:xfrm>
            <a:off x="822960" y="2057400"/>
            <a:ext cx="3840480" cy="384048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8" name="SAM circle"/>
          <p:cNvSpPr/>
          <p:nvPr/>
        </p:nvSpPr>
        <p:spPr>
          <a:xfrm>
            <a:off x="1371600" y="3154680"/>
            <a:ext cx="2743200" cy="274320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9" name="SOM circle"/>
          <p:cNvSpPr/>
          <p:nvPr/>
        </p:nvSpPr>
        <p:spPr>
          <a:xfrm>
            <a:off x="1920240" y="4251960"/>
            <a:ext cx="1645920" cy="164592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4873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94960" y="2176272"/>
            <a:ext cx="256032" cy="256032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0644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212140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Total addressable market (TAM)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4688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[Everyone who could ever buy this × annual spend]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3273552"/>
            <a:ext cx="256032" cy="256032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200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$[X]B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2186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Serviceable market (SAM)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356616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[The segment you can reach with today's product and channels]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94960" y="4370832"/>
            <a:ext cx="256032" cy="256032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06440" y="4297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43159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Obtainable in [3–5] years (SOM)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466344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[The realistic share you can win: the number to defend]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77256" y="5431536"/>
            <a:ext cx="6126480" cy="5669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6" name="Bottom-up math"/>
          <p:cNvSpPr/>
          <p:nvPr/>
        </p:nvSpPr>
        <p:spPr>
          <a:xfrm>
            <a:off x="5394960" y="5349240"/>
            <a:ext cx="6126480" cy="566928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534924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BOTTOM-UP: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[# target customers] × $[annual contract value] = $[SAM]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2357323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Eyebrow tag"/>
          <p:cNvSpPr/>
          <p:nvPr/>
        </p:nvSpPr>
        <p:spPr>
          <a:xfrm>
            <a:off x="548640" y="384048"/>
            <a:ext cx="2357323" cy="38404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· BUSINESS MODEL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We charge [customer] [$X per unit]: [pricing model in one line]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30936" y="2139696"/>
            <a:ext cx="3438144" cy="17830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Pricing tier 1"/>
          <p:cNvSpPr/>
          <p:nvPr/>
        </p:nvSpPr>
        <p:spPr>
          <a:xfrm>
            <a:off x="548640" y="2057400"/>
            <a:ext cx="3438144" cy="178308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24028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[TIER 1]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6032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/ [user · month]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9184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[Who it's for and what's included]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2139696"/>
            <a:ext cx="3438144" cy="17830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2" name="Pricing tier 2"/>
          <p:cNvSpPr/>
          <p:nvPr/>
        </p:nvSpPr>
        <p:spPr>
          <a:xfrm>
            <a:off x="4334256" y="2057400"/>
            <a:ext cx="3438144" cy="178308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08576" y="224028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[TIER 2]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08576" y="256032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/ [user · month]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329184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[Who it's for and what's included]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02168" y="2139696"/>
            <a:ext cx="3438144" cy="17830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Pricing tier 3"/>
          <p:cNvSpPr/>
          <p:nvPr/>
        </p:nvSpPr>
        <p:spPr>
          <a:xfrm>
            <a:off x="8119872" y="2057400"/>
            <a:ext cx="3438144" cy="178308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94192" y="224028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[TIER 3]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256032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 / [user · month]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329184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[Who it's for and what's included]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rot="360000">
            <a:off x="6684264" y="1901952"/>
            <a:ext cx="1325880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2" name="Sticker"/>
          <p:cNvSpPr/>
          <p:nvPr/>
        </p:nvSpPr>
        <p:spPr>
          <a:xfrm rot="360000">
            <a:off x="6629400" y="1847088"/>
            <a:ext cx="1325880" cy="384048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 rot="360000">
            <a:off x="6629400" y="18470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[POPULAR]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" y="4544568"/>
            <a:ext cx="2487168" cy="14173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6" name="Unit economics 1"/>
          <p:cNvSpPr/>
          <p:nvPr/>
        </p:nvSpPr>
        <p:spPr>
          <a:xfrm>
            <a:off x="548640" y="4462272"/>
            <a:ext cx="2487168" cy="141732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645152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2852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Avg. contract value (ACV)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0148" y="4544568"/>
            <a:ext cx="2487168" cy="14173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0" name="Unit economics 2"/>
          <p:cNvSpPr/>
          <p:nvPr/>
        </p:nvSpPr>
        <p:spPr>
          <a:xfrm>
            <a:off x="3387852" y="4462272"/>
            <a:ext cx="2487168" cy="1417320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43884" y="4645152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3643884" y="52852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Gross margin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4544568"/>
            <a:ext cx="2487168" cy="14173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4" name="Unit economics 3"/>
          <p:cNvSpPr/>
          <p:nvPr/>
        </p:nvSpPr>
        <p:spPr>
          <a:xfrm>
            <a:off x="6227064" y="4462272"/>
            <a:ext cx="2487168" cy="141732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83096" y="4645152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[N] mo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6483096" y="52852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CAC payback period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148572" y="4544568"/>
            <a:ext cx="2487168" cy="14173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8" name="Unit economics 4"/>
          <p:cNvSpPr/>
          <p:nvPr/>
        </p:nvSpPr>
        <p:spPr>
          <a:xfrm>
            <a:off x="9066276" y="4462272"/>
            <a:ext cx="2487168" cy="141732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22308" y="4645152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[X]:1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9322308" y="52852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LTV : CAC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742846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Eyebrow tag"/>
          <p:cNvSpPr/>
          <p:nvPr/>
        </p:nvSpPr>
        <p:spPr>
          <a:xfrm>
            <a:off x="548640" y="384048"/>
            <a:ext cx="1742846" cy="384048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· TRACTION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[Key metric] grew [X]× in [N] months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30936" y="2139696"/>
            <a:ext cx="6949440" cy="3886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Chart card"/>
          <p:cNvSpPr/>
          <p:nvPr/>
        </p:nvSpPr>
        <p:spPr>
          <a:xfrm>
            <a:off x="548640" y="2057400"/>
            <a:ext cx="6949440" cy="388620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731520" y="2194560"/>
          <a:ext cx="65836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 rot="240000">
            <a:off x="5175504" y="1865376"/>
            <a:ext cx="2514600" cy="420624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0" name="Sticker"/>
          <p:cNvSpPr/>
          <p:nvPr/>
        </p:nvSpPr>
        <p:spPr>
          <a:xfrm rot="240000">
            <a:off x="5120640" y="1810512"/>
            <a:ext cx="2514600" cy="4206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 rot="240000">
            <a:off x="5120640" y="181051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UP &amp; TO THE RIGHT ↗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46136" y="2139696"/>
            <a:ext cx="3657600" cy="1097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Traction stat 1"/>
          <p:cNvSpPr/>
          <p:nvPr/>
        </p:nvSpPr>
        <p:spPr>
          <a:xfrm>
            <a:off x="7863840" y="2057400"/>
            <a:ext cx="3657600" cy="109728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3816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2743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Monthly recurring revenue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46136" y="3483864"/>
            <a:ext cx="3657600" cy="1097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Traction stat 2"/>
          <p:cNvSpPr/>
          <p:nvPr/>
        </p:nvSpPr>
        <p:spPr>
          <a:xfrm>
            <a:off x="7863840" y="3401568"/>
            <a:ext cx="3657600" cy="109728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35387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4087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Month-over-month growth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946136" y="4828032"/>
            <a:ext cx="3657600" cy="1097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1" name="Traction stat 3"/>
          <p:cNvSpPr/>
          <p:nvPr/>
        </p:nvSpPr>
        <p:spPr>
          <a:xfrm>
            <a:off x="7863840" y="4745736"/>
            <a:ext cx="3657600" cy="109728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0" y="48828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[X]%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5431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Net revenue retention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2050085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Eyebrow tag"/>
          <p:cNvSpPr/>
          <p:nvPr/>
        </p:nvSpPr>
        <p:spPr>
          <a:xfrm>
            <a:off x="548640" y="384048"/>
            <a:ext cx="2050085" cy="384048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· COMPETITION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[Company] is the only [category] that [key differentiator]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↑ [Y axis: e.g., Depth / power]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" y="2414016"/>
            <a:ext cx="5760720" cy="32918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8" name="Matrix"/>
          <p:cNvSpPr/>
          <p:nvPr/>
        </p:nvSpPr>
        <p:spPr>
          <a:xfrm>
            <a:off x="548640" y="2331720"/>
            <a:ext cx="5760720" cy="329184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2331720"/>
            <a:ext cx="0" cy="329184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977640"/>
            <a:ext cx="576072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7424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[X axis: e.g., Ease of use] 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2560320"/>
            <a:ext cx="502920" cy="50292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-180000">
            <a:off x="3758184" y="2660904"/>
            <a:ext cx="1691640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4" name="Sticker"/>
          <p:cNvSpPr/>
          <p:nvPr/>
        </p:nvSpPr>
        <p:spPr>
          <a:xfrm rot="-180000">
            <a:off x="3703320" y="2606040"/>
            <a:ext cx="1691640" cy="384048"/>
          </a:xfrm>
          <a:prstGeom prst="rect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 rot="-180000">
            <a:off x="3703320" y="2606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[Your company]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2743200"/>
            <a:ext cx="329184" cy="32918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71600" y="27432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[Competitor A]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0" y="4434840"/>
            <a:ext cx="329184" cy="32918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0" y="4434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[Competitor B]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846320"/>
            <a:ext cx="329184" cy="32918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71600" y="48463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[Competitor C]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0296" y="2459736"/>
            <a:ext cx="4663440" cy="9601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4" name="Advantage 1"/>
          <p:cNvSpPr/>
          <p:nvPr/>
        </p:nvSpPr>
        <p:spPr>
          <a:xfrm>
            <a:off x="6858000" y="2377440"/>
            <a:ext cx="4663440" cy="96012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2606040"/>
            <a:ext cx="502920" cy="502920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2496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[Unfair advantage 1]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726680" y="2816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40296" y="3648456"/>
            <a:ext cx="4663440" cy="9601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0" name="Advantage 2"/>
          <p:cNvSpPr/>
          <p:nvPr/>
        </p:nvSpPr>
        <p:spPr>
          <a:xfrm>
            <a:off x="6858000" y="3566160"/>
            <a:ext cx="4663440" cy="96012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3794760"/>
            <a:ext cx="502920" cy="50292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408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3685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[Unfair advantage 2]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40050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40296" y="4837176"/>
            <a:ext cx="4663440" cy="9601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6" name="Advantage 3"/>
          <p:cNvSpPr/>
          <p:nvPr/>
        </p:nvSpPr>
        <p:spPr>
          <a:xfrm>
            <a:off x="6858000" y="4754880"/>
            <a:ext cx="4663440" cy="96012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0880" y="4983480"/>
            <a:ext cx="502920" cy="50292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408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726680" y="4873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[Unfair advantage 3]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726680" y="51937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[e.g., proprietary data, network effects, distribution, deep tech]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2152498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Eyebrow tag"/>
          <p:cNvSpPr/>
          <p:nvPr/>
        </p:nvSpPr>
        <p:spPr>
          <a:xfrm>
            <a:off x="548640" y="384048"/>
            <a:ext cx="2152498" cy="384048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· GO-TO-MARKET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How we reach customers: [primary channel]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30936" y="2139696"/>
            <a:ext cx="3200400" cy="2240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GTM step 1"/>
          <p:cNvSpPr/>
          <p:nvPr/>
        </p:nvSpPr>
        <p:spPr>
          <a:xfrm>
            <a:off x="548640" y="2057400"/>
            <a:ext cx="3200400" cy="224028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1 · LAND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06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[e.g., Founder-led sales to 10 design partners]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[Timing, target, and what success looks like]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04488" y="2926080"/>
            <a:ext cx="502920" cy="5029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17136" y="2139696"/>
            <a:ext cx="3200400" cy="2240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3" name="GTM step 2"/>
          <p:cNvSpPr/>
          <p:nvPr/>
        </p:nvSpPr>
        <p:spPr>
          <a:xfrm>
            <a:off x="4434840" y="2057400"/>
            <a:ext cx="3200400" cy="2240280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2 · EXPAND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606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[e.g., Referrals and upsell within accounts]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[Timing, target, and what success looks like]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90688" y="2926080"/>
            <a:ext cx="502920" cy="5029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8" name="Shape 16"/>
          <p:cNvSpPr/>
          <p:nvPr/>
        </p:nvSpPr>
        <p:spPr>
          <a:xfrm>
            <a:off x="8403336" y="2139696"/>
            <a:ext cx="3200400" cy="2240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9" name="GTM step 3"/>
          <p:cNvSpPr/>
          <p:nvPr/>
        </p:nvSpPr>
        <p:spPr>
          <a:xfrm>
            <a:off x="8321040" y="2057400"/>
            <a:ext cx="3200400" cy="224028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3 · SCALE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6060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[e.g., Inside sales team + partner channel]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[Timing, target, and what success looks like]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" y="4700016"/>
            <a:ext cx="3200400" cy="126187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4" name="GTM card 1"/>
          <p:cNvSpPr/>
          <p:nvPr/>
        </p:nvSpPr>
        <p:spPr>
          <a:xfrm>
            <a:off x="548640" y="4617720"/>
            <a:ext cx="3200400" cy="1261872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800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IDEAL CUSTOMER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120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[Industry, company size, buyer title]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17136" y="4700016"/>
            <a:ext cx="3200400" cy="126187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8" name="GTM card 2"/>
          <p:cNvSpPr/>
          <p:nvPr/>
        </p:nvSpPr>
        <p:spPr>
          <a:xfrm>
            <a:off x="4434840" y="4617720"/>
            <a:ext cx="3200400" cy="1261872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09160" y="4800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SALES MOTION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709160" y="5120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[Self-serve · Product-led · Sales-led]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403336" y="4700016"/>
            <a:ext cx="3200400" cy="126187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2" name="GTM card 3"/>
          <p:cNvSpPr/>
          <p:nvPr/>
        </p:nvSpPr>
        <p:spPr>
          <a:xfrm>
            <a:off x="8321040" y="4617720"/>
            <a:ext cx="3200400" cy="1261872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95360" y="4800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PROOF IT WORKS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595360" y="5120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[CAC by channel, conversion rate, pipeline]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333195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Eyebrow tag"/>
          <p:cNvSpPr/>
          <p:nvPr/>
        </p:nvSpPr>
        <p:spPr>
          <a:xfrm>
            <a:off x="548640" y="384048"/>
            <a:ext cx="1333195" cy="384048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· TEAM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us: [the unfair advantage this team brings]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30936" y="2139696"/>
            <a:ext cx="2487168" cy="3383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eam card 1"/>
          <p:cNvSpPr/>
          <p:nvPr/>
        </p:nvSpPr>
        <p:spPr>
          <a:xfrm>
            <a:off x="548640" y="2057400"/>
            <a:ext cx="2487168" cy="338328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86000"/>
            <a:ext cx="1143000" cy="1143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286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[Photo]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5661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95020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[Role]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343400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0148" y="2139696"/>
            <a:ext cx="2487168" cy="3383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4" name="Team card 2"/>
          <p:cNvSpPr/>
          <p:nvPr/>
        </p:nvSpPr>
        <p:spPr>
          <a:xfrm>
            <a:off x="3387852" y="2057400"/>
            <a:ext cx="2487168" cy="338328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3884" y="2286000"/>
            <a:ext cx="1143000" cy="114300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43884" y="2286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[Photo]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43884" y="35661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643884" y="395020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[Role]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43884" y="4343400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139696"/>
            <a:ext cx="2487168" cy="3383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1" name="Team card 3"/>
          <p:cNvSpPr/>
          <p:nvPr/>
        </p:nvSpPr>
        <p:spPr>
          <a:xfrm>
            <a:off x="6227064" y="2057400"/>
            <a:ext cx="2487168" cy="338328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3096" y="2286000"/>
            <a:ext cx="1143000" cy="114300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83096" y="2286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[Photo]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83096" y="35661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83096" y="395020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[Role]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83096" y="4343400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8572" y="2139696"/>
            <a:ext cx="2487168" cy="3383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8" name="Team card 4"/>
          <p:cNvSpPr/>
          <p:nvPr/>
        </p:nvSpPr>
        <p:spPr>
          <a:xfrm>
            <a:off x="9066276" y="2057400"/>
            <a:ext cx="2487168" cy="338328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2308" y="2286000"/>
            <a:ext cx="1143000" cy="11430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2308" y="2286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</a:rPr>
              <a:t>[Photo]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22308" y="356616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[Name]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322308" y="395020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[Role]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322308" y="4343400"/>
            <a:ext cx="2029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[Prior company, exit, or domain expertise: why you're the one to build this]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" y="5705856"/>
            <a:ext cx="11000232" cy="4572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5" name="Advisors bar"/>
          <p:cNvSpPr/>
          <p:nvPr/>
        </p:nvSpPr>
        <p:spPr>
          <a:xfrm>
            <a:off x="548640" y="5623560"/>
            <a:ext cx="11000232" cy="4572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ADVISORS &amp; INVESTORS: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[Name (credential)]  ·  [Name (credential)]  ·  [Name (credential)]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947672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Eyebrow tag"/>
          <p:cNvSpPr/>
          <p:nvPr/>
        </p:nvSpPr>
        <p:spPr>
          <a:xfrm>
            <a:off x="548640" y="384048"/>
            <a:ext cx="1947672" cy="38404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 · FINANCIALS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Path to $[X]M revenue by [year]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30936" y="2139696"/>
            <a:ext cx="10972800" cy="2688336"/>
          </a:xfrm>
          <a:prstGeom prst="rect">
            <a:avLst/>
          </a:prstGeom>
          <a:solidFill>
            <a:schemeClr val="tx1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[Year 1]</a:t>
                      </a:r>
                      <a:endParaRPr lang="en-US" sz="14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[Year 2]</a:t>
                      </a:r>
                      <a:endParaRPr lang="en-US" sz="14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[Year 3]</a:t>
                      </a:r>
                      <a:endParaRPr lang="en-US" sz="14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[Year 4]</a:t>
                      </a:r>
                      <a:endParaRPr lang="en-US" sz="14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[Year 5]</a:t>
                      </a:r>
                      <a:endParaRPr lang="en-US" sz="14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Gross margin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Operating expenses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Net burn / EBITDA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Ending cash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Headcount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[ 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0936" y="5065776"/>
            <a:ext cx="10972800" cy="102412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9" name="Assumptions card"/>
          <p:cNvSpPr/>
          <p:nvPr/>
        </p:nvSpPr>
        <p:spPr>
          <a:xfrm>
            <a:off x="548640" y="4983480"/>
            <a:ext cx="10972800" cy="1024128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093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KEY ASSUMPTIONS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34924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[Growth rate and what drives it]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[Pricing, churn, and sales capacity assumptions]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[When you reach breakeven, or what the next round funds]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640434" cy="38404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Eyebrow tag"/>
          <p:cNvSpPr/>
          <p:nvPr/>
        </p:nvSpPr>
        <p:spPr>
          <a:xfrm>
            <a:off x="548640" y="384048"/>
            <a:ext cx="1640434" cy="384048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384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 · THE ASK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548640" y="932688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We're raising $[X]M to reach [milestone] in [N] months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30936" y="2139696"/>
            <a:ext cx="4114800" cy="3886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Raise card"/>
          <p:cNvSpPr/>
          <p:nvPr/>
        </p:nvSpPr>
        <p:spPr>
          <a:xfrm>
            <a:off x="548640" y="2057400"/>
            <a:ext cx="4114800" cy="38862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RAISING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060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$[X]M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319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[SAFE / priced round]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[Pre-seed / Seed / Series A]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[$X committed · Lead: (name)]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rot="420000">
            <a:off x="3483864" y="1883664"/>
            <a:ext cx="1371600" cy="420624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2" name="Sticker"/>
          <p:cNvSpPr/>
          <p:nvPr/>
        </p:nvSpPr>
        <p:spPr>
          <a:xfrm rot="420000">
            <a:off x="3429000" y="1828800"/>
            <a:ext cx="1371600" cy="420624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 rot="420000">
            <a:off x="3429000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LET'S GO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11496" y="2139696"/>
            <a:ext cx="6492240" cy="2331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5" name="Use of funds card"/>
          <p:cNvSpPr/>
          <p:nvPr/>
        </p:nvSpPr>
        <p:spPr>
          <a:xfrm>
            <a:off x="5029200" y="2057400"/>
            <a:ext cx="6492240" cy="233172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  <a:prstDash val="solid"/>
          </a:ln>
        </p:spPr>
      </p:sp>
      <p:graphicFrame>
        <p:nvGraphicFramePr>
          <p:cNvPr id="16" name="Chart 0" descr=""/>
          <p:cNvGraphicFramePr/>
          <p:nvPr/>
        </p:nvGraphicFramePr>
        <p:xfrm>
          <a:off x="5166360" y="2130552"/>
          <a:ext cx="62179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111496" y="4745736"/>
            <a:ext cx="2011680" cy="12801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8" name="Milestone 1"/>
          <p:cNvSpPr/>
          <p:nvPr/>
        </p:nvSpPr>
        <p:spPr>
          <a:xfrm>
            <a:off x="5029200" y="4663440"/>
            <a:ext cx="2011680" cy="128016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30368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MILESTONE 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230368" y="5102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[e.g., $1M ARR]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230368" y="5504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[by month N]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51776" y="4745736"/>
            <a:ext cx="2011680" cy="12801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3" name="Milestone 2"/>
          <p:cNvSpPr/>
          <p:nvPr/>
        </p:nvSpPr>
        <p:spPr>
          <a:xfrm>
            <a:off x="7269480" y="4663440"/>
            <a:ext cx="2011680" cy="1280160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70648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MILESTONE 2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470648" y="5102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[e.g., 50 logos]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470648" y="5504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[by month N]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592056" y="4745736"/>
            <a:ext cx="2011680" cy="12801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8" name="Milestone 3"/>
          <p:cNvSpPr/>
          <p:nvPr/>
        </p:nvSpPr>
        <p:spPr>
          <a:xfrm>
            <a:off x="9509760" y="4663440"/>
            <a:ext cx="2011680" cy="128016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10928" y="4800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RUNWAY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710928" y="5102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[N] months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710928" y="5504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[to Series X metrics]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474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bg1"/>
                </a:solidFill>
                <a:latin typeface="Space Mono"/>
                <a:ea typeface="Space Mono"/>
                <a:cs typeface="Space Mono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me star"/>
          <p:cNvSpPr/>
          <p:nvPr/>
        </p:nvSpPr>
        <p:spPr>
          <a:xfrm rot="720000">
            <a:off x="9784080" y="731520"/>
            <a:ext cx="1737360" cy="1737360"/>
          </a:xfrm>
          <a:prstGeom prst="star5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" name="Pink disc"/>
          <p:cNvSpPr/>
          <p:nvPr/>
        </p:nvSpPr>
        <p:spPr>
          <a:xfrm>
            <a:off x="10058400" y="4297680"/>
            <a:ext cx="1463040" cy="146304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4" name="Yellow block"/>
          <p:cNvSpPr/>
          <p:nvPr/>
        </p:nvSpPr>
        <p:spPr>
          <a:xfrm rot="-840000">
            <a:off x="10424160" y="2880360"/>
            <a:ext cx="822960" cy="822960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73736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[Your vision in one bold sentence: what the world looks like if you win]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06908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[Founder name]  ·  [email@company.com]  ·  [phone]  ·  [company.com]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ue block"/>
          <p:cNvSpPr/>
          <p:nvPr/>
        </p:nvSpPr>
        <p:spPr>
          <a:xfrm rot="480000">
            <a:off x="9692640" y="914400"/>
            <a:ext cx="1828800" cy="1828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480000">
            <a:off x="969264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</a:t>
            </a:r>
            <a:endParaRPr lang="en-US" sz="9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73736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Appendix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06908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[Detailed financials  ·  Cohort and retention data  ·  Customer case studies  ·  Technical architecture  ·  Product roadmap  ·  Cap table]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o-Brutal Money">
  <a:themeElements>
    <a:clrScheme name="Neo-Brutal Money">
      <a:dk1>
        <a:srgbClr val="000000"/>
      </a:dk1>
      <a:lt1>
        <a:srgbClr val="FFF8E7"/>
      </a:lt1>
      <a:dk2>
        <a:srgbClr val="3A3A3A"/>
      </a:dk2>
      <a:lt2>
        <a:srgbClr val="FFFFFF"/>
      </a:lt2>
      <a:accent1>
        <a:srgbClr val="5B5BFF"/>
      </a:accent1>
      <a:accent2>
        <a:srgbClr val="9FE870"/>
      </a:accent2>
      <a:accent3>
        <a:srgbClr val="FFD400"/>
      </a:accent3>
      <a:accent4>
        <a:srgbClr val="FF90E8"/>
      </a:accent4>
      <a:accent5>
        <a:srgbClr val="6B6B6B"/>
      </a:accent5>
      <a:accent6>
        <a:srgbClr val="FF5C39"/>
      </a:accent6>
      <a:hlink>
        <a:srgbClr val="5B5BFF"/>
      </a:hlink>
      <a:folHlink>
        <a:srgbClr val="6B6B6B"/>
      </a:folHlink>
    </a:clrScheme>
    <a:fontScheme name="Neo-Brutal Money">
      <a:majorFont>
        <a:latin typeface="Archivo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>PptxGenJS Presentation</dc:subject>
  <dc:creator>PptxGenJS</dc:creator>
  <cp:lastModifiedBy>PptxGenJS</cp:lastModifiedBy>
  <cp:revision>1</cp:revision>
  <dcterms:created xsi:type="dcterms:W3CDTF">2026-10-11T23:32:58Z</dcterms:created>
  <dcterms:modified xsi:type="dcterms:W3CDTF">2026-10-11T23:32:58Z</dcterms:modified>
</cp:coreProperties>
</file>