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73497ee-0f67-3951-8b12-01675bab57f3}">
          <p14:sldIdLst>
            <p14:sldId id="256"/>
          </p14:sldIdLst>
        </p14:section>
        <p14:section name="Opportunity" id="{cdb87ca6-59a0-6b73-d7d1-f3b84eb731e9}">
          <p14:sldIdLst>
            <p14:sldId id="257"/>
            <p14:sldId id="258"/>
            <p14:sldId id="259"/>
            <p14:sldId id="260"/>
            <p14:sldId id="261"/>
          </p14:sldIdLst>
        </p14:section>
        <p14:section name="Business" id="{89102bf8-d177-c45b-b630-a06994f2d5ed}">
          <p14:sldIdLst>
            <p14:sldId id="262"/>
            <p14:sldId id="263"/>
            <p14:sldId id="264"/>
            <p14:sldId id="265"/>
          </p14:sldIdLst>
        </p14:section>
        <p14:section name="Team &amp; Financials" id="{aeabec73-4884-8560-cb70-cc17ea688dcb}">
          <p14:sldIdLst>
            <p14:sldId id="266"/>
            <p14:sldId id="267"/>
            <p14:sldId id="268"/>
          </p14:sldIdLst>
        </p14:section>
        <p14:section name="Close" id="{f83398bd-840f-8cc1-6452-992c061791fe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B9C2B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B9C2B0"/>
                </a:solidFill>
                <a:latin typeface="+mn-lt"/>
              </a:rPr>
              <a:t>[Revenue / users] by month (sample data: replace)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[Metric]</c:v>
                </c:pt>
              </c:strCache>
            </c:strRef>
          </c:tx>
          <c:spPr>
            <a:solidFill>
              <a:srgbClr val="C9A2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3EBD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[M1]</c:v>
                  </c:pt>
                  <c:pt idx="1">
                    <c:v>[M2]</c:v>
                  </c:pt>
                  <c:pt idx="2">
                    <c:v>[M3]</c:v>
                  </c:pt>
                  <c:pt idx="3">
                    <c:v>[M4]</c:v>
                  </c:pt>
                  <c:pt idx="4">
                    <c:v>[M5]</c:v>
                  </c:pt>
                  <c:pt idx="5">
                    <c:v>[M6]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14</c:v>
                </c:pt>
                <c:pt idx="2">
                  <c:v>19</c:v>
                </c:pt>
                <c:pt idx="3">
                  <c:v>26</c:v>
                </c:pt>
                <c:pt idx="4">
                  <c:v>34</c:v>
                </c:pt>
                <c:pt idx="5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3EBD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9C2B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B9C2B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B9C2B0"/>
                </a:solidFill>
                <a:latin typeface="+mn-lt"/>
              </a:rPr>
              <a:t>Use of funds (placeholder split: replace)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A24B"/>
              </a:solidFill>
              <a:effectLst/>
            </c:spPr>
          </c:dPt>
          <c:dPt>
            <c:idx val="1"/>
            <c:bubble3D val="0"/>
            <c:spPr>
              <a:solidFill>
                <a:srgbClr val="7FD6C2"/>
              </a:solidFill>
              <a:effectLst/>
            </c:spPr>
          </c:dPt>
          <c:dPt>
            <c:idx val="2"/>
            <c:bubble3D val="0"/>
            <c:spPr>
              <a:solidFill>
                <a:srgbClr val="E9A6C9"/>
              </a:solidFill>
              <a:effectLst/>
            </c:spPr>
          </c:dPt>
          <c:dPt>
            <c:idx val="3"/>
            <c:bubble3D val="0"/>
            <c:spPr>
              <a:solidFill>
                <a:srgbClr val="8FA59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E2A22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E2A22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E2A22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E2A22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Product &amp; engineering</c:v>
                </c:pt>
                <c:pt idx="1">
                  <c:v>Sales &amp; marketing</c:v>
                </c:pt>
                <c:pt idx="2">
                  <c:v>Operations &amp; G&amp;A</c:v>
                </c:pt>
                <c:pt idx="3">
                  <c:v>[Other]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300">
              <a:solidFill>
                <a:srgbClr val="F3EBD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/ ONE-LINER
If an investor reads only this slide, they should know what you do. Use a plain-language one-liner (YC style: 'We help [who] do [what]'), not a slogan. Avoid jargon and buzzwords.
The raise chip is optional; some founders prefer to save the ask for the end. In a cold, send-ahead deck it's useful up front.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(Sequoia: 'Describe the pain of the customer'; YC: 'Why is this a big, urgent problem?')
- Who has the problem, specifically? Name the customer segment.
- How painful is it? Quantify in time, money, or risk.
- How do they solve it today, and why does that fall short?
- One sharp stat or a short customer quote is more persuasive than a list.
Investors need to believe the problem is real, frequent, and expensive before they care about your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(Sequoia: 'Demonstrate your company's value proposition')
- Focus on what changes for the customer, not on a feature list.
- Make the before/after contrast obvious and, if possible, measurable.
- The 'insight' line is your secret: what you know that incumbents and other founders don't. Strong insights are often counter-intuitive.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/ DEMO
- Show, don't tell: real screenshots beat mockups; a short GIF or live demo beats both.
- Call out the 'magic moment', the point where the user gets value.
- Mention the product roadmap only briefly; you can put it in the appendix.
- If you're pre-product, show the prototype and what you've validated with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NOW (Sequoia: 'Set up the historical evolution of your category. Why hasn't this been done before?')
- Investors look hard at this slide: great ideas often failed because they were too early.
- Common 'why now' drivers: a new platform or technology (e.g., AI models, cheaper sensors), a regulatory change, a behavior shift, a collapse in cost, or a market dislocation.
- You don't need all three cards; one compelling shift is better than three weak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SIZE (Sequoia: 'Identify/profile the customer you cater to')
- Build the number bottom-up: (number of target customers) × (what each pays per year). Top-down figures ('1% of a $50B market') are a red flag to most VCs.
- Venture investors generally need to see a path to a $1B+ company, so the TAM should support that.
- Show your math, or keep it ready for the appendix; cite sources for any third-party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MODEL (Sequoia: 'Revenue model, pricing, average account size, lifetime value')
- Who pays, how much, how often? (subscription, usage-based, transaction fee, marketplace take rate…)
- Swap the pricing tiers for a single price if that's simpler; delete what you don't need.
- Unit economics: only show what you actually have. At pre-seed it's fine to show target or early numbers, labeled as such.
- Rough benchmarks investors use for SaaS: LTV:CAC ≥ 3:1, CAC payback &lt; 12–18 months, gross margin 70%+.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TRACTION (YC: 'This is often the most important slide')
- Put your single best number in the headline and make it big.
- Show growth over time, not a snapshot: a chart going up and to the right is the point of this slide.
- The chart uses SAMPLE data. Right-click it → Edit Data to enter your real numbers.
- Pick metrics that fit your stage: revenue/MRR, active users, retention, paid pilots, LOIs, waitlist, notable customer logos.
- If traction is your strongest card, move this slide up to right after the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COMPETITION (Sequoia: 'List competitors; list your plan to win')
- Never say 'we have no competitors'. It signals naïveté or no market. Include the status quo (spreadsheets, doing nothing) and big incumbents.
- Pick 2×2 axes that genuinely matter to customers and honestly put you in the top-right. If the axes feel contrived, use a comparison table instead.
- The 'why we win' column matters more than the chart: what's defensible and gets stronger over time?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GO-TO-MARKET
- How do you find, win, and keep customers, and how does that scale?
- Be specific about the first channel that works; 'viral growth' or 'partnerships' with no evidence won't land.
- If you have data (CAC by channel, conversion rates, sales cycle length, pipeline), it belongs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(Sequoia: 'Founders, management, board of directors/advisors')
- At early stages, investors are betting on the team more than anything else.
- For each person, give the one credential that makes them uniquely suited to THIS problem (domain expertise, prior startup or exit, technical depth), not a full CV.
- Show how long the founders have worked together and that you're full-time.
- Delete or add cards to match your team; notable advisors and angels go in the bottom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FINANCIALS
- Keep it high level: 3–5 years of revenue, burn, and headcount. Detailed models go in the appendix or data room.
- Investors know projections are guesses; they're judging whether your assumptions are reasonable and whether you understand your business's drivers.
- Pre-revenue? Show the plan for the next 18–24 months and the milestones that unlock the next round instead.
- Rename the year columns (e.g., 2027, 2028…) and delete rows you don't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 / USE OF FUNDS
- State the amount, instrument (SAFE or priced round), and anything already committed or a lead investor.
- Tie the money to milestones: 'this round gets us to X, which sets us up for the next round'. Investors fund milestones, not runway.
- 18–24 months of runway is a typical target.
- The doughnut uses a placeholder 25/25/25/25 split. Right-click → Edit Data to change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VISION / CLOSE
- End on the big picture: if everything works, what does this company become in 10 years?
- Leave contact details on screen during Q&amp;A.
- Optionally restate the ask in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
Backup slides for diligence questions. Keep them out of the main flow, but have them ready. Typical contents: detailed model, cohort/retention curves, customer references and case studies, technical deep-dive, roadmap, cap table, and full TAM math.
Duplicate any content slide (right-click → Duplicate Slide) to build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_VAULT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CONTENT-image-2.jpe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STATEMENT_VAULT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VAUL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5943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5760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806440"/>
            <a:ext cx="5943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olographic s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777240"/>
            <a:ext cx="10424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5" name="Text 0"/>
          <p:cNvSpPr/>
          <p:nvPr/>
        </p:nvSpPr>
        <p:spPr>
          <a:xfrm>
            <a:off x="548640" y="62910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[Company name] · Confidential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29107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_VAUL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645920"/>
            <a:ext cx="804672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29107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ceholder"/>
          <p:cNvSpPr/>
          <p:nvPr/>
        </p:nvSpPr>
        <p:spPr>
          <a:xfrm>
            <a:off x="731520" y="685800"/>
            <a:ext cx="1463040" cy="731520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731520" y="6858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[Logo]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480560" y="868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chemeClr val="accent1"/>
                </a:solidFill>
              </a:rPr>
              <a:t>No. 000001</a:t>
            </a:r>
            <a:endParaRPr lang="en-US" sz="9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201168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[Company name]</a:t>
            </a:r>
            <a:endParaRPr lang="en-US" sz="5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34747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[One-liner: We help (who) do (what) by (how)]</a:t>
            </a:r>
            <a:endParaRPr lang="en-US" sz="2000" dirty="0"/>
          </a:p>
        </p:txBody>
      </p:sp>
      <p:sp>
        <p:nvSpPr>
          <p:cNvPr id="7" name="Raise plate"/>
          <p:cNvSpPr/>
          <p:nvPr/>
        </p:nvSpPr>
        <p:spPr>
          <a:xfrm>
            <a:off x="731520" y="4663440"/>
            <a:ext cx="548640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Raise plate rule"/>
          <p:cNvSpPr/>
          <p:nvPr/>
        </p:nvSpPr>
        <p:spPr>
          <a:xfrm>
            <a:off x="786384" y="4718304"/>
            <a:ext cx="5376672" cy="438912"/>
          </a:xfrm>
          <a:prstGeom prst="rect">
            <a:avLst/>
          </a:prstGeom>
          <a:noFill/>
          <a:ln w="6350">
            <a:solidFill>
              <a:schemeClr val="tx1">
                <a:alpha val="70000"/>
              </a:scheme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663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Raising $[X]M · [Pre-seed / Seed / Series A]</a:t>
            </a:r>
            <a:endParaRPr lang="en-US" sz="1400" dirty="0"/>
          </a:p>
        </p:txBody>
      </p:sp>
      <p:sp>
        <p:nvSpPr>
          <p:cNvPr id="10" name="Text 0"/>
          <p:cNvSpPr/>
          <p:nvPr>
            <p:ph idx="102" type="body" hasCustomPrompt="1"/>
          </p:nvPr>
        </p:nvSpPr>
        <p:spPr>
          <a:xfrm>
            <a:off x="731520" y="5806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[Founder name], [Title]  ·  [email@company.com]  ·  [Month YYYY]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No. 01  ·  THE PROBLEM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772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bg1"/>
                </a:solidFill>
              </a:rPr>
              <a:t>[Target customers] struggle to [do X], and it costs them [time / money]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" cy="54864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920240"/>
            <a:ext cx="457200" cy="457200"/>
          </a:xfrm>
          <a:prstGeom prst="ellipse">
            <a:avLst/>
          </a:prstGeom>
          <a:noFill/>
          <a:ln w="635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11096"/>
            <a:ext cx="5760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[Pain point 1]</a:t>
            </a:r>
            <a:endParaRPr lang="en-US" sz="1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[Who feels it, how often, and what it costs them]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3291840"/>
            <a:ext cx="457200" cy="457200"/>
          </a:xfrm>
          <a:prstGeom prst="ellipse">
            <a:avLst/>
          </a:prstGeom>
          <a:noFill/>
          <a:ln w="635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II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282696"/>
            <a:ext cx="5760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[Pain point 2]</a:t>
            </a:r>
            <a:endParaRPr lang="en-US" sz="1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[Make it concrete: a real customer story beats an abstract claim]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548640" cy="54864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4663440"/>
            <a:ext cx="457200" cy="457200"/>
          </a:xfrm>
          <a:prstGeom prst="ellipse">
            <a:avLst/>
          </a:prstGeom>
          <a:noFill/>
          <a:ln w="635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III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654296"/>
            <a:ext cx="5760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How it's handled today: [current workaround]</a:t>
            </a:r>
            <a:endParaRPr lang="en-US" sz="1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[Spreadsheets, manual work, legacy tools, and why they fall short]</a:t>
            </a:r>
            <a:endParaRPr lang="en-US" sz="1800" dirty="0"/>
          </a:p>
        </p:txBody>
      </p:sp>
      <p:sp>
        <p:nvSpPr>
          <p:cNvPr id="16" name="Stat certificate"/>
          <p:cNvSpPr/>
          <p:nvPr/>
        </p:nvSpPr>
        <p:spPr>
          <a:xfrm>
            <a:off x="7406640" y="1828800"/>
            <a:ext cx="4233672" cy="402336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" name="Stat certificate inner rule"/>
          <p:cNvSpPr/>
          <p:nvPr/>
        </p:nvSpPr>
        <p:spPr>
          <a:xfrm>
            <a:off x="7470648" y="1892808"/>
            <a:ext cx="4105656" cy="3895344"/>
          </a:xfrm>
          <a:prstGeom prst="rect">
            <a:avLst/>
          </a:prstGeom>
          <a:noFill/>
          <a:ln w="6350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8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3668" y="1929384"/>
            <a:ext cx="3822192" cy="382219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32688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chemeClr val="tx2"/>
                </a:solidFill>
              </a:rPr>
              <a:t>No. 000417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0" y="23317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[XX%]</a:t>
            </a:r>
            <a:endParaRPr lang="en-US" sz="6600" dirty="0"/>
          </a:p>
        </p:txBody>
      </p:sp>
      <p:sp>
        <p:nvSpPr>
          <p:cNvPr id="21" name="Shape 18"/>
          <p:cNvSpPr/>
          <p:nvPr/>
        </p:nvSpPr>
        <p:spPr>
          <a:xfrm>
            <a:off x="7772400" y="3566160"/>
            <a:ext cx="73152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0" y="37490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of [target customers] [experience this pain / lose $X per year to it]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0" y="5303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Source: [citation]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29107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No. 02  ·  THE SOLUTION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772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bg1"/>
                </a:solidFill>
              </a:rPr>
              <a:t>[Product] lets [customer] [achieve outcome] in [time] instead of [time]</a:t>
            </a:r>
            <a:endParaRPr lang="en-US" sz="2800" dirty="0"/>
          </a:p>
        </p:txBody>
      </p:sp>
      <p:sp>
        <p:nvSpPr>
          <p:cNvPr id="4" name="Today card"/>
          <p:cNvSpPr/>
          <p:nvPr/>
        </p:nvSpPr>
        <p:spPr>
          <a:xfrm>
            <a:off x="548640" y="1828800"/>
            <a:ext cx="4937760" cy="310896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" name="Today card inner rule"/>
          <p:cNvSpPr/>
          <p:nvPr/>
        </p:nvSpPr>
        <p:spPr>
          <a:xfrm>
            <a:off x="612648" y="1892808"/>
            <a:ext cx="4809744" cy="2980944"/>
          </a:xfrm>
          <a:prstGeom prst="rect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bg2"/>
                </a:solidFill>
              </a:rPr>
              <a:t>TODAY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6032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[Slow / manual step]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[Costly or error-prone step]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[The outcome customers settle for]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15000" y="3108960"/>
            <a:ext cx="731520" cy="54864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With product certificate"/>
          <p:cNvSpPr/>
          <p:nvPr/>
        </p:nvSpPr>
        <p:spPr>
          <a:xfrm>
            <a:off x="6675120" y="1828800"/>
            <a:ext cx="4965192" cy="310896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0" name="With product certificate inner rule"/>
          <p:cNvSpPr/>
          <p:nvPr/>
        </p:nvSpPr>
        <p:spPr>
          <a:xfrm>
            <a:off x="6739128" y="1892808"/>
            <a:ext cx="4837176" cy="2980944"/>
          </a:xfrm>
          <a:prstGeom prst="rect">
            <a:avLst/>
          </a:prstGeom>
          <a:noFill/>
          <a:ln w="6350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1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5178" y="1906524"/>
            <a:ext cx="2953512" cy="295351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995160" y="2103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WITH [PRODUCT]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995160" y="2560320"/>
            <a:ext cx="4343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[What becomes fast or automatic]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[Measurable gain: X× faster, $Y saved]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[A new outcome that wasn't possible before]</a:t>
            </a:r>
            <a:endParaRPr lang="en-US" sz="1600" dirty="0"/>
          </a:p>
        </p:txBody>
      </p:sp>
      <p:sp>
        <p:nvSpPr>
          <p:cNvPr id="14" name="Insight card"/>
          <p:cNvSpPr/>
          <p:nvPr/>
        </p:nvSpPr>
        <p:spPr>
          <a:xfrm>
            <a:off x="548640" y="5212080"/>
            <a:ext cx="11091672" cy="77724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5" name="Insight card inner rule"/>
          <p:cNvSpPr/>
          <p:nvPr/>
        </p:nvSpPr>
        <p:spPr>
          <a:xfrm>
            <a:off x="612648" y="5276088"/>
            <a:ext cx="10963656" cy="649224"/>
          </a:xfrm>
          <a:prstGeom prst="rect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" y="5212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Our insight: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[The non-obvious thing you understand about this problem that others miss]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29107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No. 03  ·  PRODUCT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772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bg1"/>
                </a:solidFill>
              </a:rPr>
              <a:t>[How it works: the product in one sentence]</a:t>
            </a:r>
            <a:endParaRPr lang="en-US" sz="2800" dirty="0"/>
          </a:p>
        </p:txBody>
      </p:sp>
      <p:sp>
        <p:nvSpPr>
          <p:cNvPr id="4" name="Screenshot placeholder"/>
          <p:cNvSpPr/>
          <p:nvPr/>
        </p:nvSpPr>
        <p:spPr>
          <a:xfrm>
            <a:off x="548640" y="1783080"/>
            <a:ext cx="6766560" cy="42976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1"/>
            </a:solidFill>
            <a:prstDash val="dash"/>
          </a:ln>
        </p:spPr>
      </p:sp>
      <p:sp>
        <p:nvSpPr>
          <p:cNvPr id="5" name="Screenshot placeholder inner rule"/>
          <p:cNvSpPr/>
          <p:nvPr/>
        </p:nvSpPr>
        <p:spPr>
          <a:xfrm>
            <a:off x="612648" y="1847088"/>
            <a:ext cx="6638544" cy="4169664"/>
          </a:xfrm>
          <a:prstGeom prst="rect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67665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[Product screenshot, mockup, or demo GIF]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80960" y="1828800"/>
            <a:ext cx="502920" cy="50292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26680" y="1874520"/>
            <a:ext cx="411480" cy="411480"/>
          </a:xfrm>
          <a:prstGeom prst="ellipse">
            <a:avLst/>
          </a:prstGeom>
          <a:noFill/>
          <a:ln w="635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80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1874520"/>
            <a:ext cx="32278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[Key feature 1]</a:t>
            </a:r>
            <a:endParaRPr lang="en-US" sz="1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[What it does and why the user cares]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80960" y="3291840"/>
            <a:ext cx="502920" cy="50292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26680" y="3337560"/>
            <a:ext cx="411480" cy="411480"/>
          </a:xfrm>
          <a:prstGeom prst="ellipse">
            <a:avLst/>
          </a:prstGeom>
          <a:noFill/>
          <a:ln w="635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II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3337560"/>
            <a:ext cx="32278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[Key feature 2]</a:t>
            </a:r>
            <a:endParaRPr lang="en-US" sz="1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[What it does and why the user cares]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80960" y="4754880"/>
            <a:ext cx="502920" cy="50292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4800600"/>
            <a:ext cx="411480" cy="411480"/>
          </a:xfrm>
          <a:prstGeom prst="ellipse">
            <a:avLst/>
          </a:prstGeom>
          <a:noFill/>
          <a:ln w="635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III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800600"/>
            <a:ext cx="32278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[Key feature 3]</a:t>
            </a:r>
            <a:endParaRPr lang="en-US" sz="1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[What it does and why the user cares]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29107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No. 04  ·  WHY NOW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772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bg1"/>
                </a:solidFill>
              </a:rPr>
              <a:t>Why now: [the shift that makes this possible today]</a:t>
            </a:r>
            <a:endParaRPr lang="en-US" sz="2800" dirty="0"/>
          </a:p>
        </p:txBody>
      </p:sp>
      <p:sp>
        <p:nvSpPr>
          <p:cNvPr id="4" name="Why now card 1"/>
          <p:cNvSpPr/>
          <p:nvPr/>
        </p:nvSpPr>
        <p:spPr>
          <a:xfrm>
            <a:off x="548640" y="1828800"/>
            <a:ext cx="3520440" cy="356616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" name="Why now card 1 inner rule"/>
          <p:cNvSpPr/>
          <p:nvPr/>
        </p:nvSpPr>
        <p:spPr>
          <a:xfrm>
            <a:off x="612648" y="1892808"/>
            <a:ext cx="3392424" cy="3438144"/>
          </a:xfrm>
          <a:prstGeom prst="rect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48840"/>
            <a:ext cx="640080" cy="64008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noFill/>
          <a:ln w="635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0175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TECHNOLOGY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383280"/>
            <a:ext cx="2880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[What changed in the tech]</a:t>
            </a:r>
            <a:endParaRPr lang="en-US" sz="2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[Why this makes your solution possible, or necessary, now and not 5 years ago]</a:t>
            </a:r>
            <a:endParaRPr lang="en-US" sz="2000" dirty="0"/>
          </a:p>
        </p:txBody>
      </p:sp>
      <p:sp>
        <p:nvSpPr>
          <p:cNvPr id="11" name="Why now card 2"/>
          <p:cNvSpPr/>
          <p:nvPr/>
        </p:nvSpPr>
        <p:spPr>
          <a:xfrm>
            <a:off x="4334256" y="1828800"/>
            <a:ext cx="3520440" cy="356616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2" name="Why now card 2 inner rule"/>
          <p:cNvSpPr/>
          <p:nvPr/>
        </p:nvSpPr>
        <p:spPr>
          <a:xfrm>
            <a:off x="4398264" y="1892808"/>
            <a:ext cx="3392424" cy="3438144"/>
          </a:xfrm>
          <a:prstGeom prst="rect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54296" y="2148840"/>
            <a:ext cx="640080" cy="64008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0016" y="2194560"/>
            <a:ext cx="548640" cy="548640"/>
          </a:xfrm>
          <a:prstGeom prst="ellipse">
            <a:avLst/>
          </a:prstGeom>
          <a:noFill/>
          <a:ln w="635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54296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II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654296" y="30175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MARKET / BEHAVIOR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654296" y="3383280"/>
            <a:ext cx="2880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[What changed in how people buy or work]</a:t>
            </a:r>
            <a:endParaRPr lang="en-US" sz="2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[Why this makes your solution possible, or necessary, now and not 5 years ago]</a:t>
            </a:r>
            <a:endParaRPr lang="en-US" sz="2000" dirty="0"/>
          </a:p>
        </p:txBody>
      </p:sp>
      <p:sp>
        <p:nvSpPr>
          <p:cNvPr id="18" name="Why now card 3"/>
          <p:cNvSpPr/>
          <p:nvPr/>
        </p:nvSpPr>
        <p:spPr>
          <a:xfrm>
            <a:off x="8119872" y="1828800"/>
            <a:ext cx="3520440" cy="356616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9" name="Why now card 3 inner rule"/>
          <p:cNvSpPr/>
          <p:nvPr/>
        </p:nvSpPr>
        <p:spPr>
          <a:xfrm>
            <a:off x="8183880" y="1892808"/>
            <a:ext cx="3392424" cy="3438144"/>
          </a:xfrm>
          <a:prstGeom prst="rect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39912" y="2148840"/>
            <a:ext cx="640080" cy="64008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85632" y="2194560"/>
            <a:ext cx="548640" cy="548640"/>
          </a:xfrm>
          <a:prstGeom prst="ellipse">
            <a:avLst/>
          </a:prstGeom>
          <a:noFill/>
          <a:ln w="635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39912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III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439912" y="30175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REGULATION / COST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439912" y="3383280"/>
            <a:ext cx="2880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[What changed in rules or costs]</a:t>
            </a:r>
            <a:endParaRPr lang="en-US" sz="2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[Why this makes your solution possible, or necessary, now and not 5 years ago]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29107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No. 05  ·  MARKET SIZE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772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bg1"/>
                </a:solidFill>
              </a:rPr>
              <a:t>A $[X]B market, and we can win $[Y]M of it in [N] years</a:t>
            </a:r>
            <a:endParaRPr lang="en-US" sz="2800" dirty="0"/>
          </a:p>
        </p:txBody>
      </p:sp>
      <p:pic>
        <p:nvPicPr>
          <p:cNvPr id="4" name="Image 0" descr="Guilloche rosette representing the total addressable mark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4114800" cy="4114800"/>
          </a:xfrm>
          <a:prstGeom prst="rect">
            <a:avLst/>
          </a:prstGeom>
        </p:spPr>
      </p:pic>
      <p:sp>
        <p:nvSpPr>
          <p:cNvPr id="5" name="SAM circle"/>
          <p:cNvSpPr/>
          <p:nvPr/>
        </p:nvSpPr>
        <p:spPr>
          <a:xfrm>
            <a:off x="1417320" y="2971800"/>
            <a:ext cx="2926080" cy="2926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OM circle"/>
          <p:cNvSpPr/>
          <p:nvPr/>
        </p:nvSpPr>
        <p:spPr>
          <a:xfrm>
            <a:off x="2011680" y="416052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OM inner rule"/>
          <p:cNvSpPr/>
          <p:nvPr/>
        </p:nvSpPr>
        <p:spPr>
          <a:xfrm>
            <a:off x="2066544" y="4215384"/>
            <a:ext cx="1627632" cy="1627632"/>
          </a:xfrm>
          <a:prstGeom prst="ellipse">
            <a:avLst/>
          </a:prstGeom>
          <a:noFill/>
          <a:ln w="6350">
            <a:solidFill>
              <a:schemeClr val="tx1">
                <a:alpha val="60000"/>
              </a:scheme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423160" y="2148840"/>
            <a:ext cx="914400" cy="347472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23160" y="21488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TAM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96596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chemeClr val="bg1"/>
                </a:solidFill>
              </a:rPr>
              <a:t>SAM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965960" y="4846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chemeClr val="tx1"/>
                </a:solidFill>
              </a:rPr>
              <a:t>SOM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577840" y="1783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$[X]B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1847088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Total addressable market (TAM)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726680" y="2212848"/>
            <a:ext cx="3913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[Everyone who could ever buy this × annual spend]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577840" y="2971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$[X]B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3035808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Serviceable market (SAM)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726680" y="3401568"/>
            <a:ext cx="3913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[The segment you can reach with today's product and channels]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577840" y="4160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$[X]M</a:t>
            </a:r>
            <a:endParaRPr lang="en-US" sz="3400" dirty="0"/>
          </a:p>
        </p:txBody>
      </p:sp>
      <p:sp>
        <p:nvSpPr>
          <p:cNvPr id="19" name="Text 16"/>
          <p:cNvSpPr txBox="1"/>
          <p:nvPr/>
        </p:nvSpPr>
        <p:spPr>
          <a:xfrm>
            <a:off x="7726680" y="4224528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Obtainable in [3–5] years (SOM)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726680" y="4590288"/>
            <a:ext cx="3913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[The realistic share you can win: the number to defend]</a:t>
            </a:r>
            <a:endParaRPr lang="en-US" sz="1400" dirty="0"/>
          </a:p>
        </p:txBody>
      </p:sp>
      <p:sp>
        <p:nvSpPr>
          <p:cNvPr id="21" name="Bottom-up math"/>
          <p:cNvSpPr/>
          <p:nvPr/>
        </p:nvSpPr>
        <p:spPr>
          <a:xfrm>
            <a:off x="5577840" y="5303520"/>
            <a:ext cx="6062472" cy="68580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Bottom-up math inner rule"/>
          <p:cNvSpPr/>
          <p:nvPr/>
        </p:nvSpPr>
        <p:spPr>
          <a:xfrm>
            <a:off x="5641848" y="5367528"/>
            <a:ext cx="5934456" cy="557784"/>
          </a:xfrm>
          <a:prstGeom prst="rect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806440" y="53035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Bottom-up: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[# target customers] × $[annual contract value] = $[SAM]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29107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No. 06  ·  BUSINESS MODEL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772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bg1"/>
                </a:solidFill>
              </a:rPr>
              <a:t>We charge [customer] [$X per unit]: [pricing model in one line]</a:t>
            </a:r>
            <a:endParaRPr lang="en-US" sz="2800" dirty="0"/>
          </a:p>
        </p:txBody>
      </p:sp>
      <p:sp>
        <p:nvSpPr>
          <p:cNvPr id="4" name="Pricing tier 1"/>
          <p:cNvSpPr/>
          <p:nvPr/>
        </p:nvSpPr>
        <p:spPr>
          <a:xfrm>
            <a:off x="548640" y="1783080"/>
            <a:ext cx="3520440" cy="196596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" name="Pricing tier 1 inner rule"/>
          <p:cNvSpPr/>
          <p:nvPr/>
        </p:nvSpPr>
        <p:spPr>
          <a:xfrm>
            <a:off x="612648" y="1847088"/>
            <a:ext cx="3392424" cy="1837944"/>
          </a:xfrm>
          <a:prstGeom prst="rect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[TIER 1]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2860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 / [user · month]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089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[Who it's for and what's included]</a:t>
            </a:r>
            <a:endParaRPr lang="en-US" sz="1400" dirty="0"/>
          </a:p>
        </p:txBody>
      </p:sp>
      <p:sp>
        <p:nvSpPr>
          <p:cNvPr id="9" name="Pricing tier 2"/>
          <p:cNvSpPr/>
          <p:nvPr/>
        </p:nvSpPr>
        <p:spPr>
          <a:xfrm>
            <a:off x="4334256" y="1783080"/>
            <a:ext cx="3520440" cy="196596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0" name="Pricing tier 2 inner rule"/>
          <p:cNvSpPr/>
          <p:nvPr/>
        </p:nvSpPr>
        <p:spPr>
          <a:xfrm>
            <a:off x="4398264" y="1847088"/>
            <a:ext cx="3392424" cy="1837944"/>
          </a:xfrm>
          <a:prstGeom prst="rect">
            <a:avLst/>
          </a:prstGeom>
          <a:noFill/>
          <a:ln w="6350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1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3950" y="1832229"/>
            <a:ext cx="1867662" cy="186766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654296" y="20116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[TIER 2]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654296" y="22860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/ [user · month]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4654296" y="31089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[Who it's for and what's included]</a:t>
            </a:r>
            <a:endParaRPr lang="en-US" sz="1400" dirty="0"/>
          </a:p>
        </p:txBody>
      </p:sp>
      <p:sp>
        <p:nvSpPr>
          <p:cNvPr id="15" name="Pricing tier 3"/>
          <p:cNvSpPr/>
          <p:nvPr/>
        </p:nvSpPr>
        <p:spPr>
          <a:xfrm>
            <a:off x="8119872" y="1783080"/>
            <a:ext cx="3520440" cy="196596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Pricing tier 3 inner rule"/>
          <p:cNvSpPr/>
          <p:nvPr/>
        </p:nvSpPr>
        <p:spPr>
          <a:xfrm>
            <a:off x="8183880" y="1847088"/>
            <a:ext cx="3392424" cy="1837944"/>
          </a:xfrm>
          <a:prstGeom prst="rect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39912" y="20116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[TIER 3]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439912" y="22860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 / [user · month]</a:t>
            </a:r>
            <a:endParaRPr lang="en-US" sz="3600" dirty="0"/>
          </a:p>
        </p:txBody>
      </p:sp>
      <p:sp>
        <p:nvSpPr>
          <p:cNvPr id="19" name="Text 16"/>
          <p:cNvSpPr txBox="1"/>
          <p:nvPr/>
        </p:nvSpPr>
        <p:spPr>
          <a:xfrm>
            <a:off x="8439912" y="31089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[Who it's for and what's included]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005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UNIT ECONOMICS</a:t>
            </a:r>
            <a:endParaRPr lang="en-US" sz="1200" dirty="0"/>
          </a:p>
        </p:txBody>
      </p:sp>
      <p:sp>
        <p:nvSpPr>
          <p:cNvPr id="21" name="Unit economics 1"/>
          <p:cNvSpPr/>
          <p:nvPr/>
        </p:nvSpPr>
        <p:spPr>
          <a:xfrm>
            <a:off x="548640" y="4343400"/>
            <a:ext cx="2574036" cy="150876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Unit economics 1 inner rule"/>
          <p:cNvSpPr/>
          <p:nvPr/>
        </p:nvSpPr>
        <p:spPr>
          <a:xfrm>
            <a:off x="612648" y="4407408"/>
            <a:ext cx="2446020" cy="1380744"/>
          </a:xfrm>
          <a:prstGeom prst="rect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522476" y="44622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chemeClr val="accent1"/>
                </a:solidFill>
              </a:rPr>
              <a:t>No. 000001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4572000"/>
            <a:ext cx="2025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endParaRPr lang="en-US" sz="3000" dirty="0"/>
          </a:p>
        </p:txBody>
      </p:sp>
      <p:sp>
        <p:nvSpPr>
          <p:cNvPr id="25" name="Shape 22"/>
          <p:cNvSpPr/>
          <p:nvPr/>
        </p:nvSpPr>
        <p:spPr>
          <a:xfrm>
            <a:off x="822960" y="5193792"/>
            <a:ext cx="4114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2960" y="5321808"/>
            <a:ext cx="2025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Avg. contract value (ACV)</a:t>
            </a:r>
            <a:endParaRPr lang="en-US" sz="1300" dirty="0"/>
          </a:p>
        </p:txBody>
      </p:sp>
      <p:sp>
        <p:nvSpPr>
          <p:cNvPr id="27" name="Unit economics 2"/>
          <p:cNvSpPr/>
          <p:nvPr/>
        </p:nvSpPr>
        <p:spPr>
          <a:xfrm>
            <a:off x="3387852" y="4343400"/>
            <a:ext cx="2574036" cy="150876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8" name="Unit economics 2 inner rule"/>
          <p:cNvSpPr/>
          <p:nvPr/>
        </p:nvSpPr>
        <p:spPr>
          <a:xfrm>
            <a:off x="3451860" y="4407408"/>
            <a:ext cx="2446020" cy="1380744"/>
          </a:xfrm>
          <a:prstGeom prst="rect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361688" y="44622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chemeClr val="accent1"/>
                </a:solidFill>
              </a:rPr>
              <a:t>No. 000002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3662172" y="4572000"/>
            <a:ext cx="2025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[X]%</a:t>
            </a:r>
            <a:endParaRPr lang="en-US" sz="3000" dirty="0"/>
          </a:p>
        </p:txBody>
      </p:sp>
      <p:sp>
        <p:nvSpPr>
          <p:cNvPr id="31" name="Shape 28"/>
          <p:cNvSpPr/>
          <p:nvPr/>
        </p:nvSpPr>
        <p:spPr>
          <a:xfrm>
            <a:off x="3662172" y="5193792"/>
            <a:ext cx="4114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662172" y="5321808"/>
            <a:ext cx="2025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Gross margin</a:t>
            </a:r>
            <a:endParaRPr lang="en-US" sz="1300" dirty="0"/>
          </a:p>
        </p:txBody>
      </p:sp>
      <p:sp>
        <p:nvSpPr>
          <p:cNvPr id="33" name="Unit economics 3"/>
          <p:cNvSpPr/>
          <p:nvPr/>
        </p:nvSpPr>
        <p:spPr>
          <a:xfrm>
            <a:off x="6227064" y="4343400"/>
            <a:ext cx="2574036" cy="150876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4" name="Unit economics 3 inner rule"/>
          <p:cNvSpPr/>
          <p:nvPr/>
        </p:nvSpPr>
        <p:spPr>
          <a:xfrm>
            <a:off x="6291072" y="4407408"/>
            <a:ext cx="2446020" cy="1380744"/>
          </a:xfrm>
          <a:prstGeom prst="rect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200900" y="44622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chemeClr val="accent1"/>
                </a:solidFill>
              </a:rPr>
              <a:t>No. 000003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6501384" y="4572000"/>
            <a:ext cx="2025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[N] mo</a:t>
            </a:r>
            <a:endParaRPr lang="en-US" sz="3000" dirty="0"/>
          </a:p>
        </p:txBody>
      </p:sp>
      <p:sp>
        <p:nvSpPr>
          <p:cNvPr id="37" name="Shape 34"/>
          <p:cNvSpPr/>
          <p:nvPr/>
        </p:nvSpPr>
        <p:spPr>
          <a:xfrm>
            <a:off x="6501384" y="5193792"/>
            <a:ext cx="4114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501384" y="5321808"/>
            <a:ext cx="2025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CAC payback period</a:t>
            </a:r>
            <a:endParaRPr lang="en-US" sz="1300" dirty="0"/>
          </a:p>
        </p:txBody>
      </p:sp>
      <p:sp>
        <p:nvSpPr>
          <p:cNvPr id="39" name="Unit economics 4"/>
          <p:cNvSpPr/>
          <p:nvPr/>
        </p:nvSpPr>
        <p:spPr>
          <a:xfrm>
            <a:off x="9066276" y="4343400"/>
            <a:ext cx="2574036" cy="150876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0" name="Unit economics 4 inner rule"/>
          <p:cNvSpPr/>
          <p:nvPr/>
        </p:nvSpPr>
        <p:spPr>
          <a:xfrm>
            <a:off x="9130284" y="4407408"/>
            <a:ext cx="2446020" cy="1380744"/>
          </a:xfrm>
          <a:prstGeom prst="rect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0040112" y="44622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chemeClr val="accent1"/>
                </a:solidFill>
              </a:rPr>
              <a:t>No. 000004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9340596" y="4572000"/>
            <a:ext cx="2025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[X]:1</a:t>
            </a:r>
            <a:endParaRPr lang="en-US" sz="3000" dirty="0"/>
          </a:p>
        </p:txBody>
      </p:sp>
      <p:sp>
        <p:nvSpPr>
          <p:cNvPr id="43" name="Shape 40"/>
          <p:cNvSpPr/>
          <p:nvPr/>
        </p:nvSpPr>
        <p:spPr>
          <a:xfrm>
            <a:off x="9340596" y="5193792"/>
            <a:ext cx="4114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340596" y="5321808"/>
            <a:ext cx="2025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LTV : CAC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29107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No. 07  ·  TRACTION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772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bg1"/>
                </a:solidFill>
              </a:rPr>
              <a:t>[Key metric] grew [X]× in [N] months</a:t>
            </a:r>
            <a:endParaRPr lang="en-US" sz="2800" dirty="0"/>
          </a:p>
        </p:txBody>
      </p:sp>
      <p:sp>
        <p:nvSpPr>
          <p:cNvPr id="4" name="Chart frame"/>
          <p:cNvSpPr/>
          <p:nvPr/>
        </p:nvSpPr>
        <p:spPr>
          <a:xfrm>
            <a:off x="548640" y="1783080"/>
            <a:ext cx="7040880" cy="425196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" name="Chart frame inner rule"/>
          <p:cNvSpPr/>
          <p:nvPr/>
        </p:nvSpPr>
        <p:spPr>
          <a:xfrm>
            <a:off x="612648" y="1847088"/>
            <a:ext cx="6912864" cy="4123944"/>
          </a:xfrm>
          <a:prstGeom prst="rect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777240" y="1920240"/>
          <a:ext cx="65836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raction stat 1"/>
          <p:cNvSpPr/>
          <p:nvPr/>
        </p:nvSpPr>
        <p:spPr>
          <a:xfrm>
            <a:off x="7863840" y="1783080"/>
            <a:ext cx="3776472" cy="1325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Traction stat 1 inner rule"/>
          <p:cNvSpPr/>
          <p:nvPr/>
        </p:nvSpPr>
        <p:spPr>
          <a:xfrm>
            <a:off x="7927848" y="1847088"/>
            <a:ext cx="3648456" cy="1197864"/>
          </a:xfrm>
          <a:prstGeom prst="rect">
            <a:avLst/>
          </a:prstGeom>
          <a:noFill/>
          <a:ln w="6350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9" name="Image 0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5623" y="1816227"/>
            <a:ext cx="1259586" cy="125958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966960" y="1920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chemeClr val="tx2"/>
                </a:solidFill>
              </a:rPr>
              <a:t>No. 000101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8183880" y="194767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endParaRPr lang="en-US" sz="3400" dirty="0"/>
          </a:p>
        </p:txBody>
      </p:sp>
      <p:sp>
        <p:nvSpPr>
          <p:cNvPr id="12" name="Text 8"/>
          <p:cNvSpPr txBox="1"/>
          <p:nvPr/>
        </p:nvSpPr>
        <p:spPr>
          <a:xfrm>
            <a:off x="818388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Monthly recurring revenue</a:t>
            </a:r>
            <a:endParaRPr lang="en-US" sz="1400" dirty="0"/>
          </a:p>
        </p:txBody>
      </p:sp>
      <p:sp>
        <p:nvSpPr>
          <p:cNvPr id="13" name="Traction stat 2"/>
          <p:cNvSpPr/>
          <p:nvPr/>
        </p:nvSpPr>
        <p:spPr>
          <a:xfrm>
            <a:off x="7863840" y="3246120"/>
            <a:ext cx="3776472" cy="13258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4" name="Traction stat 2 inner rule"/>
          <p:cNvSpPr/>
          <p:nvPr/>
        </p:nvSpPr>
        <p:spPr>
          <a:xfrm>
            <a:off x="7927848" y="3310128"/>
            <a:ext cx="3648456" cy="1197864"/>
          </a:xfrm>
          <a:prstGeom prst="rect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966960" y="33832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chemeClr val="accent1"/>
                </a:solidFill>
              </a:rPr>
              <a:t>No. 000102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8183880" y="341071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[X]%</a:t>
            </a:r>
            <a:endParaRPr lang="en-US" sz="3400" dirty="0"/>
          </a:p>
        </p:txBody>
      </p:sp>
      <p:sp>
        <p:nvSpPr>
          <p:cNvPr id="17" name="Text 13"/>
          <p:cNvSpPr txBox="1"/>
          <p:nvPr/>
        </p:nvSpPr>
        <p:spPr>
          <a:xfrm>
            <a:off x="8183880" y="4069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Month-over-month growth</a:t>
            </a:r>
            <a:endParaRPr lang="en-US" sz="1400" dirty="0"/>
          </a:p>
        </p:txBody>
      </p:sp>
      <p:sp>
        <p:nvSpPr>
          <p:cNvPr id="18" name="Traction stat 3"/>
          <p:cNvSpPr/>
          <p:nvPr/>
        </p:nvSpPr>
        <p:spPr>
          <a:xfrm>
            <a:off x="7863840" y="4709160"/>
            <a:ext cx="3776472" cy="13258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9" name="Traction stat 3 inner rule"/>
          <p:cNvSpPr/>
          <p:nvPr/>
        </p:nvSpPr>
        <p:spPr>
          <a:xfrm>
            <a:off x="7927848" y="4773168"/>
            <a:ext cx="3648456" cy="1197864"/>
          </a:xfrm>
          <a:prstGeom prst="rect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966960" y="48463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chemeClr val="accent1"/>
                </a:solidFill>
              </a:rPr>
              <a:t>No. 000103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8183880" y="48737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[X]%</a:t>
            </a:r>
            <a:endParaRPr lang="en-US" sz="3400" dirty="0"/>
          </a:p>
        </p:txBody>
      </p:sp>
      <p:sp>
        <p:nvSpPr>
          <p:cNvPr id="22" name="Text 18"/>
          <p:cNvSpPr txBox="1"/>
          <p:nvPr/>
        </p:nvSpPr>
        <p:spPr>
          <a:xfrm>
            <a:off x="8183880" y="5532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Net revenue retention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29107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No. 08  ·  COMPETITION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772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bg1"/>
                </a:solidFill>
              </a:rPr>
              <a:t>[Company] is the only [category] that [key differentiator]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↑  [Y axis: e.g., Depth / power]</a:t>
            </a:r>
            <a:endParaRPr lang="en-US" sz="1200" dirty="0"/>
          </a:p>
        </p:txBody>
      </p:sp>
      <p:sp>
        <p:nvSpPr>
          <p:cNvPr id="5" name="Matrix background"/>
          <p:cNvSpPr/>
          <p:nvPr/>
        </p:nvSpPr>
        <p:spPr>
          <a:xfrm>
            <a:off x="914400" y="2103120"/>
            <a:ext cx="5486400" cy="356616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" name="Matrix background inner rule"/>
          <p:cNvSpPr/>
          <p:nvPr/>
        </p:nvSpPr>
        <p:spPr>
          <a:xfrm>
            <a:off x="978408" y="2167128"/>
            <a:ext cx="5358384" cy="3438144"/>
          </a:xfrm>
          <a:prstGeom prst="rect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2167128"/>
            <a:ext cx="0" cy="3438144"/>
          </a:xfrm>
          <a:prstGeom prst="line">
            <a:avLst/>
          </a:prstGeom>
          <a:noFill/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3886200"/>
            <a:ext cx="5358384" cy="0"/>
          </a:xfrm>
          <a:prstGeom prst="line">
            <a:avLst/>
          </a:prstGeom>
          <a:noFill/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5760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[X axis: e.g., Ease of use]  →</a:t>
            </a:r>
            <a:endParaRPr lang="en-US" sz="1200" dirty="0"/>
          </a:p>
        </p:txBody>
      </p:sp>
      <p:pic>
        <p:nvPicPr>
          <p:cNvPr id="10" name="Image 0" descr="Your compan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228600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3749040" y="23500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[Your company]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280160" y="2651760"/>
            <a:ext cx="320040" cy="3200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737360" y="2651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[Competitor A]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114800" y="4389120"/>
            <a:ext cx="320040" cy="3200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572000" y="4389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[Competitor B]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280160" y="4846320"/>
            <a:ext cx="320040" cy="3200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737360" y="4846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[Competitor C]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94944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WHY WE WIN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949440" y="2560320"/>
            <a:ext cx="457200" cy="4572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995160" y="2606040"/>
            <a:ext cx="365760" cy="365760"/>
          </a:xfrm>
          <a:prstGeom prst="ellipse">
            <a:avLst/>
          </a:prstGeom>
          <a:noFill/>
          <a:ln w="635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494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635240" y="2596896"/>
            <a:ext cx="4005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[Unfair advantage 1]</a:t>
            </a:r>
            <a:endParaRPr lang="en-US" sz="16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[e.g., proprietary data, network effects, distribution, deep tech]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949440" y="3657600"/>
            <a:ext cx="457200" cy="4572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995160" y="3703320"/>
            <a:ext cx="365760" cy="365760"/>
          </a:xfrm>
          <a:prstGeom prst="ellipse">
            <a:avLst/>
          </a:prstGeom>
          <a:noFill/>
          <a:ln w="635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9494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II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635240" y="3694176"/>
            <a:ext cx="4005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[Unfair advantage 2]</a:t>
            </a:r>
            <a:endParaRPr lang="en-US" sz="16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[e.g., proprietary data, network effects, distribution, deep tech]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949440" y="4754880"/>
            <a:ext cx="457200" cy="4572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995160" y="4800600"/>
            <a:ext cx="365760" cy="365760"/>
          </a:xfrm>
          <a:prstGeom prst="ellipse">
            <a:avLst/>
          </a:prstGeom>
          <a:noFill/>
          <a:ln w="635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9494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III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7635240" y="4791456"/>
            <a:ext cx="4005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[Unfair advantage 3]</a:t>
            </a:r>
            <a:endParaRPr lang="en-US" sz="16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[e.g., proprietary data, network effects, distribution, deep tech]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29107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No. 09  ·  GO-TO-MARKET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772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bg1"/>
                </a:solidFill>
              </a:rPr>
              <a:t>How we reach customers: [primary channel]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85800" cy="6858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874520"/>
            <a:ext cx="594360" cy="594360"/>
          </a:xfrm>
          <a:prstGeom prst="ellipse">
            <a:avLst/>
          </a:prstGeom>
          <a:noFill/>
          <a:ln w="635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371600" y="2171700"/>
            <a:ext cx="282549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ysDot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548640" y="27249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STEP 1 · LAND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035808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[e.g., Founder-led sales to 10 design partners]</a:t>
            </a:r>
            <a:endParaRPr lang="en-US" sz="1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[Timing, target, and what success looks like]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34256" y="1828800"/>
            <a:ext cx="685800" cy="6858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9976" y="1874520"/>
            <a:ext cx="594360" cy="594360"/>
          </a:xfrm>
          <a:prstGeom prst="ellipse">
            <a:avLst/>
          </a:prstGeom>
          <a:noFill/>
          <a:ln w="635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34256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II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157216" y="2171700"/>
            <a:ext cx="282549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ysDot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4334256" y="27249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STEP 2 · EXPAND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334256" y="3035808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[e.g., Referrals and upsell within accounts]</a:t>
            </a:r>
            <a:endParaRPr lang="en-US" sz="1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[Timing, target, and what success looks like]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19872" y="1828800"/>
            <a:ext cx="685800" cy="6858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65592" y="1874520"/>
            <a:ext cx="594360" cy="594360"/>
          </a:xfrm>
          <a:prstGeom prst="ellipse">
            <a:avLst/>
          </a:prstGeom>
          <a:noFill/>
          <a:ln w="635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19872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III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119872" y="27249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STEP 3 · SCALE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119872" y="3035808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[e.g., Inside sales team + partner channel]</a:t>
            </a:r>
            <a:endParaRPr lang="en-US" sz="1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[Timing, target, and what success looks like]</a:t>
            </a:r>
            <a:endParaRPr lang="en-US" sz="1800" dirty="0"/>
          </a:p>
        </p:txBody>
      </p:sp>
      <p:sp>
        <p:nvSpPr>
          <p:cNvPr id="21" name="GTM card 1"/>
          <p:cNvSpPr/>
          <p:nvPr/>
        </p:nvSpPr>
        <p:spPr>
          <a:xfrm>
            <a:off x="548640" y="4663440"/>
            <a:ext cx="3520440" cy="13258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GTM card 1 inner rule"/>
          <p:cNvSpPr/>
          <p:nvPr/>
        </p:nvSpPr>
        <p:spPr>
          <a:xfrm>
            <a:off x="612648" y="4727448"/>
            <a:ext cx="3392424" cy="1197864"/>
          </a:xfrm>
          <a:prstGeom prst="rect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4846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Ideal customer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23036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[Industry, company size, buyer title]</a:t>
            </a:r>
            <a:endParaRPr lang="en-US" sz="1400" dirty="0"/>
          </a:p>
        </p:txBody>
      </p:sp>
      <p:sp>
        <p:nvSpPr>
          <p:cNvPr id="25" name="GTM card 2"/>
          <p:cNvSpPr/>
          <p:nvPr/>
        </p:nvSpPr>
        <p:spPr>
          <a:xfrm>
            <a:off x="4334256" y="4663440"/>
            <a:ext cx="3520440" cy="13258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GTM card 2 inner rule"/>
          <p:cNvSpPr/>
          <p:nvPr/>
        </p:nvSpPr>
        <p:spPr>
          <a:xfrm>
            <a:off x="4398264" y="4727448"/>
            <a:ext cx="3392424" cy="1197864"/>
          </a:xfrm>
          <a:prstGeom prst="rect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08576" y="4846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Sales motion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608576" y="523036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[Self-serve · Product-led · Sales-led]</a:t>
            </a:r>
            <a:endParaRPr lang="en-US" sz="1400" dirty="0"/>
          </a:p>
        </p:txBody>
      </p:sp>
      <p:sp>
        <p:nvSpPr>
          <p:cNvPr id="29" name="GTM card 3"/>
          <p:cNvSpPr/>
          <p:nvPr/>
        </p:nvSpPr>
        <p:spPr>
          <a:xfrm>
            <a:off x="8119872" y="4663440"/>
            <a:ext cx="3520440" cy="13258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0" name="GTM card 3 inner rule"/>
          <p:cNvSpPr/>
          <p:nvPr/>
        </p:nvSpPr>
        <p:spPr>
          <a:xfrm>
            <a:off x="8183880" y="4727448"/>
            <a:ext cx="3392424" cy="1197864"/>
          </a:xfrm>
          <a:prstGeom prst="rect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94192" y="4846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Proof it works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394192" y="523036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[CAC by channel, conversion rate, pipeline]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29107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No. 10  ·  TEAM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772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bg1"/>
                </a:solidFill>
              </a:rPr>
              <a:t>Why us: [the unfair advantage this team brings]</a:t>
            </a:r>
            <a:endParaRPr lang="en-US" sz="2800" dirty="0"/>
          </a:p>
        </p:txBody>
      </p:sp>
      <p:sp>
        <p:nvSpPr>
          <p:cNvPr id="4" name="Team card 1"/>
          <p:cNvSpPr/>
          <p:nvPr/>
        </p:nvSpPr>
        <p:spPr>
          <a:xfrm>
            <a:off x="548640" y="1783080"/>
            <a:ext cx="2574036" cy="36118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" name="Team card 1 inner rule"/>
          <p:cNvSpPr/>
          <p:nvPr/>
        </p:nvSpPr>
        <p:spPr>
          <a:xfrm>
            <a:off x="612648" y="1847088"/>
            <a:ext cx="2446020" cy="3483864"/>
          </a:xfrm>
          <a:prstGeom prst="rect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pic>
        <p:nvPicPr>
          <p:cNvPr id="6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1600200" cy="1600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05840" y="2148840"/>
            <a:ext cx="1143000" cy="11430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05840" y="21488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[Photo]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57600"/>
            <a:ext cx="2025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[Name]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041648"/>
            <a:ext cx="20253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[Role]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407408"/>
            <a:ext cx="20253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12" name="Team card 2"/>
          <p:cNvSpPr/>
          <p:nvPr/>
        </p:nvSpPr>
        <p:spPr>
          <a:xfrm>
            <a:off x="3387852" y="1783080"/>
            <a:ext cx="2574036" cy="36118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Team card 2 inner rule"/>
          <p:cNvSpPr/>
          <p:nvPr/>
        </p:nvSpPr>
        <p:spPr>
          <a:xfrm>
            <a:off x="3451860" y="1847088"/>
            <a:ext cx="2446020" cy="3483864"/>
          </a:xfrm>
          <a:prstGeom prst="rect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pic>
        <p:nvPicPr>
          <p:cNvPr id="14" name="Image 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452" y="1920240"/>
            <a:ext cx="1600200" cy="16002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845052" y="2148840"/>
            <a:ext cx="1143000" cy="11430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845052" y="21488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[Photo]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3662172" y="3657600"/>
            <a:ext cx="2025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[Name]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3662172" y="4041648"/>
            <a:ext cx="20253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[Role]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3662172" y="4407408"/>
            <a:ext cx="20253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20" name="Team card 3"/>
          <p:cNvSpPr/>
          <p:nvPr/>
        </p:nvSpPr>
        <p:spPr>
          <a:xfrm>
            <a:off x="6227064" y="1783080"/>
            <a:ext cx="2574036" cy="36118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1" name="Team card 3 inner rule"/>
          <p:cNvSpPr/>
          <p:nvPr/>
        </p:nvSpPr>
        <p:spPr>
          <a:xfrm>
            <a:off x="6291072" y="1847088"/>
            <a:ext cx="2446020" cy="3483864"/>
          </a:xfrm>
          <a:prstGeom prst="rect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pic>
        <p:nvPicPr>
          <p:cNvPr id="22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920240"/>
            <a:ext cx="1600200" cy="16002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684264" y="2148840"/>
            <a:ext cx="1143000" cy="11430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684264" y="21488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[Photo]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6501384" y="3657600"/>
            <a:ext cx="2025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[Name]</a:t>
            </a:r>
            <a:endParaRPr lang="en-US" sz="2000" dirty="0"/>
          </a:p>
        </p:txBody>
      </p:sp>
      <p:sp>
        <p:nvSpPr>
          <p:cNvPr id="26" name="Text 21"/>
          <p:cNvSpPr txBox="1"/>
          <p:nvPr/>
        </p:nvSpPr>
        <p:spPr>
          <a:xfrm>
            <a:off x="6501384" y="4041648"/>
            <a:ext cx="20253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[Role]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6501384" y="4407408"/>
            <a:ext cx="20253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28" name="Team card 4"/>
          <p:cNvSpPr/>
          <p:nvPr/>
        </p:nvSpPr>
        <p:spPr>
          <a:xfrm>
            <a:off x="9066276" y="1783080"/>
            <a:ext cx="2574036" cy="36118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9" name="Team card 4 inner rule"/>
          <p:cNvSpPr/>
          <p:nvPr/>
        </p:nvSpPr>
        <p:spPr>
          <a:xfrm>
            <a:off x="9130284" y="1847088"/>
            <a:ext cx="2446020" cy="3483864"/>
          </a:xfrm>
          <a:prstGeom prst="rect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pic>
        <p:nvPicPr>
          <p:cNvPr id="30" name="Image 3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4876" y="1920240"/>
            <a:ext cx="1600200" cy="160020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9523476" y="2148840"/>
            <a:ext cx="1143000" cy="11430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9523476" y="21488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[Photo]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9340596" y="3657600"/>
            <a:ext cx="2025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[Name]</a:t>
            </a:r>
            <a:endParaRPr lang="en-US" sz="2000" dirty="0"/>
          </a:p>
        </p:txBody>
      </p:sp>
      <p:sp>
        <p:nvSpPr>
          <p:cNvPr id="34" name="Text 28"/>
          <p:cNvSpPr txBox="1"/>
          <p:nvPr/>
        </p:nvSpPr>
        <p:spPr>
          <a:xfrm>
            <a:off x="9340596" y="4041648"/>
            <a:ext cx="20253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[Role]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9340596" y="4407408"/>
            <a:ext cx="20253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548640" y="55778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Advisors &amp; investors: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[Name (credential)]  ·  [Name (credential)]  ·  [Name (credential)]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29107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No. 11  ·  FINANCIALS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772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bg1"/>
                </a:solidFill>
              </a:rPr>
              <a:t>Path to $[X]M revenue by [year]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[Year 1]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[Year 2]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[Year 3]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[Year 4]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[Year 5]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Revenue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Gross margin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Operating expenses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Net burn / EBITDA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Ending cash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Headcount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5" name="Assumptions card"/>
          <p:cNvSpPr/>
          <p:nvPr/>
        </p:nvSpPr>
        <p:spPr>
          <a:xfrm>
            <a:off x="548640" y="4754880"/>
            <a:ext cx="11091672" cy="128016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" name="Assumptions card inner rule"/>
          <p:cNvSpPr/>
          <p:nvPr/>
        </p:nvSpPr>
        <p:spPr>
          <a:xfrm>
            <a:off x="612648" y="4818888"/>
            <a:ext cx="10963656" cy="1152144"/>
          </a:xfrm>
          <a:prstGeom prst="rect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919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KEY ASSUMPTIONS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230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[Growth rate and what drives it]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[Pricing, churn, and sales capacity assumptions]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[When you reach breakeven, or what the next round funds]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29107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No. 12  ·  THE ASK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772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bg1"/>
                </a:solidFill>
              </a:rPr>
              <a:t>We're raising $[X]M to reach [milestone] in [N] months</a:t>
            </a:r>
            <a:endParaRPr lang="en-US" sz="2800" dirty="0"/>
          </a:p>
        </p:txBody>
      </p:sp>
      <p:sp>
        <p:nvSpPr>
          <p:cNvPr id="4" name="Raise certificate"/>
          <p:cNvSpPr/>
          <p:nvPr/>
        </p:nvSpPr>
        <p:spPr>
          <a:xfrm>
            <a:off x="548640" y="1783080"/>
            <a:ext cx="4206240" cy="420624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Raise certificate inner rule"/>
          <p:cNvSpPr/>
          <p:nvPr/>
        </p:nvSpPr>
        <p:spPr>
          <a:xfrm>
            <a:off x="612648" y="1847088"/>
            <a:ext cx="4078224" cy="4078224"/>
          </a:xfrm>
          <a:prstGeom prst="rect">
            <a:avLst/>
          </a:prstGeom>
          <a:noFill/>
          <a:ln w="6350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6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7934" y="1888236"/>
            <a:ext cx="3995928" cy="39959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468880" y="20116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chemeClr val="tx2"/>
                </a:solidFill>
              </a:rPr>
              <a:t>No. 000001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RAISING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5146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$[X]M</a:t>
            </a:r>
            <a:endParaRPr lang="en-US" sz="6600" dirty="0"/>
          </a:p>
        </p:txBody>
      </p:sp>
      <p:sp>
        <p:nvSpPr>
          <p:cNvPr id="10" name="Shape 7"/>
          <p:cNvSpPr/>
          <p:nvPr/>
        </p:nvSpPr>
        <p:spPr>
          <a:xfrm>
            <a:off x="914400" y="3749040"/>
            <a:ext cx="73152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39319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[SAFE / priced round]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[Pre-seed / Seed / Series A]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[$X committed · Lead: (name)]</a:t>
            </a:r>
            <a:endParaRPr lang="en-US" sz="16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120640" y="1737360"/>
          <a:ext cx="6519672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Milestone 1"/>
          <p:cNvSpPr/>
          <p:nvPr/>
        </p:nvSpPr>
        <p:spPr>
          <a:xfrm>
            <a:off x="5120640" y="4526280"/>
            <a:ext cx="2020824" cy="146304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4" name="Milestone 1 inner rule"/>
          <p:cNvSpPr/>
          <p:nvPr/>
        </p:nvSpPr>
        <p:spPr>
          <a:xfrm>
            <a:off x="5184648" y="4590288"/>
            <a:ext cx="1892808" cy="1335024"/>
          </a:xfrm>
          <a:prstGeom prst="rect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321808" y="4663440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MILESTONE 1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5321808" y="4956048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[e.g., $1M ARR]</a:t>
            </a:r>
            <a:endParaRPr lang="en-US" sz="15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[by month N]</a:t>
            </a:r>
            <a:endParaRPr lang="en-US" sz="1500" dirty="0"/>
          </a:p>
        </p:txBody>
      </p:sp>
      <p:sp>
        <p:nvSpPr>
          <p:cNvPr id="17" name="Milestone 2"/>
          <p:cNvSpPr/>
          <p:nvPr/>
        </p:nvSpPr>
        <p:spPr>
          <a:xfrm>
            <a:off x="7370064" y="4526280"/>
            <a:ext cx="2020824" cy="146304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8" name="Milestone 2 inner rule"/>
          <p:cNvSpPr/>
          <p:nvPr/>
        </p:nvSpPr>
        <p:spPr>
          <a:xfrm>
            <a:off x="7434072" y="4590288"/>
            <a:ext cx="1892808" cy="1335024"/>
          </a:xfrm>
          <a:prstGeom prst="rect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571232" y="4663440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MILESTONE 2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7571232" y="4956048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[e.g., 50 logos]</a:t>
            </a:r>
            <a:endParaRPr lang="en-US" sz="15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[by month N]</a:t>
            </a:r>
            <a:endParaRPr lang="en-US" sz="1500" dirty="0"/>
          </a:p>
        </p:txBody>
      </p:sp>
      <p:sp>
        <p:nvSpPr>
          <p:cNvPr id="21" name="Milestone 3"/>
          <p:cNvSpPr/>
          <p:nvPr/>
        </p:nvSpPr>
        <p:spPr>
          <a:xfrm>
            <a:off x="9619488" y="4526280"/>
            <a:ext cx="2020824" cy="146304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Milestone 3 inner rule"/>
          <p:cNvSpPr/>
          <p:nvPr/>
        </p:nvSpPr>
        <p:spPr>
          <a:xfrm>
            <a:off x="9683496" y="4590288"/>
            <a:ext cx="1892808" cy="1335024"/>
          </a:xfrm>
          <a:prstGeom prst="rect">
            <a:avLst/>
          </a:prstGeom>
          <a:noFill/>
          <a:ln w="6350">
            <a:solidFill>
              <a:schemeClr val="accent5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820656" y="4663440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RUNWAY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9820656" y="4956048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[N] months</a:t>
            </a:r>
            <a:endParaRPr lang="en-US" sz="15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[to Series X metrics]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29107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645920"/>
            <a:ext cx="8046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[Your vision in one bold sentence: what the world looks like if you win]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[Founder name]  ·  [email@company.com]  ·  [phone]  ·  [company.com]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645920"/>
            <a:ext cx="8046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Appendix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[Detailed financials  ·  Cohort and retention data  ·  Customer case studies  ·  Technical architecture  ·  Product roadmap  ·  Cap table]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ult Engraving">
  <a:themeElements>
    <a:clrScheme name="Vault Engraving">
      <a:dk1>
        <a:srgbClr val="0E2A22"/>
      </a:dk1>
      <a:lt1>
        <a:srgbClr val="F3EBD8"/>
      </a:lt1>
      <a:dk2>
        <a:srgbClr val="1B3D33"/>
      </a:dk2>
      <a:lt2>
        <a:srgbClr val="B9C2B0"/>
      </a:lt2>
      <a:accent1>
        <a:srgbClr val="C9A24B"/>
      </a:accent1>
      <a:accent2>
        <a:srgbClr val="7FD6C2"/>
      </a:accent2>
      <a:accent3>
        <a:srgbClr val="E9A6C9"/>
      </a:accent3>
      <a:accent4>
        <a:srgbClr val="8FA597"/>
      </a:accent4>
      <a:accent5>
        <a:srgbClr val="2E5A4B"/>
      </a:accent5>
      <a:accent6>
        <a:srgbClr val="E2C77A"/>
      </a:accent6>
      <a:hlink>
        <a:srgbClr val="C9A24B"/>
      </a:hlink>
      <a:folHlink>
        <a:srgbClr val="8FA597"/>
      </a:folHlink>
    </a:clrScheme>
    <a:fontScheme name="Vault Engraving">
      <a:majorFont>
        <a:latin typeface="Fraunce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>PptxGenJS Presentation</dc:subject>
  <dc:creator>PptxGenJS</dc:creator>
  <cp:lastModifiedBy>PptxGenJS</cp:lastModifiedBy>
  <cp:revision>1</cp:revision>
  <dcterms:created xsi:type="dcterms:W3CDTF">2026-10-11T23:51:32Z</dcterms:created>
  <dcterms:modified xsi:type="dcterms:W3CDTF">2026-10-11T23:51:32Z</dcterms:modified>
</cp:coreProperties>
</file>