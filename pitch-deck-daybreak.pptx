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5d922c4-b2a6-b01d-33cb-407c9b322aab}">
          <p14:sldIdLst>
            <p14:sldId id="256"/>
          </p14:sldIdLst>
        </p14:section>
        <p14:section name="Opportunity" id="{0b2fd473-bdc6-0a96-9c60-598881c4211d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1a78258c-4f9f-8f59-40d3-72f8ccc78fa1}">
          <p14:sldIdLst>
            <p14:sldId id="262"/>
            <p14:sldId id="263"/>
            <p14:sldId id="264"/>
            <p14:sldId id="265"/>
          </p14:sldIdLst>
        </p14:section>
        <p14:section name="Team &amp; Financials" id="{342bf177-d8ca-f1c4-e2ab-9697f0ff1b42}">
          <p14:sldIdLst>
            <p14:sldId id="266"/>
            <p14:sldId id="267"/>
            <p14:sldId id="268"/>
          </p14:sldIdLst>
        </p14:section>
        <p14:section name="Close" id="{c0084043-aadf-c930-02e5-64ce9488a1ad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38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A6380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5B4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638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A638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3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638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A6380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4BFF"/>
              </a:solidFill>
              <a:effectLst/>
            </c:spPr>
          </c:dPt>
          <c:dPt>
            <c:idx val="1"/>
            <c:bubble3D val="0"/>
            <c:spPr>
              <a:solidFill>
                <a:srgbClr val="3BA7FF"/>
              </a:solidFill>
              <a:effectLst/>
            </c:spPr>
          </c:dPt>
          <c:dPt>
            <c:idx val="2"/>
            <c:bubble3D val="0"/>
            <c:spPr>
              <a:solidFill>
                <a:srgbClr val="2FCFA4"/>
              </a:solidFill>
              <a:effectLst/>
            </c:spPr>
          </c:dPt>
          <c:dPt>
            <c:idx val="3"/>
            <c:bubble3D val="0"/>
            <c:spPr>
              <a:solidFill>
                <a:srgbClr val="C9B8F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0E1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LIGHT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_L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6400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46304" cy="1463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731520" y="640080"/>
            <a:ext cx="146304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6000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[Logo]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dirty="0">
                <a:solidFill>
                  <a:schemeClr val="tx1"/>
                </a:solidFill>
              </a:rPr>
              <a:t>[Company name]</a:t>
            </a:r>
            <a:endParaRPr lang="en-US" sz="5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4747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[One-liner: We help (who) do (what) by (how)]</a:t>
            </a:r>
            <a:endParaRPr lang="en-US" sz="2000" dirty="0"/>
          </a:p>
        </p:txBody>
      </p:sp>
      <p:sp>
        <p:nvSpPr>
          <p:cNvPr id="6" name="Raise chip"/>
          <p:cNvSpPr/>
          <p:nvPr/>
        </p:nvSpPr>
        <p:spPr>
          <a:xfrm>
            <a:off x="731520" y="4617720"/>
            <a:ext cx="42062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4617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Raising $[X]M · [Pre-seed / Seed / Series A]</a:t>
            </a:r>
            <a:endParaRPr lang="en-US" sz="140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731520" y="5760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[Founder name], [Title]  ·  [email@company.com]  ·  [Month 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— 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[Target customers] struggle to [do X], and it costs them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[time / money]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928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[Pain point 1]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3042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feels it, how often, and what it costs them]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644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[Pain point 2]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758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[Make it concrete: a real customer story beats an abstract claim]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360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How it's handled today: [current workaround]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474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[Spreadsheets, manual work, legacy tools, and why they fall short]</a:t>
            </a:r>
            <a:endParaRPr lang="en-US" sz="1400" dirty="0"/>
          </a:p>
        </p:txBody>
      </p:sp>
      <p:pic>
        <p:nvPicPr>
          <p:cNvPr id="16" name="Stat card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828800"/>
            <a:ext cx="4233672" cy="40233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772400" y="2194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[XX%]</a:t>
            </a:r>
            <a:endParaRPr lang="en-US" sz="6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3474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[target customers] [experience this pain / lose $X per year to it]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5257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[citation]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— 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[Product] lets [customer]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[achieve outcome]</a:t>
            </a:r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 in [time] instead of [time]</a:t>
            </a:r>
            <a:endParaRPr lang="en-US" sz="2600" dirty="0"/>
          </a:p>
        </p:txBody>
      </p:sp>
      <p:sp>
        <p:nvSpPr>
          <p:cNvPr id="4" name="Today card"/>
          <p:cNvSpPr/>
          <p:nvPr/>
        </p:nvSpPr>
        <p:spPr>
          <a:xfrm>
            <a:off x="548640" y="1874520"/>
            <a:ext cx="4937760" cy="3063240"/>
          </a:xfrm>
          <a:prstGeom prst="roundRect">
            <a:avLst>
              <a:gd name="adj" fmla="val 477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[Slow / manual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[Costly or error-prone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[The outcome customers settle for]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0" y="3044952"/>
            <a:ext cx="731520" cy="73152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715000" y="3044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pic>
        <p:nvPicPr>
          <p:cNvPr id="9" name="With product card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74520"/>
            <a:ext cx="4965192" cy="3063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9516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WITH [PRODUCT]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60604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[What becomes fast or automatic]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[Measurable gain: X× faster, $Y saved]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[A new outcome that wasn't possible before]</a:t>
            </a:r>
            <a:endParaRPr lang="en-US" sz="1600" dirty="0"/>
          </a:p>
        </p:txBody>
      </p:sp>
      <p:sp>
        <p:nvSpPr>
          <p:cNvPr id="12" name="Insight card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18824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Our insight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[The non-obvious thing you understand about this problem that others miss]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—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How it works: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[the product in one sentence]</a:t>
            </a:r>
            <a:endParaRPr lang="en-US" sz="26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783080"/>
            <a:ext cx="6766560" cy="429768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creenshot placeholder"/>
          <p:cNvSpPr/>
          <p:nvPr/>
        </p:nvSpPr>
        <p:spPr>
          <a:xfrm>
            <a:off x="777240" y="2240280"/>
            <a:ext cx="6309360" cy="36118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6309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[Product screenshot, mockup, or demo GIF]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80960" y="1828800"/>
            <a:ext cx="457200" cy="4572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185623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1]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26771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291840"/>
            <a:ext cx="457200" cy="4572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31927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2]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73075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80960" y="4754880"/>
            <a:ext cx="457200" cy="4572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78231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3]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519379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 — WHY NOW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Why now: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[the shift that makes this possible today]</a:t>
            </a:r>
            <a:endParaRPr lang="en-US" sz="2600" dirty="0"/>
          </a:p>
        </p:txBody>
      </p:sp>
      <p:sp>
        <p:nvSpPr>
          <p:cNvPr id="4" name="Why now card 1"/>
          <p:cNvSpPr/>
          <p:nvPr/>
        </p:nvSpPr>
        <p:spPr>
          <a:xfrm>
            <a:off x="548640" y="1874520"/>
            <a:ext cx="3520440" cy="361188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the tech]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0" name="Why now card 2"/>
          <p:cNvSpPr/>
          <p:nvPr/>
        </p:nvSpPr>
        <p:spPr>
          <a:xfrm>
            <a:off x="4334256" y="1874520"/>
            <a:ext cx="3520440" cy="361188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2194560"/>
            <a:ext cx="548640" cy="5486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429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MARKET / BEHAVIOR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how people buy or work]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6" name="Why now card 3"/>
          <p:cNvSpPr/>
          <p:nvPr/>
        </p:nvSpPr>
        <p:spPr>
          <a:xfrm>
            <a:off x="8119872" y="1874520"/>
            <a:ext cx="3520440" cy="361188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9912" y="2194560"/>
            <a:ext cx="548640" cy="5486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991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REGULATION / COST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rules or costs]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— MARKET SIZE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 $[X]B market, and we can win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$[Y]M of it</a:t>
            </a:r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 in [N] years</a:t>
            </a:r>
            <a:endParaRPr lang="en-US" sz="2600" dirty="0"/>
          </a:p>
        </p:txBody>
      </p:sp>
      <p:sp>
        <p:nvSpPr>
          <p:cNvPr id="4" name="TAM circle"/>
          <p:cNvSpPr/>
          <p:nvPr/>
        </p:nvSpPr>
        <p:spPr>
          <a:xfrm>
            <a:off x="822960" y="1783080"/>
            <a:ext cx="4114800" cy="4114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AM circle"/>
          <p:cNvSpPr/>
          <p:nvPr/>
        </p:nvSpPr>
        <p:spPr>
          <a:xfrm>
            <a:off x="1417320" y="2971800"/>
            <a:ext cx="2926080" cy="2926080"/>
          </a:xfrm>
          <a:prstGeom prst="ellipse">
            <a:avLst/>
          </a:prstGeom>
          <a:solidFill>
            <a:srgbClr val="DCD5FF"/>
          </a:solidFill>
          <a:ln/>
        </p:spPr>
      </p:sp>
      <p:pic>
        <p:nvPicPr>
          <p:cNvPr id="6" name="SOM 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291840"/>
            <a:ext cx="3474720" cy="3474720"/>
          </a:xfrm>
          <a:prstGeom prst="rect">
            <a:avLst/>
          </a:prstGeom>
        </p:spPr>
      </p:pic>
      <p:sp>
        <p:nvSpPr>
          <p:cNvPr id="7" name="SOM circle"/>
          <p:cNvSpPr/>
          <p:nvPr/>
        </p:nvSpPr>
        <p:spPr>
          <a:xfrm>
            <a:off x="2011680" y="416052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659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184708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addressable market (TAM)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221284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[Everyone who could ever buy this × annual spend]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303580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Serviceable market (SAM)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340156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[The segment you can reach with today's product and channels]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422452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Obtainable in [3–5] years (SOM)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459028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[The realistic share you can win: the number to defend]</a:t>
            </a:r>
            <a:endParaRPr lang="en-US" sz="1400" dirty="0"/>
          </a:p>
        </p:txBody>
      </p:sp>
      <p:sp>
        <p:nvSpPr>
          <p:cNvPr id="20" name="Bottom-up math"/>
          <p:cNvSpPr/>
          <p:nvPr/>
        </p:nvSpPr>
        <p:spPr>
          <a:xfrm>
            <a:off x="5577840" y="5394960"/>
            <a:ext cx="6062472" cy="54864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0644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Bottom-up: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[# customers] × $[annual contract value] = $[SAM]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06 — BUSINESS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We charge [customer]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[$X per unit]</a:t>
            </a:r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: [pricing model in one line]</a:t>
            </a:r>
            <a:endParaRPr lang="en-US" sz="2600" dirty="0"/>
          </a:p>
        </p:txBody>
      </p:sp>
      <p:sp>
        <p:nvSpPr>
          <p:cNvPr id="4" name="Pricing tier 1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[TIER 1]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pic>
        <p:nvPicPr>
          <p:cNvPr id="8" name="Pricing tier 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1783080"/>
            <a:ext cx="3520440" cy="19202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654296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[TIER 2]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654296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654296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2" name="Pricing tier 3"/>
          <p:cNvSpPr/>
          <p:nvPr/>
        </p:nvSpPr>
        <p:spPr>
          <a:xfrm>
            <a:off x="8119872" y="1783080"/>
            <a:ext cx="3520440" cy="192024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439912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[TIER 3]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439912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439912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UNIT ECONOMICS</a:t>
            </a:r>
            <a:endParaRPr lang="en-US" sz="1200" dirty="0"/>
          </a:p>
        </p:txBody>
      </p:sp>
      <p:sp>
        <p:nvSpPr>
          <p:cNvPr id="17" name="Unit economics 1"/>
          <p:cNvSpPr/>
          <p:nvPr/>
        </p:nvSpPr>
        <p:spPr>
          <a:xfrm>
            <a:off x="548640" y="4343400"/>
            <a:ext cx="2574036" cy="14630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2960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193792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Avg. contract value (ACV)</a:t>
            </a:r>
            <a:endParaRPr lang="en-US" sz="1300" dirty="0"/>
          </a:p>
        </p:txBody>
      </p:sp>
      <p:sp>
        <p:nvSpPr>
          <p:cNvPr id="20" name="Unit economics 2"/>
          <p:cNvSpPr/>
          <p:nvPr/>
        </p:nvSpPr>
        <p:spPr>
          <a:xfrm>
            <a:off x="3387852" y="4343400"/>
            <a:ext cx="2574036" cy="14630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662172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3662172" y="5193792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Gross margin</a:t>
            </a:r>
            <a:endParaRPr lang="en-US" sz="1300" dirty="0"/>
          </a:p>
        </p:txBody>
      </p:sp>
      <p:sp>
        <p:nvSpPr>
          <p:cNvPr id="23" name="Unit economics 3"/>
          <p:cNvSpPr/>
          <p:nvPr/>
        </p:nvSpPr>
        <p:spPr>
          <a:xfrm>
            <a:off x="6227064" y="4343400"/>
            <a:ext cx="2574036" cy="14630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501384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6501384" y="5193792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CAC payback period</a:t>
            </a:r>
            <a:endParaRPr lang="en-US" sz="1300" dirty="0"/>
          </a:p>
        </p:txBody>
      </p:sp>
      <p:sp>
        <p:nvSpPr>
          <p:cNvPr id="26" name="Unit economics 4"/>
          <p:cNvSpPr/>
          <p:nvPr/>
        </p:nvSpPr>
        <p:spPr>
          <a:xfrm>
            <a:off x="9066276" y="4343400"/>
            <a:ext cx="2574036" cy="14630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340596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[X]:1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9340596" y="5193792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LTV : CAC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07 — TRACTION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[Key metric]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grew [X]×</a:t>
            </a:r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 in [N] months</a:t>
            </a:r>
            <a:endParaRPr lang="en-US" sz="2600" dirty="0"/>
          </a:p>
        </p:txBody>
      </p:sp>
      <p:sp>
        <p:nvSpPr>
          <p:cNvPr id="4" name="Chart card"/>
          <p:cNvSpPr/>
          <p:nvPr/>
        </p:nvSpPr>
        <p:spPr>
          <a:xfrm>
            <a:off x="548640" y="1783080"/>
            <a:ext cx="6949440" cy="4251960"/>
          </a:xfrm>
          <a:prstGeom prst="roundRect">
            <a:avLst>
              <a:gd name="adj" fmla="val 344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920240"/>
          <a:ext cx="6583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Traction stat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83080"/>
            <a:ext cx="3776472" cy="1280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8388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2578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recurring revenue</a:t>
            </a:r>
            <a:endParaRPr lang="en-US" sz="1400" dirty="0"/>
          </a:p>
        </p:txBody>
      </p:sp>
      <p:sp>
        <p:nvSpPr>
          <p:cNvPr id="9" name="Traction stat 2"/>
          <p:cNvSpPr/>
          <p:nvPr/>
        </p:nvSpPr>
        <p:spPr>
          <a:xfrm>
            <a:off x="7863840" y="3246120"/>
            <a:ext cx="3776472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18388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+[X]%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Month-over-month growth</a:t>
            </a:r>
            <a:endParaRPr lang="en-US" sz="1400" dirty="0"/>
          </a:p>
        </p:txBody>
      </p:sp>
      <p:sp>
        <p:nvSpPr>
          <p:cNvPr id="12" name="Traction stat 3"/>
          <p:cNvSpPr/>
          <p:nvPr/>
        </p:nvSpPr>
        <p:spPr>
          <a:xfrm>
            <a:off x="7863840" y="4709160"/>
            <a:ext cx="3776472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18388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5504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Net revenue retention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08 — COMPETITION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[Company] is the only [category] that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[key differentiator]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↑  [Y axis: e.g., Depth / power]</a:t>
            </a:r>
            <a:endParaRPr lang="en-US" sz="1200" dirty="0"/>
          </a:p>
        </p:txBody>
      </p:sp>
      <p:sp>
        <p:nvSpPr>
          <p:cNvPr id="5" name="Matrix background"/>
          <p:cNvSpPr/>
          <p:nvPr/>
        </p:nvSpPr>
        <p:spPr>
          <a:xfrm>
            <a:off x="914400" y="2103120"/>
            <a:ext cx="5486400" cy="356616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0" y="2240280"/>
            <a:ext cx="0" cy="32918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886200"/>
            <a:ext cx="521208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[X axis: e.g., Ease of use]  →</a:t>
            </a:r>
            <a:endParaRPr lang="en-US" sz="1200" dirty="0"/>
          </a:p>
        </p:txBody>
      </p:sp>
      <p:pic>
        <p:nvPicPr>
          <p:cNvPr id="9" name="You 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874520"/>
            <a:ext cx="1417320" cy="1417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0" y="2377440"/>
            <a:ext cx="411480" cy="4114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9476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[Your company]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280160" y="2651760"/>
            <a:ext cx="320040" cy="320040"/>
          </a:xfrm>
          <a:prstGeom prst="ellipse">
            <a:avLst/>
          </a:prstGeom>
          <a:solidFill>
            <a:srgbClr val="C3C8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3736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4389120"/>
            <a:ext cx="320040" cy="320040"/>
          </a:xfrm>
          <a:prstGeom prst="ellipse">
            <a:avLst/>
          </a:prstGeom>
          <a:solidFill>
            <a:srgbClr val="C3C8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280160" y="4846320"/>
            <a:ext cx="320040" cy="320040"/>
          </a:xfrm>
          <a:prstGeom prst="ellipse">
            <a:avLst/>
          </a:prstGeom>
          <a:solidFill>
            <a:srgbClr val="C3C8D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737360" y="4846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WHY WE WIN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49440" y="2560320"/>
            <a:ext cx="411480" cy="4114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494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257860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1]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294436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949440" y="3657600"/>
            <a:ext cx="411480" cy="4114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367588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2]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404164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949440" y="4754880"/>
            <a:ext cx="411480" cy="4114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494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589520" y="477316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3]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589520" y="513892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09 — GO-TO-MARKET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How we reach customers: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[primary channel]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2148840"/>
            <a:ext cx="28712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1 · LAND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Founder-led sales to 10 design partners]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4256" y="1828800"/>
            <a:ext cx="64008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425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11496" y="2148840"/>
            <a:ext cx="28712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334256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2 · EXPAND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34256" y="3017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Referrals and upsell within accounts]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34256" y="38862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9872" y="1828800"/>
            <a:ext cx="64008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987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19872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3 · SCALE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19872" y="3017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Inside sales team + partner channel]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119872" y="38862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21" name="GTM card 1"/>
          <p:cNvSpPr/>
          <p:nvPr/>
        </p:nvSpPr>
        <p:spPr>
          <a:xfrm>
            <a:off x="548640" y="4663440"/>
            <a:ext cx="3520440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Ideal customer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[Industry, company size, buyer title]</a:t>
            </a:r>
            <a:endParaRPr lang="en-US" sz="1400" dirty="0"/>
          </a:p>
        </p:txBody>
      </p:sp>
      <p:sp>
        <p:nvSpPr>
          <p:cNvPr id="24" name="GTM card 2"/>
          <p:cNvSpPr/>
          <p:nvPr/>
        </p:nvSpPr>
        <p:spPr>
          <a:xfrm>
            <a:off x="4334256" y="4663440"/>
            <a:ext cx="3520440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608576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 motion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608576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[Self-serve, PLG, or sales team]</a:t>
            </a:r>
            <a:endParaRPr lang="en-US" sz="1400" dirty="0"/>
          </a:p>
        </p:txBody>
      </p:sp>
      <p:sp>
        <p:nvSpPr>
          <p:cNvPr id="27" name="GTM card 3"/>
          <p:cNvSpPr/>
          <p:nvPr/>
        </p:nvSpPr>
        <p:spPr>
          <a:xfrm>
            <a:off x="8119872" y="4663440"/>
            <a:ext cx="3520440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94192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Proof it works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94192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[CAC by channel, conversion rate, pipeline]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10 — TEAM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Why us: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[the unfair advantage this team brings]</a:t>
            </a:r>
            <a:endParaRPr lang="en-US" sz="26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2574036" cy="3520440"/>
          </a:xfrm>
          <a:prstGeom prst="roundRect">
            <a:avLst>
              <a:gd name="adj" fmla="val 568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1188720" cy="118872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1304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0" name="Team card 2"/>
          <p:cNvSpPr/>
          <p:nvPr/>
        </p:nvSpPr>
        <p:spPr>
          <a:xfrm>
            <a:off x="3387852" y="1783080"/>
            <a:ext cx="2574036" cy="3520440"/>
          </a:xfrm>
          <a:prstGeom prst="roundRect">
            <a:avLst>
              <a:gd name="adj" fmla="val 568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2172" y="2057400"/>
            <a:ext cx="1188720" cy="118872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2172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62172" y="3429000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62172" y="381304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62172" y="4206240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6" name="Team card 3"/>
          <p:cNvSpPr/>
          <p:nvPr/>
        </p:nvSpPr>
        <p:spPr>
          <a:xfrm>
            <a:off x="6227064" y="1783080"/>
            <a:ext cx="2574036" cy="3520440"/>
          </a:xfrm>
          <a:prstGeom prst="roundRect">
            <a:avLst>
              <a:gd name="adj" fmla="val 568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057400"/>
            <a:ext cx="1188720" cy="118872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1384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3429000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381304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01384" y="4206240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2" name="Team card 4"/>
          <p:cNvSpPr/>
          <p:nvPr/>
        </p:nvSpPr>
        <p:spPr>
          <a:xfrm>
            <a:off x="9066276" y="1783080"/>
            <a:ext cx="2574036" cy="3520440"/>
          </a:xfrm>
          <a:prstGeom prst="roundRect">
            <a:avLst>
              <a:gd name="adj" fmla="val 568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40596" y="2057400"/>
            <a:ext cx="1188720" cy="118872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40596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340596" y="3429000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40596" y="381304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40596" y="4206240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Advisors &amp; investors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[Name (credential)]  ·  [Name (credential)]  ·  [Name (credential)]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11 — FINANCIALS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Path to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$[X]M revenue</a:t>
            </a:r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 by [year]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1]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2]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3]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4]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5]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 burn / EBITDA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Ending cash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Headcount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</a:tbl>
          </a:graphicData>
        </a:graphic>
      </p:graphicFrame>
      <p:sp>
        <p:nvSpPr>
          <p:cNvPr id="5" name="Assumptions card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919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KEY ASSUMPTIONS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[Growth rate and what drives it]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[Pricing, churn, and sales capacity assumptions]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[When you reach breakeven, or what the next round funds]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12 — THE ASK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49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We're raising $[X]M to reach </a:t>
            </a:r>
            <a:pPr algn="l" indent="0" marL="0">
              <a:buNone/>
            </a:pPr>
            <a:r>
              <a:rPr lang="en-US" sz="31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[milestone]</a:t>
            </a:r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 in [N] months</a:t>
            </a:r>
            <a:endParaRPr lang="en-US" sz="2600" dirty="0"/>
          </a:p>
        </p:txBody>
      </p:sp>
      <p:pic>
        <p:nvPicPr>
          <p:cNvPr id="4" name="Raise card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20624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RAISING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514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8404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[SAFE / priced round]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[Pre-seed / Seed / Series A]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[$X committed · Lead: (name)]</a:t>
            </a:r>
            <a:endParaRPr lang="en-US" sz="1600" dirty="0"/>
          </a:p>
        </p:txBody>
      </p:sp>
      <p:sp>
        <p:nvSpPr>
          <p:cNvPr id="8" name="Use of funds card"/>
          <p:cNvSpPr/>
          <p:nvPr/>
        </p:nvSpPr>
        <p:spPr>
          <a:xfrm>
            <a:off x="5120640" y="1783080"/>
            <a:ext cx="6519672" cy="260604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5257800" y="1874520"/>
          <a:ext cx="62636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Milestone 1"/>
          <p:cNvSpPr/>
          <p:nvPr/>
        </p:nvSpPr>
        <p:spPr>
          <a:xfrm>
            <a:off x="5120640" y="4617720"/>
            <a:ext cx="2020824" cy="13716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349240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MILESTONE 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$1M ARR]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4" name="Milestone 2"/>
          <p:cNvSpPr/>
          <p:nvPr/>
        </p:nvSpPr>
        <p:spPr>
          <a:xfrm>
            <a:off x="7370064" y="4617720"/>
            <a:ext cx="2020824" cy="13716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598664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MILESTONE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598664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50 logos]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598664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8" name="Milestone 3"/>
          <p:cNvSpPr/>
          <p:nvPr/>
        </p:nvSpPr>
        <p:spPr>
          <a:xfrm>
            <a:off x="9619488" y="4617720"/>
            <a:ext cx="2020824" cy="13716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50800" dir="5400000">
              <a:srgbClr val="5B4BFF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9848088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RUNWAY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9848088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months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848088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[to next round]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[Your vision in one bold sentence: </a:t>
            </a:r>
            <a:pPr algn="l" indent="0" marL="0">
              <a:buNone/>
            </a:pPr>
            <a:r>
              <a:rPr lang="en-US" sz="48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the world looks like if you win]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[Founder name]  ·  [email@company.com]  ·  [phone]  ·  [company.com]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[Detailed financials  ·  Cohort and retention data  ·  Customer case studies  ·  Technical architecture  ·  Product roadmap  ·  Cap table]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break">
  <a:themeElements>
    <a:clrScheme name="Daybreak">
      <a:dk1>
        <a:srgbClr val="0E1430"/>
      </a:dk1>
      <a:lt1>
        <a:srgbClr val="FFFFFF"/>
      </a:lt1>
      <a:dk2>
        <a:srgbClr val="5A6380"/>
      </a:dk2>
      <a:lt2>
        <a:srgbClr val="F3F2FF"/>
      </a:lt2>
      <a:accent1>
        <a:srgbClr val="5B4BFF"/>
      </a:accent1>
      <a:accent2>
        <a:srgbClr val="3BA7FF"/>
      </a:accent2>
      <a:accent3>
        <a:srgbClr val="2FCFA4"/>
      </a:accent3>
      <a:accent4>
        <a:srgbClr val="08876A"/>
      </a:accent4>
      <a:accent5>
        <a:srgbClr val="E3E7F2"/>
      </a:accent5>
      <a:accent6>
        <a:srgbClr val="C9B8FF"/>
      </a:accent6>
      <a:hlink>
        <a:srgbClr val="5B4BFF"/>
      </a:hlink>
      <a:folHlink>
        <a:srgbClr val="5A6380"/>
      </a:folHlink>
    </a:clrScheme>
    <a:fontScheme name="Daybreak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 (Daybreak)</dc:title>
  <dc:subject>PptxGenJS Presentation</dc:subject>
  <dc:creator>PptxGenJS</dc:creator>
  <cp:lastModifiedBy>PptxGenJS</cp:lastModifiedBy>
  <cp:revision>1</cp:revision>
  <dcterms:created xsi:type="dcterms:W3CDTF">2026-10-11T23:51:35Z</dcterms:created>
  <dcterms:modified xsi:type="dcterms:W3CDTF">2026-10-11T23:51:35Z</dcterms:modified>
</cp:coreProperties>
</file>