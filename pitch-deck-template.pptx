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bff9695a-096b-49cd-a86a-9c85a5703a5d}">
          <p14:sldIdLst>
            <p14:sldId id="256"/>
          </p14:sldIdLst>
        </p14:section>
        <p14:section name="Opportunity" id="{6da7343e-1a69-3d53-7eac-f95591b29bdc}">
          <p14:sldIdLst>
            <p14:sldId id="257"/>
            <p14:sldId id="258"/>
            <p14:sldId id="259"/>
            <p14:sldId id="260"/>
            <p14:sldId id="261"/>
          </p14:sldIdLst>
        </p14:section>
        <p14:section name="Business" id="{931c2e79-3bc6-28ec-4de0-e572471a6275}">
          <p14:sldIdLst>
            <p14:sldId id="262"/>
            <p14:sldId id="263"/>
            <p14:sldId id="264"/>
            <p14:sldId id="265"/>
          </p14:sldIdLst>
        </p14:section>
        <p14:section name="Team &amp; Financials" id="{93a6bdea-94ff-9bb2-e285-a3b1ba0c1e95}">
          <p14:sldIdLst>
            <p14:sldId id="266"/>
            <p14:sldId id="267"/>
            <p14:sldId id="268"/>
          </p14:sldIdLst>
        </p14:section>
        <p14:section name="Close" id="{784842b6-ad6f-fa1f-3542-7af488aaeb35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4A505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4A505C"/>
                </a:solidFill>
                <a:latin typeface="+mn-lt"/>
              </a:rPr>
              <a:t>[Revenue / users] by month (sample data: replace)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[Metric]</c:v>
                </c:pt>
              </c:strCache>
            </c:strRef>
          </c:tx>
          <c:spPr>
            <a:solidFill>
              <a:srgbClr val="C239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A505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[M1]</c:v>
                  </c:pt>
                  <c:pt idx="1">
                    <c:v>[M2]</c:v>
                  </c:pt>
                  <c:pt idx="2">
                    <c:v>[M3]</c:v>
                  </c:pt>
                  <c:pt idx="3">
                    <c:v>[M4]</c:v>
                  </c:pt>
                  <c:pt idx="4">
                    <c:v>[M5]</c:v>
                  </c:pt>
                  <c:pt idx="5">
                    <c:v>[M6]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14</c:v>
                </c:pt>
                <c:pt idx="2">
                  <c:v>19</c:v>
                </c:pt>
                <c:pt idx="3">
                  <c:v>26</c:v>
                </c:pt>
                <c:pt idx="4">
                  <c:v>34</c:v>
                </c:pt>
                <c:pt idx="5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A505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0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4A505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4A505C"/>
                </a:solidFill>
                <a:latin typeface="+mn-lt"/>
              </a:rPr>
              <a:t>Use of funds (placeholder split: replace)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2391A"/>
              </a:solidFill>
              <a:effectLst/>
            </c:spPr>
          </c:dPt>
          <c:dPt>
            <c:idx val="1"/>
            <c:bubble3D val="0"/>
            <c:spPr>
              <a:solidFill>
                <a:srgbClr val="16181D"/>
              </a:solidFill>
              <a:effectLst/>
            </c:spPr>
          </c:dPt>
          <c:dPt>
            <c:idx val="2"/>
            <c:bubble3D val="0"/>
            <c:spPr>
              <a:solidFill>
                <a:srgbClr val="8A93A3"/>
              </a:solidFill>
              <a:effectLst/>
            </c:spPr>
          </c:dPt>
          <c:dPt>
            <c:idx val="3"/>
            <c:bubble3D val="0"/>
            <c:spPr>
              <a:solidFill>
                <a:srgbClr val="D5D9E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Product &amp; engineering</c:v>
                </c:pt>
                <c:pt idx="1">
                  <c:v>Sales &amp; marketing</c:v>
                </c:pt>
                <c:pt idx="2">
                  <c:v>Operations &amp; G&amp;A</c:v>
                </c:pt>
                <c:pt idx="3">
                  <c:v>[Other]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300">
              <a:solidFill>
                <a:srgbClr val="4A505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/ ONE-LINER
If an investor reads only this slide, they should know what you do. Use a plain-language one-liner (YC style: 'We help [who] do [what]'), not a slogan. Avoid jargon and buzzwords.
The raise chip is optional; some founders prefer to save the ask for the end. In a cold, send-ahead deck it's useful up front.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(Sequoia: 'Describe the pain of the customer'; YC: 'Why is this a big, urgent problem?')
- Who has the problem, specifically? Name the customer segment.
- How painful is it? Quantify in time, money, or risk.
- How do they solve it today, and why does that fall short?
- One sharp stat or a short customer quote is more persuasive than a list.
Investors need to believe the problem is real, frequent, and expensive before they care about your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(Sequoia: 'Demonstrate your company's value proposition')
- Focus on what changes for the customer, not on a feature list.
- Make the before/after contrast obvious and, if possible, measurable.
- The 'insight' line is your secret: what you know that incumbents and other founders don't. Strong insights are often counter-intuitive.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/ DEMO
- Show, don't tell: real screenshots beat mockups; a short GIF or live demo beats both.
- Call out the 'magic moment', the point where the user gets value.
- Mention the product roadmap only briefly; you can put it in the appendix.
- If you're pre-product, show the prototype and what you've validated with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NOW (Sequoia: 'Set up the historical evolution of your category. Why hasn't this been done before?')
- Investors look hard at this slide: great ideas often failed because they were too early.
- Common 'why now' drivers: a new platform or technology (e.g., AI models, cheaper sensors), a regulatory change, a behavior shift, a collapse in cost, or a market dislocation.
- You don't need all three cards; one compelling shift is better than three weak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SIZE (Sequoia: 'Identify/profile the customer you cater to')
- Build the number bottom-up: (number of target customers) × (what each pays per year). Top-down figures ('1% of a $50B market') are a red flag to most VCs.
- Venture investors generally need to see a path to a $1B+ company, so the TAM should support that.
- Show your math, or keep it ready for the appendix; cite sources for any third-party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MODEL (Sequoia: 'Revenue model, pricing, average account size, lifetime value')
- Who pays, how much, how often? (subscription, usage-based, transaction fee, marketplace take rate…)
- Swap the pricing tiers for a single price if that's simpler; delete what you don't need.
- Unit economics: only show what you actually have. At pre-seed it's fine to show target or early numbers, labeled as such.
- Rough benchmarks investors use for SaaS: LTV:CAC ≥ 3:1, CAC payback &lt; 12–18 months, gross margin 70%+.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TRACTION (YC: 'This is often the most important slide')
- Put your single best number in the headline and make it big.
- Show growth over time, not a snapshot: a chart going up and to the right is the point of this slide.
- The chart uses SAMPLE data. Right-click it → Edit Data to enter your real numbers.
- Pick metrics that fit your stage: revenue/MRR, active users, retention, paid pilots, LOIs, waitlist, notable customer logos.
- If traction is your strongest card, move this slide up to right after the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COMPETITION (Sequoia: 'List competitors; list your plan to win')
- Never say 'we have no competitors'. It signals naïveté or no market. Include the status quo (spreadsheets, doing nothing) and big incumbents.
- Pick 2×2 axes that genuinely matter to customers and honestly put you in the top-right. If the axes feel contrived, use a comparison table instead.
- The 'why we win' column matters more than the chart: what's defensible and gets stronger over time?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GO-TO-MARKET
- How do you find, win, and keep customers, and how does that scale?
- Be specific about the first channel that works; 'viral growth' or 'partnerships' with no evidence won't land.
- If you have data (CAC by channel, conversion rates, sales cycle length, pipeline), it belongs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(Sequoia: 'Founders, management, board of directors/advisors')
- At early stages, investors are betting on the team more than anything else.
- For each person, give the one credential that makes them uniquely suited to THIS problem (domain expertise, prior startup or exit, technical depth), not a full CV.
- Show how long the founders have worked together and that you're full-time.
- Delete or add cards to match your team; notable advisors and angels go in the bottom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FINANCIALS
- Keep it high level: 3–5 years of revenue, burn, and headcount. Detailed models go in the appendix or data room.
- Investors know projections are guesses; they're judging whether your assumptions are reasonable and whether you understand your business's drivers.
- Pre-revenue? Show the plan for the next 18–24 months and the milestones that unlock the next round instead.
- Rename the year columns (e.g., 2027, 2028…) and delete rows you don't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 / USE OF FUNDS
- State the amount, instrument (SAFE or priced round), and anything already committed or a lead investor.
- Tie the money to milestones: 'this round gets us to X, which sets us up for the next round'. Investors fund milestones, not runway.
- 18–24 months of runway is a typical target.
- The doughnut uses a placeholder 25/25/25/25 split. Right-click → Edit Data to change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VISION / CLOSE
- End on the big picture: if everything works, what does this company become in 10 years?
- Leave contact details on screen during Q&amp;A.
- Optionally restate the ask in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
Backup slides for diligence questions. Keep them out of the main flow, but have them ready. Typical contents: detailed model, cohort/retention curves, customer references and case studies, technical deep-dive, roadmap, cap table, and full TAM math.
Duplicate any content slide (right-click → Duplicate Slide) to build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058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760720"/>
            <a:ext cx="100584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[Company name] · Confidential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laceholder"/>
          <p:cNvSpPr/>
          <p:nvPr/>
        </p:nvSpPr>
        <p:spPr>
          <a:xfrm>
            <a:off x="731520" y="640080"/>
            <a:ext cx="1463040" cy="7315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731520" y="640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[Logo]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[Company name]</a:t>
            </a:r>
            <a:endParaRPr lang="en-US" sz="5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520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5"/>
                </a:solidFill>
              </a:rPr>
              <a:t>[One-liner: We help (who) do (what) by (how)]</a:t>
            </a:r>
            <a:endParaRPr lang="en-US" sz="2400" dirty="0"/>
          </a:p>
        </p:txBody>
      </p:sp>
      <p:sp>
        <p:nvSpPr>
          <p:cNvPr id="6" name="Raise chip"/>
          <p:cNvSpPr/>
          <p:nvPr/>
        </p:nvSpPr>
        <p:spPr>
          <a:xfrm>
            <a:off x="731520" y="4617720"/>
            <a:ext cx="420624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4617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Raising $[X]M · [Pre-seed / Seed / Series A]</a:t>
            </a:r>
            <a:endParaRPr lang="en-US" sz="1400" dirty="0"/>
          </a:p>
        </p:txBody>
      </p:sp>
      <p:sp>
        <p:nvSpPr>
          <p:cNvPr id="8" name="Text 0"/>
          <p:cNvSpPr/>
          <p:nvPr>
            <p:ph idx="102" type="body" hasCustomPrompt="1"/>
          </p:nvPr>
        </p:nvSpPr>
        <p:spPr>
          <a:xfrm>
            <a:off x="731520" y="57607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[Founder name], [Title]  ·  [email@company.com]  ·  [Month YYYY]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01 · THE PROBLEM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[Target customers] struggle to [do X], and it costs them [time / money]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[Pain point 1]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25856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[Who feels it, how often, and what it costs them]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21868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[Pain point 2]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63016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[Make it concrete: a real customer story beats an abstract claim]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59028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it's handled today: [current workaround]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500176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[Spreadsheets, manual work, legacy tools, and why they fall short]</a:t>
            </a:r>
            <a:endParaRPr lang="en-US" sz="1400" dirty="0"/>
          </a:p>
        </p:txBody>
      </p:sp>
      <p:sp>
        <p:nvSpPr>
          <p:cNvPr id="16" name="Stat card"/>
          <p:cNvSpPr/>
          <p:nvPr/>
        </p:nvSpPr>
        <p:spPr>
          <a:xfrm>
            <a:off x="7406640" y="1828800"/>
            <a:ext cx="4233672" cy="4023360"/>
          </a:xfrm>
          <a:prstGeom prst="roundRect">
            <a:avLst>
              <a:gd name="adj" fmla="val 2727"/>
            </a:avLst>
          </a:prstGeom>
          <a:solidFill>
            <a:schemeClr val="tx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0" y="21945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[XX%]</a:t>
            </a:r>
            <a:endParaRPr lang="en-US" sz="6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34290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of [target customers] [experience this pain / lose $X per year to it]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5257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Source: [citation]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02 · THE SOLUTION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[Product] lets [customer] [achieve outcome] in [time] instead of [time]</a:t>
            </a:r>
            <a:endParaRPr lang="en-US" sz="2800" dirty="0"/>
          </a:p>
        </p:txBody>
      </p:sp>
      <p:sp>
        <p:nvSpPr>
          <p:cNvPr id="4" name="Today card"/>
          <p:cNvSpPr/>
          <p:nvPr/>
        </p:nvSpPr>
        <p:spPr>
          <a:xfrm>
            <a:off x="548640" y="1828800"/>
            <a:ext cx="493776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TODAY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60320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[Slow / manual step]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[Costly or error-prone step]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[The outcome customers settle for]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0" y="3063240"/>
            <a:ext cx="822960" cy="6400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8" name="With product card"/>
          <p:cNvSpPr/>
          <p:nvPr/>
        </p:nvSpPr>
        <p:spPr>
          <a:xfrm>
            <a:off x="6675120" y="1828800"/>
            <a:ext cx="4965192" cy="3108960"/>
          </a:xfrm>
          <a:prstGeom prst="roundRect">
            <a:avLst>
              <a:gd name="adj" fmla="val 3529"/>
            </a:avLst>
          </a:prstGeom>
          <a:solidFill>
            <a:schemeClr val="tx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995160" y="2103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WITH [PRODUCT]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95160" y="2560320"/>
            <a:ext cx="4343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[What becomes fast or automatic]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[Measurable gain: X× faster, $Y saved]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[A new outcome that wasn't possible before]</a:t>
            </a:r>
            <a:endParaRPr lang="en-US" sz="1600" dirty="0"/>
          </a:p>
        </p:txBody>
      </p:sp>
      <p:sp>
        <p:nvSpPr>
          <p:cNvPr id="11" name="Insight card"/>
          <p:cNvSpPr/>
          <p:nvPr/>
        </p:nvSpPr>
        <p:spPr>
          <a:xfrm>
            <a:off x="548640" y="5212080"/>
            <a:ext cx="11091672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5212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Our insight: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[The non-obvious thing you understand about this problem that others miss]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03 · PRODUCT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[How it works: the product in one sentence]</a:t>
            </a:r>
            <a:endParaRPr lang="en-US" sz="2800" dirty="0"/>
          </a:p>
        </p:txBody>
      </p:sp>
      <p:sp>
        <p:nvSpPr>
          <p:cNvPr id="4" name="Screenshot placeholder"/>
          <p:cNvSpPr/>
          <p:nvPr/>
        </p:nvSpPr>
        <p:spPr>
          <a:xfrm>
            <a:off x="548640" y="1783080"/>
            <a:ext cx="67665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67665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[Product screenshot, mockup, or demo GIF]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80960" y="1828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80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366760" y="1856232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[Key feature 1]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366760" y="2267712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[What it does and why the user cares]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80960" y="3291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68096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3319272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[Key feature 2]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3730752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[What it does and why the user cares]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80960" y="4754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68096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4782312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[Key feature 3]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5193792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[What it does and why the user cares]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04 · WHY NOW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Why now: [the shift that makes this possible today]</a:t>
            </a:r>
            <a:endParaRPr lang="en-US" sz="2800" dirty="0"/>
          </a:p>
        </p:txBody>
      </p:sp>
      <p:sp>
        <p:nvSpPr>
          <p:cNvPr id="4" name="Why now card 1"/>
          <p:cNvSpPr/>
          <p:nvPr/>
        </p:nvSpPr>
        <p:spPr>
          <a:xfrm>
            <a:off x="548640" y="182880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71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TECHNOLOGY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3375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[What changed in the tech]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29768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[Why this makes your solution possible, or necessary, now and not 5 years ago]</a:t>
            </a:r>
            <a:endParaRPr lang="en-US" sz="1400" dirty="0"/>
          </a:p>
        </p:txBody>
      </p:sp>
      <p:sp>
        <p:nvSpPr>
          <p:cNvPr id="10" name="Why now card 2"/>
          <p:cNvSpPr/>
          <p:nvPr/>
        </p:nvSpPr>
        <p:spPr>
          <a:xfrm>
            <a:off x="4334256" y="182880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1" name="Shape 9"/>
          <p:cNvSpPr/>
          <p:nvPr/>
        </p:nvSpPr>
        <p:spPr>
          <a:xfrm>
            <a:off x="4654296" y="2148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54296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54296" y="2971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MARKET / BEHAVIOR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54296" y="33375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[What changed in how people buy or work]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54296" y="429768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[Why this makes your solution possible, or necessary, now and not 5 years ago]</a:t>
            </a:r>
            <a:endParaRPr lang="en-US" sz="1400" dirty="0"/>
          </a:p>
        </p:txBody>
      </p:sp>
      <p:sp>
        <p:nvSpPr>
          <p:cNvPr id="16" name="Why now card 3"/>
          <p:cNvSpPr/>
          <p:nvPr/>
        </p:nvSpPr>
        <p:spPr>
          <a:xfrm>
            <a:off x="8119872" y="182880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7" name="Shape 15"/>
          <p:cNvSpPr/>
          <p:nvPr/>
        </p:nvSpPr>
        <p:spPr>
          <a:xfrm>
            <a:off x="8439912" y="2148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39912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439912" y="2971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REGULATION / COST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439912" y="33375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[What changed in rules or costs]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439912" y="429768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[Why this makes your solution possible, or necessary, now and not 5 years ago]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05 · MARKET SIZE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 $[X]B market, and we can win $[Y]M of it in [N] years</a:t>
            </a:r>
            <a:endParaRPr lang="en-US" sz="2800" dirty="0"/>
          </a:p>
        </p:txBody>
      </p:sp>
      <p:sp>
        <p:nvSpPr>
          <p:cNvPr id="4" name="TAM circle"/>
          <p:cNvSpPr/>
          <p:nvPr/>
        </p:nvSpPr>
        <p:spPr>
          <a:xfrm>
            <a:off x="822960" y="1783080"/>
            <a:ext cx="4114800" cy="41148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SAM circle"/>
          <p:cNvSpPr/>
          <p:nvPr/>
        </p:nvSpPr>
        <p:spPr>
          <a:xfrm>
            <a:off x="1417320" y="2971800"/>
            <a:ext cx="2926080" cy="29260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6" name="SOM circle"/>
          <p:cNvSpPr/>
          <p:nvPr/>
        </p:nvSpPr>
        <p:spPr>
          <a:xfrm>
            <a:off x="2011680" y="416052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96596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TAM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4846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SOM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1828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$[X]B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1847088"/>
            <a:ext cx="3959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Total addressable market (TAM)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2212848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[Everyone who could ever buy this × annual spend]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3017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$[X]B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3035808"/>
            <a:ext cx="3959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Serviceable market (SAM)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3401568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[The segment you can reach with today's product and channels]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577840" y="4206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$[X]M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4224528"/>
            <a:ext cx="3959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Obtainable in [3–5] years (SOM)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4590288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[The realistic share you can win: the number to defend]</a:t>
            </a:r>
            <a:endParaRPr lang="en-US" sz="1400" dirty="0"/>
          </a:p>
        </p:txBody>
      </p:sp>
      <p:sp>
        <p:nvSpPr>
          <p:cNvPr id="19" name="Bottom-up math"/>
          <p:cNvSpPr/>
          <p:nvPr/>
        </p:nvSpPr>
        <p:spPr>
          <a:xfrm>
            <a:off x="5577840" y="5394960"/>
            <a:ext cx="6062472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806440" y="53949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Bottom-up: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[# target customers] × $[annual contract value] = $[SAM]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06 · BUSINESS MODEL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We charge [customer] [$X per unit]: [pricing model in one line]</a:t>
            </a:r>
            <a:endParaRPr lang="en-US" sz="2800" dirty="0"/>
          </a:p>
        </p:txBody>
      </p:sp>
      <p:sp>
        <p:nvSpPr>
          <p:cNvPr id="4" name="Pricing tier 1"/>
          <p:cNvSpPr/>
          <p:nvPr/>
        </p:nvSpPr>
        <p:spPr>
          <a:xfrm>
            <a:off x="548640" y="1783080"/>
            <a:ext cx="35204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[TIER 1]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$[X]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/ [user · month]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632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[Who it's for and what's included]</a:t>
            </a:r>
            <a:endParaRPr lang="en-US" sz="1400" dirty="0"/>
          </a:p>
        </p:txBody>
      </p:sp>
      <p:sp>
        <p:nvSpPr>
          <p:cNvPr id="8" name="Pricing tier 2"/>
          <p:cNvSpPr/>
          <p:nvPr/>
        </p:nvSpPr>
        <p:spPr>
          <a:xfrm>
            <a:off x="4334256" y="1783080"/>
            <a:ext cx="3520440" cy="192024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54296" y="20116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[TIER 2]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654296" y="23317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$[X]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 / [user · month]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654296" y="30632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[Who it's for and what's included]</a:t>
            </a:r>
            <a:endParaRPr lang="en-US" sz="1400" dirty="0"/>
          </a:p>
        </p:txBody>
      </p:sp>
      <p:sp>
        <p:nvSpPr>
          <p:cNvPr id="12" name="Pricing tier 3"/>
          <p:cNvSpPr/>
          <p:nvPr/>
        </p:nvSpPr>
        <p:spPr>
          <a:xfrm>
            <a:off x="8119872" y="1783080"/>
            <a:ext cx="35204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39912" y="20116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[TIER 3]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39912" y="23317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$[X]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/ [user · month]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8439912" y="30632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[Who it's for and what's included]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UNIT ECONOMICS</a:t>
            </a:r>
            <a:endParaRPr lang="en-US" sz="1200" dirty="0"/>
          </a:p>
        </p:txBody>
      </p:sp>
      <p:sp>
        <p:nvSpPr>
          <p:cNvPr id="17" name="Unit economics 1"/>
          <p:cNvSpPr/>
          <p:nvPr/>
        </p:nvSpPr>
        <p:spPr>
          <a:xfrm>
            <a:off x="548640" y="4343400"/>
            <a:ext cx="2574036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572000"/>
            <a:ext cx="2025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$[X]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166360"/>
            <a:ext cx="2025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Avg. contract value (ACV)</a:t>
            </a:r>
            <a:endParaRPr lang="en-US" sz="1300" dirty="0"/>
          </a:p>
        </p:txBody>
      </p:sp>
      <p:sp>
        <p:nvSpPr>
          <p:cNvPr id="20" name="Unit economics 2"/>
          <p:cNvSpPr/>
          <p:nvPr/>
        </p:nvSpPr>
        <p:spPr>
          <a:xfrm>
            <a:off x="3387852" y="4343400"/>
            <a:ext cx="2574036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62172" y="4572000"/>
            <a:ext cx="2025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[X]%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3662172" y="5166360"/>
            <a:ext cx="2025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Gross margin</a:t>
            </a:r>
            <a:endParaRPr lang="en-US" sz="1300" dirty="0"/>
          </a:p>
        </p:txBody>
      </p:sp>
      <p:sp>
        <p:nvSpPr>
          <p:cNvPr id="23" name="Unit economics 3"/>
          <p:cNvSpPr/>
          <p:nvPr/>
        </p:nvSpPr>
        <p:spPr>
          <a:xfrm>
            <a:off x="6227064" y="4343400"/>
            <a:ext cx="2574036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01384" y="4572000"/>
            <a:ext cx="2025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[N] mo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6501384" y="5166360"/>
            <a:ext cx="2025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CAC payback period</a:t>
            </a:r>
            <a:endParaRPr lang="en-US" sz="1300" dirty="0"/>
          </a:p>
        </p:txBody>
      </p:sp>
      <p:sp>
        <p:nvSpPr>
          <p:cNvPr id="26" name="Unit economics 4"/>
          <p:cNvSpPr/>
          <p:nvPr/>
        </p:nvSpPr>
        <p:spPr>
          <a:xfrm>
            <a:off x="9066276" y="4343400"/>
            <a:ext cx="2574036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340596" y="4572000"/>
            <a:ext cx="2025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[X]:1</a:t>
            </a:r>
            <a:endParaRPr lang="en-US" sz="2800" dirty="0"/>
          </a:p>
        </p:txBody>
      </p:sp>
      <p:sp>
        <p:nvSpPr>
          <p:cNvPr id="28" name="Text 26"/>
          <p:cNvSpPr txBox="1"/>
          <p:nvPr/>
        </p:nvSpPr>
        <p:spPr>
          <a:xfrm>
            <a:off x="9340596" y="5166360"/>
            <a:ext cx="20253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LTV : CAC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07 · TRACTION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[Key metric] grew [X]× in [N] months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94944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raction stat 1"/>
          <p:cNvSpPr/>
          <p:nvPr/>
        </p:nvSpPr>
        <p:spPr>
          <a:xfrm>
            <a:off x="7863840" y="1783080"/>
            <a:ext cx="3776472" cy="128016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183880" y="1965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$[X]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Monthly recurring revenue</a:t>
            </a:r>
            <a:endParaRPr lang="en-US" sz="1400" dirty="0"/>
          </a:p>
        </p:txBody>
      </p:sp>
      <p:sp>
        <p:nvSpPr>
          <p:cNvPr id="8" name="Traction stat 2"/>
          <p:cNvSpPr/>
          <p:nvPr/>
        </p:nvSpPr>
        <p:spPr>
          <a:xfrm>
            <a:off x="7863840" y="3246120"/>
            <a:ext cx="377647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183880" y="3429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[X]%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8183880" y="4023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Month-over-month growth</a:t>
            </a:r>
            <a:endParaRPr lang="en-US" sz="1400" dirty="0"/>
          </a:p>
        </p:txBody>
      </p:sp>
      <p:sp>
        <p:nvSpPr>
          <p:cNvPr id="11" name="Traction stat 3"/>
          <p:cNvSpPr/>
          <p:nvPr/>
        </p:nvSpPr>
        <p:spPr>
          <a:xfrm>
            <a:off x="7863840" y="4709160"/>
            <a:ext cx="377647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183880" y="4892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[X]%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8183880" y="5486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Net revenue retention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08 · COMPETITION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[Company] is the only [category] that [key differentiator]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↑  [Y axis: e.g., Depth / power]</a:t>
            </a:r>
            <a:endParaRPr lang="en-US" sz="1200" dirty="0"/>
          </a:p>
        </p:txBody>
      </p:sp>
      <p:sp>
        <p:nvSpPr>
          <p:cNvPr id="5" name="Matrix background"/>
          <p:cNvSpPr/>
          <p:nvPr/>
        </p:nvSpPr>
        <p:spPr>
          <a:xfrm>
            <a:off x="914400" y="2103120"/>
            <a:ext cx="548640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2103120"/>
            <a:ext cx="0" cy="35661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886200"/>
            <a:ext cx="54864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5760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[X axis: e.g., Ease of use]  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23774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840480" y="2377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[Your company]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80160" y="2651760"/>
            <a:ext cx="320040" cy="3200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737360" y="2651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[Competitor A]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0" y="4389120"/>
            <a:ext cx="320040" cy="3200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0" y="4389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[Competitor B]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280160" y="4846320"/>
            <a:ext cx="320040" cy="3200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737360" y="4846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[Competitor C]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WHY WE WIN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49440" y="2560320"/>
            <a:ext cx="411480" cy="4114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4944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2578608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[Unfair advantage 1]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944368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[e.g., proprietary data, network effects, distribution, deep tech]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49440" y="3657600"/>
            <a:ext cx="411480" cy="4114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94944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589520" y="3675888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[Unfair advantage 2]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0" y="4041648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[e.g., proprietary data, network effects, distribution, deep tech]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949440" y="4754880"/>
            <a:ext cx="411480" cy="4114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949440" y="4754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589520" y="4773168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[Unfair advantage 3]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589520" y="5138928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[e.g., proprietary data, network effects, distribution, deep tech]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09 · GO-TO-MARKET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How we reach customers: [primary channel]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25880" y="2148840"/>
            <a:ext cx="287121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548640" y="26974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STEP 1 · LAND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1752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[e.g., Founder-led sales to 10 design partners]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404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[Timing, target, and what success looks like]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34256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34256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111496" y="2148840"/>
            <a:ext cx="287121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4334256" y="26974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STEP 2 · EXPAND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334256" y="301752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[e.g., Referrals and upsell within accounts]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334256" y="38404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[Timing, target, and what success looks like]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19872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19872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119872" y="26974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STEP 3 · SCALE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119872" y="301752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[e.g., Inside sales team + partner channel]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119872" y="38404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[Timing, target, and what success looks like]</a:t>
            </a:r>
            <a:endParaRPr lang="en-US" sz="1400" dirty="0"/>
          </a:p>
        </p:txBody>
      </p:sp>
      <p:sp>
        <p:nvSpPr>
          <p:cNvPr id="21" name="GTM card 1"/>
          <p:cNvSpPr/>
          <p:nvPr/>
        </p:nvSpPr>
        <p:spPr>
          <a:xfrm>
            <a:off x="548640" y="4663440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4846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Ideal customer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212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[Industry, company size, buyer title]</a:t>
            </a:r>
            <a:endParaRPr lang="en-US" sz="1400" dirty="0"/>
          </a:p>
        </p:txBody>
      </p:sp>
      <p:sp>
        <p:nvSpPr>
          <p:cNvPr id="24" name="GTM card 2"/>
          <p:cNvSpPr/>
          <p:nvPr/>
        </p:nvSpPr>
        <p:spPr>
          <a:xfrm>
            <a:off x="4334256" y="4663440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08576" y="4846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Sales motion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608576" y="5212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[Self-serve · Product-led · Sales-led]</a:t>
            </a:r>
            <a:endParaRPr lang="en-US" sz="1400" dirty="0"/>
          </a:p>
        </p:txBody>
      </p:sp>
      <p:sp>
        <p:nvSpPr>
          <p:cNvPr id="27" name="GTM card 3"/>
          <p:cNvSpPr/>
          <p:nvPr/>
        </p:nvSpPr>
        <p:spPr>
          <a:xfrm>
            <a:off x="8119872" y="4663440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394192" y="4846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Proof it works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394192" y="5212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[CAC by channel, conversion rate, pipeline]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10 · TEAM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Why us: [the unfair advantage this team brings]</a:t>
            </a:r>
            <a:endParaRPr lang="en-US" sz="2800" dirty="0"/>
          </a:p>
        </p:txBody>
      </p:sp>
      <p:sp>
        <p:nvSpPr>
          <p:cNvPr id="4" name="Team card 1"/>
          <p:cNvSpPr/>
          <p:nvPr/>
        </p:nvSpPr>
        <p:spPr>
          <a:xfrm>
            <a:off x="548640" y="1783080"/>
            <a:ext cx="2574036" cy="3520440"/>
          </a:xfrm>
          <a:prstGeom prst="roundRect">
            <a:avLst>
              <a:gd name="adj" fmla="val 4263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1188720" cy="11887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[Photo]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20253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[Name]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20253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[Role]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06240"/>
            <a:ext cx="20253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[Prior company, exit, or domain expertise: why you're the one to build this]</a:t>
            </a:r>
            <a:endParaRPr lang="en-US" sz="1300" dirty="0"/>
          </a:p>
        </p:txBody>
      </p:sp>
      <p:sp>
        <p:nvSpPr>
          <p:cNvPr id="10" name="Team card 2"/>
          <p:cNvSpPr/>
          <p:nvPr/>
        </p:nvSpPr>
        <p:spPr>
          <a:xfrm>
            <a:off x="3387852" y="1783080"/>
            <a:ext cx="2574036" cy="3520440"/>
          </a:xfrm>
          <a:prstGeom prst="roundRect">
            <a:avLst>
              <a:gd name="adj" fmla="val 4263"/>
            </a:avLst>
          </a:prstGeom>
          <a:solidFill>
            <a:schemeClr val="bg2"/>
          </a:solidFill>
          <a:ln/>
        </p:spPr>
      </p:sp>
      <p:sp>
        <p:nvSpPr>
          <p:cNvPr id="11" name="Shape 9"/>
          <p:cNvSpPr/>
          <p:nvPr/>
        </p:nvSpPr>
        <p:spPr>
          <a:xfrm>
            <a:off x="3662172" y="2057400"/>
            <a:ext cx="1188720" cy="11887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62172" y="20574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[Photo]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662172" y="3429000"/>
            <a:ext cx="20253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[Name]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662172" y="3794760"/>
            <a:ext cx="20253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[Role]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62172" y="4206240"/>
            <a:ext cx="20253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[Prior company, exit, or domain expertise: why you're the one to build this]</a:t>
            </a:r>
            <a:endParaRPr lang="en-US" sz="1300" dirty="0"/>
          </a:p>
        </p:txBody>
      </p:sp>
      <p:sp>
        <p:nvSpPr>
          <p:cNvPr id="16" name="Team card 3"/>
          <p:cNvSpPr/>
          <p:nvPr/>
        </p:nvSpPr>
        <p:spPr>
          <a:xfrm>
            <a:off x="6227064" y="1783080"/>
            <a:ext cx="2574036" cy="3520440"/>
          </a:xfrm>
          <a:prstGeom prst="roundRect">
            <a:avLst>
              <a:gd name="adj" fmla="val 4263"/>
            </a:avLst>
          </a:prstGeom>
          <a:solidFill>
            <a:schemeClr val="bg2"/>
          </a:solidFill>
          <a:ln/>
        </p:spPr>
      </p:sp>
      <p:sp>
        <p:nvSpPr>
          <p:cNvPr id="17" name="Shape 15"/>
          <p:cNvSpPr/>
          <p:nvPr/>
        </p:nvSpPr>
        <p:spPr>
          <a:xfrm>
            <a:off x="6501384" y="2057400"/>
            <a:ext cx="1188720" cy="11887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01384" y="20574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[Photo]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501384" y="3429000"/>
            <a:ext cx="20253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[Name]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501384" y="3794760"/>
            <a:ext cx="20253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[Role]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01384" y="4206240"/>
            <a:ext cx="20253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[Prior company, exit, or domain expertise: why you're the one to build this]</a:t>
            </a:r>
            <a:endParaRPr lang="en-US" sz="1300" dirty="0"/>
          </a:p>
        </p:txBody>
      </p:sp>
      <p:sp>
        <p:nvSpPr>
          <p:cNvPr id="22" name="Team card 4"/>
          <p:cNvSpPr/>
          <p:nvPr/>
        </p:nvSpPr>
        <p:spPr>
          <a:xfrm>
            <a:off x="9066276" y="1783080"/>
            <a:ext cx="2574036" cy="3520440"/>
          </a:xfrm>
          <a:prstGeom prst="roundRect">
            <a:avLst>
              <a:gd name="adj" fmla="val 4263"/>
            </a:avLst>
          </a:prstGeom>
          <a:solidFill>
            <a:schemeClr val="bg2"/>
          </a:solidFill>
          <a:ln/>
        </p:spPr>
      </p:sp>
      <p:sp>
        <p:nvSpPr>
          <p:cNvPr id="23" name="Shape 21"/>
          <p:cNvSpPr/>
          <p:nvPr/>
        </p:nvSpPr>
        <p:spPr>
          <a:xfrm>
            <a:off x="9340596" y="2057400"/>
            <a:ext cx="1188720" cy="11887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340596" y="20574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[Photo]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340596" y="3429000"/>
            <a:ext cx="20253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[Name]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340596" y="3794760"/>
            <a:ext cx="20253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[Role]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340596" y="4206240"/>
            <a:ext cx="20253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[Prior company, exit, or domain expertise: why you're the one to build this]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5321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Advisors &amp; investors: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[Name (credential)]  ·  [Name (credential)]  ·  [Name (credential)]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11 · FINANCIALS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Path to $[X]M revenue by [year]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862072"/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[Year 1]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[Year 2]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[Year 3]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[Year 4]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[Year 5]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Revenue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Gross margin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Operating expenses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Net burn / EBITDA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Ending cash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Headcount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Assumptions card"/>
          <p:cNvSpPr/>
          <p:nvPr/>
        </p:nvSpPr>
        <p:spPr>
          <a:xfrm>
            <a:off x="548640" y="4754880"/>
            <a:ext cx="1109167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4919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ASSUMPTIONS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230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[Growth rate and what drives it]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[Pricing, churn, and sales capacity assumptions]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[When you reach breakeven, or what the next round funds]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12 · THE ASK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We're raising $[X]M to reach [milestone] in [N] months</a:t>
            </a:r>
            <a:endParaRPr lang="en-US" sz="2800" dirty="0"/>
          </a:p>
        </p:txBody>
      </p:sp>
      <p:sp>
        <p:nvSpPr>
          <p:cNvPr id="4" name="Raise card"/>
          <p:cNvSpPr/>
          <p:nvPr/>
        </p:nvSpPr>
        <p:spPr>
          <a:xfrm>
            <a:off x="548640" y="1783080"/>
            <a:ext cx="4206240" cy="4206240"/>
          </a:xfrm>
          <a:prstGeom prst="roundRect">
            <a:avLst>
              <a:gd name="adj" fmla="val 2609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RAISING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$[X]M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8404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accent5"/>
                </a:solidFill>
              </a:rPr>
              <a:t>[SAFE / priced round]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accent5"/>
                </a:solidFill>
              </a:rPr>
              <a:t>[Pre-seed / Seed / Series A]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accent5"/>
                </a:solidFill>
              </a:rPr>
              <a:t>[$X committed · Lead: (name)]</a:t>
            </a:r>
            <a:endParaRPr lang="en-US" sz="1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120640" y="1783080"/>
          <a:ext cx="6519672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Milestone 1"/>
          <p:cNvSpPr/>
          <p:nvPr/>
        </p:nvSpPr>
        <p:spPr>
          <a:xfrm>
            <a:off x="5120640" y="4617720"/>
            <a:ext cx="2020824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349240" y="4773168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MILESTONE 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49240" y="5074920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[e.g., $1M ARR]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349240" y="5504688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[by month N]</a:t>
            </a:r>
            <a:endParaRPr lang="en-US" sz="1300" dirty="0"/>
          </a:p>
        </p:txBody>
      </p:sp>
      <p:sp>
        <p:nvSpPr>
          <p:cNvPr id="13" name="Milestone 2"/>
          <p:cNvSpPr/>
          <p:nvPr/>
        </p:nvSpPr>
        <p:spPr>
          <a:xfrm>
            <a:off x="7370064" y="4617720"/>
            <a:ext cx="2020824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598664" y="4773168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MILESTONE 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598664" y="5074920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[e.g., 50 logos]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598664" y="5504688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[by month N]</a:t>
            </a:r>
            <a:endParaRPr lang="en-US" sz="1300" dirty="0"/>
          </a:p>
        </p:txBody>
      </p:sp>
      <p:sp>
        <p:nvSpPr>
          <p:cNvPr id="17" name="Milestone 3"/>
          <p:cNvSpPr/>
          <p:nvPr/>
        </p:nvSpPr>
        <p:spPr>
          <a:xfrm>
            <a:off x="9619488" y="4617720"/>
            <a:ext cx="2020824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848088" y="4773168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RUNWAY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848088" y="5074920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[N] months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9848088" y="5504688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[to Series X metrics]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[Your vision in one bold sentence: what the world looks like if you win]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[Founder name]  ·  [email@company.com]  ·  [phone]  ·  [company.com]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Appendix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[Detailed financials  ·  Cohort and retention data  ·  Customer case studies  ·  Technical architecture  ·  Product roadmap  ·  Cap table]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tch Template">
  <a:themeElements>
    <a:clrScheme name="Pitch Template">
      <a:dk1>
        <a:srgbClr val="16181D"/>
      </a:dk1>
      <a:lt1>
        <a:srgbClr val="FFFFFF"/>
      </a:lt1>
      <a:dk2>
        <a:srgbClr val="4A505C"/>
      </a:dk2>
      <a:lt2>
        <a:srgbClr val="F2F3F5"/>
      </a:lt2>
      <a:accent1>
        <a:srgbClr val="C2391A"/>
      </a:accent1>
      <a:accent2>
        <a:srgbClr val="1F8A70"/>
      </a:accent2>
      <a:accent3>
        <a:srgbClr val="E3A42B"/>
      </a:accent3>
      <a:accent4>
        <a:srgbClr val="8A93A3"/>
      </a:accent4>
      <a:accent5>
        <a:srgbClr val="D5D9E0"/>
      </a:accent5>
      <a:accent6>
        <a:srgbClr val="5B3FD1"/>
      </a:accent6>
      <a:hlink>
        <a:srgbClr val="C2391A"/>
      </a:hlink>
      <a:folHlink>
        <a:srgbClr val="8A93A3"/>
      </a:folHlink>
    </a:clrScheme>
    <a:fontScheme name="Pitch Templat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>PptxGenJS Presentation</dc:subject>
  <dc:creator>PptxGenJS</dc:creator>
  <cp:lastModifiedBy>PptxGenJS</cp:lastModifiedBy>
  <cp:revision>1</cp:revision>
  <dcterms:created xsi:type="dcterms:W3CDTF">2026-10-11T23:19:06Z</dcterms:created>
  <dcterms:modified xsi:type="dcterms:W3CDTF">2026-10-11T23:19:06Z</dcterms:modified>
</cp:coreProperties>
</file>