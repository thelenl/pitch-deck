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2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a88248ef-3056-a1fb-f011-c0a307f67cda}">
          <p14:sldIdLst>
            <p14:sldId id="256"/>
          </p14:sldIdLst>
        </p14:section>
        <p14:section name="Opportunity" id="{7d71331f-a3d2-b97e-8669-f6b5031a4be6}">
          <p14:sldIdLst>
            <p14:sldId id="257"/>
            <p14:sldId id="258"/>
            <p14:sldId id="259"/>
            <p14:sldId id="260"/>
            <p14:sldId id="261"/>
          </p14:sldIdLst>
        </p14:section>
        <p14:section name="Business" id="{05c54f59-6206-83a7-9b3f-eec3fc8febca}">
          <p14:sldIdLst>
            <p14:sldId id="262"/>
            <p14:sldId id="263"/>
            <p14:sldId id="264"/>
            <p14:sldId id="265"/>
          </p14:sldIdLst>
        </p14:section>
        <p14:section name="Team &amp; Financials" id="{0a1eb04d-c9f1-dba9-79a8-a1509925e195}">
          <p14:sldIdLst>
            <p14:sldId id="266"/>
            <p14:sldId id="267"/>
            <p14:sldId id="268"/>
          </p14:sldIdLst>
        </p14:section>
        <p14:section name="Close" id="{af72aa7b-e5eb-620f-b18a-16052be3f0fc}">
          <p14:sldIdLst>
            <p14:sldId id="269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8F8F8F"/>
                </a:solidFill>
                <a:latin typeface="+mj-lt"/>
              </a:defRPr>
            </a:pPr>
            <a:r>
              <a:rPr sz="1300" b="0" i="0" u="none" strike="noStrike">
                <a:solidFill>
                  <a:srgbClr val="8F8F8F"/>
                </a:solidFill>
                <a:latin typeface="+mj-lt"/>
              </a:rPr>
              <a:t>[Revenue / users] by month (sample data: replace)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[Metric]</c:v>
                </c:pt>
              </c:strCache>
            </c:strRef>
          </c:tx>
          <c:spPr>
            <a:solidFill>
              <a:srgbClr val="3DFF8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EDEDED"/>
                    </a:solidFill>
                    <a:latin typeface="+mj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[M1]</c:v>
                  </c:pt>
                  <c:pt idx="1">
                    <c:v>[M2]</c:v>
                  </c:pt>
                  <c:pt idx="2">
                    <c:v>[M3]</c:v>
                  </c:pt>
                  <c:pt idx="3">
                    <c:v>[M4]</c:v>
                  </c:pt>
                  <c:pt idx="4">
                    <c:v>[M5]</c:v>
                  </c:pt>
                  <c:pt idx="5">
                    <c:v>[M6]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</c:v>
                </c:pt>
                <c:pt idx="1">
                  <c:v>14</c:v>
                </c:pt>
                <c:pt idx="2">
                  <c:v>19</c:v>
                </c:pt>
                <c:pt idx="3">
                  <c:v>26</c:v>
                </c:pt>
                <c:pt idx="4">
                  <c:v>34</c:v>
                </c:pt>
                <c:pt idx="5">
                  <c:v>45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EDEDED"/>
                  </a:solidFill>
                  <a:latin typeface="+mj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5C5C5C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F8F8F"/>
                </a:solidFill>
                <a:latin typeface="+mj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9525" cap="flat">
              <a:solidFill>
                <a:srgbClr val="2A2A2A"/>
              </a:solidFill>
              <a:prstDash val="dash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41414"/>
        </a:solidFill>
        <a:ln>
          <a:noFill/>
        </a:ln>
        <a:effectLst/>
      </c:spPr>
    </c:plotArea>
    <c:plotVisOnly val="1"/>
    <c:dispBlanksAs val="span"/>
  </c:chart>
  <c:spPr>
    <a:solidFill>
      <a:srgbClr val="141414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8F8F8F"/>
                </a:solidFill>
                <a:latin typeface="+mj-lt"/>
              </a:defRPr>
            </a:pPr>
            <a:r>
              <a:rPr sz="1300" b="0" i="0" u="none" strike="noStrike">
                <a:solidFill>
                  <a:srgbClr val="8F8F8F"/>
                </a:solidFill>
                <a:latin typeface="+mj-lt"/>
              </a:rPr>
              <a:t>Use of funds (placeholder split: replace)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Use of funds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3DFF8A"/>
              </a:solidFill>
              <a:ln w="19050" cap="flat">
                <a:solidFill>
                  <a:srgbClr val="141414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FFB000"/>
              </a:solidFill>
              <a:ln w="19050" cap="flat">
                <a:solidFill>
                  <a:srgbClr val="141414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8F8F8F"/>
              </a:solidFill>
              <a:ln w="19050" cap="flat">
                <a:solidFill>
                  <a:srgbClr val="141414"/>
                </a:solidFill>
                <a:prstDash val="solid"/>
                <a:round/>
              </a:ln>
              <a:effectLst/>
            </c:spPr>
          </c:dPt>
          <c:dPt>
            <c:idx val="3"/>
            <c:bubble3D val="0"/>
            <c:spPr>
              <a:solidFill>
                <a:srgbClr val="5C5C5C"/>
              </a:solidFill>
              <a:ln w="19050" cap="flat">
                <a:solidFill>
                  <a:srgbClr val="141414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Product &amp; engineering</c:v>
                </c:pt>
                <c:pt idx="1">
                  <c:v>Sales &amp; marketing</c:v>
                </c:pt>
                <c:pt idx="2">
                  <c:v>Operations &amp; G&amp;A</c:v>
                </c:pt>
                <c:pt idx="3">
                  <c:v>[Other]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25</c:v>
                </c:pt>
                <c:pt idx="1">
                  <c:v>25</c:v>
                </c:pt>
                <c:pt idx="2">
                  <c:v>25</c:v>
                </c:pt>
                <c:pt idx="3">
                  <c:v>25</c:v>
                </c:pt>
              </c:numCache>
            </c:numRef>
          </c:val>
        </c:ser>
        <c:firstSliceAng val="0"/>
        <c:holeSize val="62"/>
      </c:doughnutChart>
      <c:spPr>
        <a:solidFill>
          <a:srgbClr val="141414"/>
        </a:solidFill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300">
              <a:solidFill>
                <a:srgbClr val="EDEDED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solidFill>
      <a:srgbClr val="141414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/ ONE-LINER
If an investor reads only this slide, they should know what you do. Use a plain-language one-liner (YC style: 'We help [who] do [what]'), not a slogan. Avoid jargon and buzzwords.
The raise chip is optional; some founders prefer to save the ask for the end. In a cold, send-ahead deck it's useful up front.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 (Sequoia: 'Describe the pain of the customer'; YC: 'Why is this a big, urgent problem?')
- Who has the problem, specifically? Name the customer segment.
- How painful is it? Quantify in time, money, or risk.
- How do they solve it today, and why does that fall short?
- One sharp stat or a short customer quote is more persuasive than a list.
Investors need to believe the problem is real, frequent, and expensive before they care about your solution.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SOLUTION (Sequoia: 'Demonstrate your company's value proposition')
- Focus on what changes for the customer, not on a feature list.
- Make the before/after contrast obvious and, if possible, measurable.
- The 'insight' line is your secret: what you know that incumbents and other founders don't. Strong insights are often counter-intuitive.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PRODUCT / DEMO
- Show, don't tell: real screenshots beat mockups; a short GIF or live demo beats both.
- Call out the 'magic moment', the point where the user gets value.
- Mention the product roadmap only briefly; you can put it in the appendix.
- If you're pre-product, show the prototype and what you've validated with users.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NOW (Sequoia: 'Set up the historical evolution of your category. Why hasn't this been done before?')
- Investors look hard at this slide: great ideas often failed because they were too early.
- Common 'why now' drivers: a new platform or technology (e.g., AI models, cheaper sensors), a regulatory change, a behavior shift, a collapse in cost, or a market dislocation.
- You don't need all three cards; one compelling shift is better than three weak 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MARKET SIZE (Sequoia: 'Identify/profile the customer you cater to')
- Build the number bottom-up: (number of target customers) × (what each pays per year). Top-down figures ('1% of a $50B market') are a red flag to most VCs.
- Venture investors generally need to see a path to a $1B+ company, so the TAM should support that.
- Show your math, or keep it ready for the appendix; cite sources for any third-party numbers.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BUSINESS MODEL (Sequoia: 'Revenue model, pricing, average account size, lifetime value')
- Who pays, how much, how often? (subscription, usage-based, transaction fee, marketplace take rate…)
- Swap the pricing tiers for a single price if that's simpler; delete what you don't need.
- Unit economics: only show what you actually have. At pre-seed it's fine to show target or early numbers, labeled as such.
- Rough benchmarks investors use for SaaS: LTV:CAC ≥ 3:1, CAC payback &lt; 12–18 months, gross margin 70%+.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TRACTION (YC: 'This is often the most important slide')
- Put your single best number in the headline and make it big.
- Show growth over time, not a snapshot: a chart going up and to the right is the point of this slide.
- The chart uses SAMPLE data. Right-click it → Edit Data to enter your real numbers.
- Pick metrics that fit your stage: revenue/MRR, active users, retention, paid pilots, LOIs, waitlist, notable customer logos.
- If traction is your strongest card, move this slide up to right after the Solution.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COMPETITION (Sequoia: 'List competitors; list your plan to win')
- Never say 'we have no competitors'. It signals naïveté or no market. Include the status quo (spreadsheets, doing nothing) and big incumbents.
- Pick 2×2 axes that genuinely matter to customers and honestly put you in the top-right. If the axes feel contrived, use a comparison table instead.
- The 'why we win' column matters more than the chart: what's defensible and gets stronger over time?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GO-TO-MARKET
- How do you find, win, and keep customers, and how does that scale?
- Be specific about the first channel that works; 'viral growth' or 'partnerships' with no evidence won't land.
- If you have data (CAC by channel, conversion rates, sales cycle length, pipeline), it belongs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TEAM (Sequoia: 'Founders, management, board of directors/advisors')
- At early stages, investors are betting on the team more than anything else.
- For each person, give the one credential that makes them uniquely suited to THIS problem (domain expertise, prior startup or exit, technical depth), not a full CV.
- Show how long the founders have worked together and that you're full-time.
- Delete or add cards to match your team; notable advisors and angels go in the bottom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FINANCIALS
- Keep it high level: 3–5 years of revenue, burn, and headcount. Detailed models go in the appendix or data room.
- Investors know projections are guesses; they're judging whether your assumptions are reasonable and whether you understand your business's drivers.
- Pre-revenue? Show the plan for the next 18–24 months and the milestones that unlock the next round instead.
- Rename the year columns (e.g., 2027, 2028…) and delete rows you don't need.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ASK / USE OF FUNDS
- State the amount, instrument (SAFE or priced round), and anything already committed or a lead investor.
- Tie the money to milestones: 'this round gets us to X, which sets us up for the next round'. Investors fund milestones, not runway.
- 18–24 months of runway is a typical target.
- The doughnut uses a placeholder 25/25/25/25 split. Right-click → Edit Data to change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VISION / CLOSE
- End on the big picture: if everything works, what does this company become in 10 years?
- Leave contact details on screen during Q&amp;A.
- Optionally restate the ask in one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APPENDIX
Backup slides for diligence questions. Keep them out of the main flow, but have them ready. Typical contents: detailed model, cohort/retention curves, customer references and case studies, technical deep-dive, roadmap, cap table, and full TAM math.
Duplicate any content slide (right-click → Duplicate Slide) to build these.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TITLE_DARK-image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CONTENT-image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STATEMENT_DARK-image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57400"/>
            <a:ext cx="10698480" cy="12344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6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1188720" y="3566160"/>
            <a:ext cx="996696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200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2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5806440"/>
            <a:ext cx="100584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dirty="0">
                <a:solidFill>
                  <a:schemeClr val="bg2"/>
                </a:solidFill>
                <a:latin typeface="+mj-lt" pitchFamily="34" charset="0"/>
                <a:ea typeface="+mj-lt" pitchFamily="34" charset="-122"/>
                <a:cs typeface="+mj-lt" pitchFamily="34" charset="-120"/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b="1" spc="100" kern="0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91672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4" name="Shape 0"/>
          <p:cNvSpPr/>
          <p:nvPr/>
        </p:nvSpPr>
        <p:spPr>
          <a:xfrm>
            <a:off x="548640" y="6437376"/>
            <a:ext cx="82296" cy="8229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5" name="Text 1"/>
          <p:cNvSpPr/>
          <p:nvPr/>
        </p:nvSpPr>
        <p:spPr>
          <a:xfrm>
            <a:off x="73152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[Company name] · Confidential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bg2"/>
                </a:solidFill>
                <a:latin typeface="+mj-lt"/>
                <a:ea typeface="+mj-lt"/>
                <a:cs typeface="+mj-lt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_DARK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2194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4572000"/>
            <a:ext cx="1069848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bg2"/>
                </a:solidFill>
                <a:latin typeface="+mj-lt" pitchFamily="34" charset="0"/>
                <a:ea typeface="+mj-lt" pitchFamily="34" charset="-122"/>
                <a:cs typeface="+mj-lt" pitchFamily="34" charset="-120"/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bg2"/>
                </a:solidFill>
                <a:latin typeface="+mj-lt"/>
                <a:ea typeface="+mj-lt"/>
                <a:cs typeface="+mj-lt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go placeholder"/>
          <p:cNvSpPr/>
          <p:nvPr/>
        </p:nvSpPr>
        <p:spPr>
          <a:xfrm>
            <a:off x="731520" y="640080"/>
            <a:ext cx="1463040" cy="731520"/>
          </a:xfrm>
          <a:prstGeom prst="rect">
            <a:avLst/>
          </a:prstGeom>
          <a:ln w="12700">
            <a:solidFill>
              <a:schemeClr val="accent4"/>
            </a:solidFill>
            <a:prstDash val="dash"/>
          </a:ln>
        </p:spPr>
      </p:sp>
      <p:sp>
        <p:nvSpPr>
          <p:cNvPr id="3" name="Text 1"/>
          <p:cNvSpPr txBox="1"/>
          <p:nvPr/>
        </p:nvSpPr>
        <p:spPr>
          <a:xfrm>
            <a:off x="731520" y="64008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[Logo]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858000" y="868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● </a:t>
            </a:r>
            <a:pPr algn="r" indent="0" marL="0">
              <a:buNone/>
            </a:pPr>
            <a:r>
              <a:rPr lang="en-US" sz="1100" b="1" spc="100" kern="0" dirty="0">
                <a:solidFill>
                  <a:schemeClr val="bg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CONFIDENTIAL // INVESTOR BUILD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6916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$ </a:t>
            </a:r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./pitch --investor</a:t>
            </a:r>
            <a:endParaRPr lang="en-US" sz="1600" dirty="0"/>
          </a:p>
        </p:txBody>
      </p:sp>
      <p:sp>
        <p:nvSpPr>
          <p:cNvPr id="6" name="Cursor"/>
          <p:cNvSpPr/>
          <p:nvPr/>
        </p:nvSpPr>
        <p:spPr>
          <a:xfrm>
            <a:off x="3310128" y="1719072"/>
            <a:ext cx="128016" cy="24688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7" name="Text 0"/>
          <p:cNvSpPr/>
          <p:nvPr>
            <p:ph idx="100" type="title" hasCustomPrompt="1"/>
          </p:nvPr>
        </p:nvSpPr>
        <p:spPr>
          <a:xfrm>
            <a:off x="731520" y="2057400"/>
            <a:ext cx="10698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6600" b="1" dirty="0">
                <a:solidFill>
                  <a:schemeClr val="bg1"/>
                </a:solidFill>
              </a:rPr>
              <a:t>[Company name]</a:t>
            </a:r>
            <a:endParaRPr lang="en-US" sz="66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5661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&gt;</a:t>
            </a:r>
            <a:endParaRPr lang="en-US" sz="2200" dirty="0"/>
          </a:p>
        </p:txBody>
      </p:sp>
      <p:sp>
        <p:nvSpPr>
          <p:cNvPr id="9" name="Text 0"/>
          <p:cNvSpPr/>
          <p:nvPr>
            <p:ph idx="101" type="body" hasCustomPrompt="1"/>
          </p:nvPr>
        </p:nvSpPr>
        <p:spPr>
          <a:xfrm>
            <a:off x="1188720" y="356616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[One-liner: We help (who) do (what) by (how)]</a:t>
            </a:r>
            <a:endParaRPr lang="en-US" sz="2200" dirty="0"/>
          </a:p>
        </p:txBody>
      </p:sp>
      <p:sp>
        <p:nvSpPr>
          <p:cNvPr id="10" name="Raise chip"/>
          <p:cNvSpPr/>
          <p:nvPr/>
        </p:nvSpPr>
        <p:spPr>
          <a:xfrm>
            <a:off x="731520" y="4617720"/>
            <a:ext cx="5394960" cy="502920"/>
          </a:xfrm>
          <a:prstGeom prst="rect">
            <a:avLst/>
          </a:prstGeom>
          <a:solidFill>
            <a:schemeClr val="accent1">
              <a:alpha val="8000"/>
            </a:schemeClr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4617720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Raising $[X]M · [Pre-seed / Seed / Series A]</a:t>
            </a:r>
            <a:endParaRPr lang="en-US" sz="1400" dirty="0"/>
          </a:p>
        </p:txBody>
      </p:sp>
      <p:sp>
        <p:nvSpPr>
          <p:cNvPr id="12" name="Text 0"/>
          <p:cNvSpPr/>
          <p:nvPr>
            <p:ph idx="102" type="body" hasCustomPrompt="1"/>
          </p:nvPr>
        </p:nvSpPr>
        <p:spPr>
          <a:xfrm>
            <a:off x="731520" y="58064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[Founder name], [Title]  ·  [email@company.com]  ·  [Month YYYY]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// 01 · THE PROBLEM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[Target customers] struggle to [do X], and it costs them [time / money]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6400800" cy="0"/>
          </a:xfrm>
          <a:prstGeom prst="line">
            <a:avLst/>
          </a:prstGeom>
          <a:noFill/>
          <a:ln w="12700">
            <a:solidFill>
              <a:schemeClr val="tx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075688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210312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[Pain point 1]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251460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[Who feels it, how often, and what it costs them]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200400"/>
            <a:ext cx="6400800" cy="0"/>
          </a:xfrm>
          <a:prstGeom prst="line">
            <a:avLst/>
          </a:prstGeom>
          <a:noFill/>
          <a:ln w="12700">
            <a:solidFill>
              <a:schemeClr val="tx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3401568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02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342900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[Pain point 2]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384048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[Make it concrete: a real customer story beats an abstract claim]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4526280"/>
            <a:ext cx="6400800" cy="0"/>
          </a:xfrm>
          <a:prstGeom prst="line">
            <a:avLst/>
          </a:prstGeom>
          <a:noFill/>
          <a:ln w="12700">
            <a:solidFill>
              <a:schemeClr val="tx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4727448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03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475488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How it's handled today: [current workaround]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516636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[Spreadsheets, manual work, legacy tools, and why they fall short]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5852160"/>
            <a:ext cx="6400800" cy="0"/>
          </a:xfrm>
          <a:prstGeom prst="line">
            <a:avLst/>
          </a:prstGeom>
          <a:noFill/>
          <a:ln w="12700">
            <a:solidFill>
              <a:schemeClr val="tx2"/>
            </a:solidFill>
            <a:prstDash val="solid"/>
          </a:ln>
        </p:spPr>
      </p:sp>
      <p:sp>
        <p:nvSpPr>
          <p:cNvPr id="17" name="Stat pane"/>
          <p:cNvSpPr/>
          <p:nvPr/>
        </p:nvSpPr>
        <p:spPr>
          <a:xfrm>
            <a:off x="7406640" y="1874520"/>
            <a:ext cx="4233672" cy="397764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680960" y="2103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bg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problem.stat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10881360" y="20756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▲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7680960" y="251460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[XX%]</a:t>
            </a:r>
            <a:endParaRPr lang="en-US" sz="6600" dirty="0"/>
          </a:p>
        </p:txBody>
      </p:sp>
      <p:sp>
        <p:nvSpPr>
          <p:cNvPr id="21" name="Text 19"/>
          <p:cNvSpPr txBox="1"/>
          <p:nvPr/>
        </p:nvSpPr>
        <p:spPr>
          <a:xfrm>
            <a:off x="7680960" y="3703320"/>
            <a:ext cx="3703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of [target customers] [experience this pain / lose $X per year to it]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7680960" y="5394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Source: [citation]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bg2"/>
                </a:solidFill>
                <a:latin typeface="+mj-lt"/>
                <a:ea typeface="+mj-lt"/>
                <a:cs typeface="+mj-lt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// 02 · THE SOLUTION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[Product] lets [customer] [achieve outcome] in [time] instead of [time]</a:t>
            </a:r>
            <a:endParaRPr lang="en-US" sz="2600" dirty="0"/>
          </a:p>
        </p:txBody>
      </p:sp>
      <p:sp>
        <p:nvSpPr>
          <p:cNvPr id="4" name="Today pane"/>
          <p:cNvSpPr/>
          <p:nvPr/>
        </p:nvSpPr>
        <p:spPr>
          <a:xfrm>
            <a:off x="548640" y="1874520"/>
            <a:ext cx="4937760" cy="297180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1305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− TODAY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606040"/>
            <a:ext cx="4434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6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−  </a:t>
            </a:r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[Slow / manual step]</a:t>
            </a:r>
            <a:endParaRPr lang="en-US" sz="16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6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−  </a:t>
            </a:r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[Costly or error-prone step]</a:t>
            </a:r>
            <a:endParaRPr lang="en-US" sz="16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6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−  </a:t>
            </a:r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[The outcome customers settle for]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0" y="288036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→</a:t>
            </a:r>
            <a:endParaRPr lang="en-US" sz="4400" dirty="0"/>
          </a:p>
        </p:txBody>
      </p:sp>
      <p:sp>
        <p:nvSpPr>
          <p:cNvPr id="8" name="With product pane"/>
          <p:cNvSpPr/>
          <p:nvPr/>
        </p:nvSpPr>
        <p:spPr>
          <a:xfrm>
            <a:off x="6702552" y="1874520"/>
            <a:ext cx="4937760" cy="2971800"/>
          </a:xfrm>
          <a:prstGeom prst="rect">
            <a:avLst/>
          </a:prstGeom>
          <a:solidFill>
            <a:schemeClr val="accent1">
              <a:alpha val="8000"/>
            </a:schemeClr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976872" y="21305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+ WITH [PRODUCT]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976872" y="2606040"/>
            <a:ext cx="4480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+  </a:t>
            </a:r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[What becomes fast or automatic]</a:t>
            </a:r>
            <a:endParaRPr lang="en-US" sz="16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+  </a:t>
            </a:r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[Measurable gain: X× faster, $Y saved]</a:t>
            </a:r>
            <a:endParaRPr lang="en-US" sz="16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+  </a:t>
            </a:r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[A new outcome that wasn't possible before]</a:t>
            </a:r>
            <a:endParaRPr lang="en-US" sz="1600" dirty="0"/>
          </a:p>
        </p:txBody>
      </p:sp>
      <p:sp>
        <p:nvSpPr>
          <p:cNvPr id="11" name="Insight pane"/>
          <p:cNvSpPr/>
          <p:nvPr/>
        </p:nvSpPr>
        <p:spPr>
          <a:xfrm>
            <a:off x="548640" y="5120640"/>
            <a:ext cx="11091672" cy="82296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512064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&gt; </a:t>
            </a:r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Our insight: </a:t>
            </a:r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[The non-obvious thing you understand about this problem that others miss]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bg2"/>
                </a:solidFill>
                <a:latin typeface="+mj-lt"/>
                <a:ea typeface="+mj-lt"/>
                <a:cs typeface="+mj-lt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// 03 · PRODUCT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[How it works: the product in one sentence]</a:t>
            </a:r>
            <a:endParaRPr lang="en-US" sz="2600" dirty="0"/>
          </a:p>
        </p:txBody>
      </p:sp>
      <p:sp>
        <p:nvSpPr>
          <p:cNvPr id="4" name="Product window"/>
          <p:cNvSpPr/>
          <p:nvPr/>
        </p:nvSpPr>
        <p:spPr>
          <a:xfrm>
            <a:off x="548640" y="1874520"/>
            <a:ext cx="6766560" cy="416052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029968"/>
            <a:ext cx="100584" cy="100584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6" name="Shape 4"/>
          <p:cNvSpPr/>
          <p:nvPr/>
        </p:nvSpPr>
        <p:spPr>
          <a:xfrm>
            <a:off x="978408" y="2029968"/>
            <a:ext cx="100584" cy="100584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7" name="Shape 5"/>
          <p:cNvSpPr/>
          <p:nvPr/>
        </p:nvSpPr>
        <p:spPr>
          <a:xfrm>
            <a:off x="1179576" y="2029968"/>
            <a:ext cx="100584" cy="100584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463040" y="19476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bg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product.preview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286000"/>
            <a:ext cx="6766560" cy="0"/>
          </a:xfrm>
          <a:prstGeom prst="line">
            <a:avLst/>
          </a:prstGeom>
          <a:noFill/>
          <a:ln w="12700">
            <a:solidFill>
              <a:schemeClr val="tx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286000"/>
            <a:ext cx="676656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[Product screenshot, mockup, or demo GIF]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680960" y="1874520"/>
            <a:ext cx="3959352" cy="0"/>
          </a:xfrm>
          <a:prstGeom prst="line">
            <a:avLst/>
          </a:prstGeom>
          <a:noFill/>
          <a:ln w="12700">
            <a:solidFill>
              <a:schemeClr val="tx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680960" y="21031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01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275320" y="2075688"/>
            <a:ext cx="3364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[Key feature 1]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8275320" y="2478024"/>
            <a:ext cx="33649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[What it does and why the user cares]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680960" y="3246120"/>
            <a:ext cx="3959352" cy="0"/>
          </a:xfrm>
          <a:prstGeom prst="line">
            <a:avLst/>
          </a:prstGeom>
          <a:noFill/>
          <a:ln w="12700">
            <a:solidFill>
              <a:schemeClr val="tx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680960" y="34747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02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275320" y="3447288"/>
            <a:ext cx="3364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[Key feature 2]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275320" y="3849624"/>
            <a:ext cx="33649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[What it does and why the user cares]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680960" y="4617720"/>
            <a:ext cx="3959352" cy="0"/>
          </a:xfrm>
          <a:prstGeom prst="line">
            <a:avLst/>
          </a:prstGeom>
          <a:noFill/>
          <a:ln w="12700">
            <a:solidFill>
              <a:schemeClr val="tx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680960" y="48463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03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8275320" y="4818888"/>
            <a:ext cx="3364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[Key feature 3]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8275320" y="5221224"/>
            <a:ext cx="33649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[What it does and why the user cares]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680960" y="5989320"/>
            <a:ext cx="3959352" cy="0"/>
          </a:xfrm>
          <a:prstGeom prst="line">
            <a:avLst/>
          </a:prstGeom>
          <a:noFill/>
          <a:ln w="12700">
            <a:solidFill>
              <a:schemeClr val="tx2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bg2"/>
                </a:solidFill>
                <a:latin typeface="+mj-lt"/>
                <a:ea typeface="+mj-lt"/>
                <a:cs typeface="+mj-lt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// 04 · WHY NOW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Why now: [the shift that makes this possible today]</a:t>
            </a:r>
            <a:endParaRPr lang="en-US" sz="2600" dirty="0"/>
          </a:p>
        </p:txBody>
      </p:sp>
      <p:sp>
        <p:nvSpPr>
          <p:cNvPr id="4" name="Why now pane 1"/>
          <p:cNvSpPr/>
          <p:nvPr/>
        </p:nvSpPr>
        <p:spPr>
          <a:xfrm>
            <a:off x="548640" y="1874520"/>
            <a:ext cx="3697224" cy="374904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214884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01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3154680"/>
            <a:ext cx="3057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TECHNOLOGY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520440"/>
            <a:ext cx="30571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[What changed in the tech]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4434840"/>
            <a:ext cx="3057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[Why this makes your solution possible, or necessary, now and not 5 years ago]</a:t>
            </a:r>
            <a:endParaRPr lang="en-US" sz="1400" dirty="0"/>
          </a:p>
        </p:txBody>
      </p:sp>
      <p:sp>
        <p:nvSpPr>
          <p:cNvPr id="9" name="Why now pane 2"/>
          <p:cNvSpPr/>
          <p:nvPr/>
        </p:nvSpPr>
        <p:spPr>
          <a:xfrm>
            <a:off x="4245864" y="1874520"/>
            <a:ext cx="3697224" cy="374904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65904" y="214884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02</a:t>
            </a:r>
            <a:endParaRPr lang="en-US" sz="5400" dirty="0"/>
          </a:p>
        </p:txBody>
      </p:sp>
      <p:sp>
        <p:nvSpPr>
          <p:cNvPr id="11" name="Text 9"/>
          <p:cNvSpPr txBox="1"/>
          <p:nvPr/>
        </p:nvSpPr>
        <p:spPr>
          <a:xfrm>
            <a:off x="4565904" y="3154680"/>
            <a:ext cx="3057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MARKET / BEHAVIOR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565904" y="3520440"/>
            <a:ext cx="30571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[What changed in how people buy or work]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4565904" y="4434840"/>
            <a:ext cx="3057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[Why this makes your solution possible, or necessary, now and not 5 years ago]</a:t>
            </a:r>
            <a:endParaRPr lang="en-US" sz="1400" dirty="0"/>
          </a:p>
        </p:txBody>
      </p:sp>
      <p:sp>
        <p:nvSpPr>
          <p:cNvPr id="14" name="Why now pane 3"/>
          <p:cNvSpPr/>
          <p:nvPr/>
        </p:nvSpPr>
        <p:spPr>
          <a:xfrm>
            <a:off x="7943088" y="1874520"/>
            <a:ext cx="3697224" cy="374904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63128" y="214884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03</a:t>
            </a:r>
            <a:endParaRPr lang="en-US" sz="5400" dirty="0"/>
          </a:p>
        </p:txBody>
      </p:sp>
      <p:sp>
        <p:nvSpPr>
          <p:cNvPr id="16" name="Text 14"/>
          <p:cNvSpPr txBox="1"/>
          <p:nvPr/>
        </p:nvSpPr>
        <p:spPr>
          <a:xfrm>
            <a:off x="8263128" y="3154680"/>
            <a:ext cx="3057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REGULATION / COST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263128" y="3520440"/>
            <a:ext cx="30571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[What changed in rules or costs]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8263128" y="4434840"/>
            <a:ext cx="3057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[Why this makes your solution possible, or necessary, now and not 5 years ago]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bg2"/>
                </a:solidFill>
                <a:latin typeface="+mj-lt"/>
                <a:ea typeface="+mj-lt"/>
                <a:cs typeface="+mj-lt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// 05 · MARKET SIZE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A $[X]B market, and we can win $[Y]M of it in [N] years</a:t>
            </a:r>
            <a:endParaRPr lang="en-US" sz="2600" dirty="0"/>
          </a:p>
        </p:txBody>
      </p:sp>
      <p:sp>
        <p:nvSpPr>
          <p:cNvPr id="4" name="TAM square"/>
          <p:cNvSpPr/>
          <p:nvPr/>
        </p:nvSpPr>
        <p:spPr>
          <a:xfrm>
            <a:off x="548640" y="1874520"/>
            <a:ext cx="4069080" cy="406908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SAM square"/>
          <p:cNvSpPr/>
          <p:nvPr/>
        </p:nvSpPr>
        <p:spPr>
          <a:xfrm>
            <a:off x="548640" y="3200400"/>
            <a:ext cx="2743200" cy="2743200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6" name="SOM square"/>
          <p:cNvSpPr/>
          <p:nvPr/>
        </p:nvSpPr>
        <p:spPr>
          <a:xfrm>
            <a:off x="548640" y="4480560"/>
            <a:ext cx="1463040" cy="14630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20391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chemeClr val="bg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TAM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3649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SAM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46451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SOM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120640" y="1874520"/>
            <a:ext cx="6519672" cy="0"/>
          </a:xfrm>
          <a:prstGeom prst="line">
            <a:avLst/>
          </a:prstGeom>
          <a:noFill/>
          <a:ln w="12700">
            <a:solidFill>
              <a:schemeClr val="tx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120640" y="21031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$[X]B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0" y="2057400"/>
            <a:ext cx="4325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Total addressable market (TAM)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0" y="2404872"/>
            <a:ext cx="4325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[Everyone who could ever buy this × annual spend]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120640" y="3017520"/>
            <a:ext cx="6519672" cy="0"/>
          </a:xfrm>
          <a:prstGeom prst="line">
            <a:avLst/>
          </a:prstGeom>
          <a:noFill/>
          <a:ln w="12700">
            <a:solidFill>
              <a:schemeClr val="tx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120640" y="32461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$[X]B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0" y="3200400"/>
            <a:ext cx="4325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Serviceable market (SAM)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0" y="3547872"/>
            <a:ext cx="4325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[The segment you can reach with today's product and channels]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120640" y="4160520"/>
            <a:ext cx="6519672" cy="0"/>
          </a:xfrm>
          <a:prstGeom prst="line">
            <a:avLst/>
          </a:prstGeom>
          <a:noFill/>
          <a:ln w="12700">
            <a:solidFill>
              <a:schemeClr val="tx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120640" y="43891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$[X]M</a:t>
            </a:r>
            <a:endParaRPr lang="en-US" sz="3000" dirty="0"/>
          </a:p>
        </p:txBody>
      </p:sp>
      <p:sp>
        <p:nvSpPr>
          <p:cNvPr id="20" name="Text 18"/>
          <p:cNvSpPr txBox="1"/>
          <p:nvPr/>
        </p:nvSpPr>
        <p:spPr>
          <a:xfrm>
            <a:off x="7315200" y="4343400"/>
            <a:ext cx="4325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Obtainable in [3–5] years (SOM)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7315200" y="4690872"/>
            <a:ext cx="4325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[The realistic share you can win: the number to defend]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120640" y="5303520"/>
            <a:ext cx="6519672" cy="0"/>
          </a:xfrm>
          <a:prstGeom prst="line">
            <a:avLst/>
          </a:prstGeom>
          <a:noFill/>
          <a:ln w="12700">
            <a:solidFill>
              <a:schemeClr val="tx2"/>
            </a:solidFill>
            <a:prstDash val="solid"/>
          </a:ln>
        </p:spPr>
      </p:sp>
      <p:sp>
        <p:nvSpPr>
          <p:cNvPr id="23" name="Bottom-up math"/>
          <p:cNvSpPr/>
          <p:nvPr/>
        </p:nvSpPr>
        <p:spPr>
          <a:xfrm>
            <a:off x="5120640" y="5440680"/>
            <a:ext cx="6519672" cy="50292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349240" y="5440680"/>
            <a:ext cx="6172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$ </a:t>
            </a:r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Bottom-up: 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[# target customers] × $[annual contract value] = $[SAM]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bg2"/>
                </a:solidFill>
                <a:latin typeface="+mj-lt"/>
                <a:ea typeface="+mj-lt"/>
                <a:cs typeface="+mj-lt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// 06 · BUSINESS MODEL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We charge [customer] [$X per unit]: [pricing model in one line]</a:t>
            </a:r>
            <a:endParaRPr lang="en-US" sz="2600" dirty="0"/>
          </a:p>
        </p:txBody>
      </p:sp>
      <p:sp>
        <p:nvSpPr>
          <p:cNvPr id="4" name="Pricing tier 1"/>
          <p:cNvSpPr/>
          <p:nvPr/>
        </p:nvSpPr>
        <p:spPr>
          <a:xfrm>
            <a:off x="548640" y="1874520"/>
            <a:ext cx="3697224" cy="192024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2103120"/>
            <a:ext cx="3057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bg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[TIER 1]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423160"/>
            <a:ext cx="3057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$[X]</a:t>
            </a:r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  / [user · month]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200400"/>
            <a:ext cx="3057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[Who it's for and what's included]</a:t>
            </a:r>
            <a:endParaRPr lang="en-US" sz="1400" dirty="0"/>
          </a:p>
        </p:txBody>
      </p:sp>
      <p:sp>
        <p:nvSpPr>
          <p:cNvPr id="8" name="Pricing tier 3"/>
          <p:cNvSpPr/>
          <p:nvPr/>
        </p:nvSpPr>
        <p:spPr>
          <a:xfrm>
            <a:off x="7943088" y="1874520"/>
            <a:ext cx="3697224" cy="192024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63128" y="2103120"/>
            <a:ext cx="3057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bg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[TIER 3]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263128" y="2423160"/>
            <a:ext cx="3057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$[X]</a:t>
            </a:r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  / [user · month]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8263128" y="3200400"/>
            <a:ext cx="3057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[Who it's for and what's included]</a:t>
            </a:r>
            <a:endParaRPr lang="en-US" sz="1400" dirty="0"/>
          </a:p>
        </p:txBody>
      </p:sp>
      <p:sp>
        <p:nvSpPr>
          <p:cNvPr id="12" name="Pricing tier 2"/>
          <p:cNvSpPr/>
          <p:nvPr/>
        </p:nvSpPr>
        <p:spPr>
          <a:xfrm>
            <a:off x="4245864" y="1874520"/>
            <a:ext cx="3697224" cy="1920240"/>
          </a:xfrm>
          <a:prstGeom prst="rect">
            <a:avLst/>
          </a:prstGeom>
          <a:solidFill>
            <a:schemeClr val="accent1">
              <a:alpha val="8000"/>
            </a:schemeClr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65904" y="2103120"/>
            <a:ext cx="3057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[TIER 2]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565904" y="2423160"/>
            <a:ext cx="3057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$[X]</a:t>
            </a:r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  / [user · month]</a:t>
            </a:r>
            <a:endParaRPr lang="en-US" sz="3400" dirty="0"/>
          </a:p>
        </p:txBody>
      </p:sp>
      <p:sp>
        <p:nvSpPr>
          <p:cNvPr id="15" name="Text 13"/>
          <p:cNvSpPr txBox="1"/>
          <p:nvPr/>
        </p:nvSpPr>
        <p:spPr>
          <a:xfrm>
            <a:off x="4565904" y="3200400"/>
            <a:ext cx="3057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[Who it's for and what's included]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069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// UNIT ECONOMICS</a:t>
            </a:r>
            <a:endParaRPr lang="en-US" sz="1200" dirty="0"/>
          </a:p>
        </p:txBody>
      </p:sp>
      <p:sp>
        <p:nvSpPr>
          <p:cNvPr id="17" name="Unit economics 1"/>
          <p:cNvSpPr/>
          <p:nvPr/>
        </p:nvSpPr>
        <p:spPr>
          <a:xfrm>
            <a:off x="548640" y="4434840"/>
            <a:ext cx="2772918" cy="146304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2960" y="4636008"/>
            <a:ext cx="22242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$[X]</a:t>
            </a:r>
            <a:endParaRPr lang="en-US" sz="30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5303520"/>
            <a:ext cx="22242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Avg. contract value (ACV)</a:t>
            </a:r>
            <a:endParaRPr lang="en-US" sz="1300" dirty="0"/>
          </a:p>
        </p:txBody>
      </p:sp>
      <p:sp>
        <p:nvSpPr>
          <p:cNvPr id="20" name="Unit economics 2"/>
          <p:cNvSpPr/>
          <p:nvPr/>
        </p:nvSpPr>
        <p:spPr>
          <a:xfrm>
            <a:off x="3321558" y="4434840"/>
            <a:ext cx="2772918" cy="146304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595878" y="4636008"/>
            <a:ext cx="22242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[X]%</a:t>
            </a:r>
            <a:endParaRPr lang="en-US" sz="3000" dirty="0"/>
          </a:p>
        </p:txBody>
      </p:sp>
      <p:sp>
        <p:nvSpPr>
          <p:cNvPr id="22" name="Text 20"/>
          <p:cNvSpPr txBox="1"/>
          <p:nvPr/>
        </p:nvSpPr>
        <p:spPr>
          <a:xfrm>
            <a:off x="3595878" y="5303520"/>
            <a:ext cx="22242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Gross margin</a:t>
            </a:r>
            <a:endParaRPr lang="en-US" sz="1300" dirty="0"/>
          </a:p>
        </p:txBody>
      </p:sp>
      <p:sp>
        <p:nvSpPr>
          <p:cNvPr id="23" name="Unit economics 3"/>
          <p:cNvSpPr/>
          <p:nvPr/>
        </p:nvSpPr>
        <p:spPr>
          <a:xfrm>
            <a:off x="6094476" y="4434840"/>
            <a:ext cx="2772918" cy="146304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368796" y="4636008"/>
            <a:ext cx="22242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[N] mo</a:t>
            </a:r>
            <a:endParaRPr lang="en-US" sz="3000" dirty="0"/>
          </a:p>
        </p:txBody>
      </p:sp>
      <p:sp>
        <p:nvSpPr>
          <p:cNvPr id="25" name="Text 23"/>
          <p:cNvSpPr txBox="1"/>
          <p:nvPr/>
        </p:nvSpPr>
        <p:spPr>
          <a:xfrm>
            <a:off x="6368796" y="5303520"/>
            <a:ext cx="22242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CAC payback period</a:t>
            </a:r>
            <a:endParaRPr lang="en-US" sz="1300" dirty="0"/>
          </a:p>
        </p:txBody>
      </p:sp>
      <p:sp>
        <p:nvSpPr>
          <p:cNvPr id="26" name="Unit economics 4"/>
          <p:cNvSpPr/>
          <p:nvPr/>
        </p:nvSpPr>
        <p:spPr>
          <a:xfrm>
            <a:off x="8867394" y="4434840"/>
            <a:ext cx="2772918" cy="146304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141714" y="4636008"/>
            <a:ext cx="22242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[X]:1</a:t>
            </a:r>
            <a:endParaRPr lang="en-US" sz="3000" dirty="0"/>
          </a:p>
        </p:txBody>
      </p:sp>
      <p:sp>
        <p:nvSpPr>
          <p:cNvPr id="28" name="Text 26"/>
          <p:cNvSpPr txBox="1"/>
          <p:nvPr/>
        </p:nvSpPr>
        <p:spPr>
          <a:xfrm>
            <a:off x="9141714" y="5303520"/>
            <a:ext cx="22242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LTV : CAC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bg2"/>
                </a:solidFill>
                <a:latin typeface="+mj-lt"/>
                <a:ea typeface="+mj-lt"/>
                <a:cs typeface="+mj-lt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// 07 · TRACTION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[Key metric] grew [X]× in [N] months</a:t>
            </a:r>
            <a:endParaRPr lang="en-US" sz="2600" dirty="0"/>
          </a:p>
        </p:txBody>
      </p:sp>
      <p:sp>
        <p:nvSpPr>
          <p:cNvPr id="4" name="Chart pane"/>
          <p:cNvSpPr/>
          <p:nvPr/>
        </p:nvSpPr>
        <p:spPr>
          <a:xfrm>
            <a:off x="548640" y="1874520"/>
            <a:ext cx="7040880" cy="411480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tx2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685800" y="1965960"/>
          <a:ext cx="676656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raction stat 1"/>
          <p:cNvSpPr/>
          <p:nvPr/>
        </p:nvSpPr>
        <p:spPr>
          <a:xfrm>
            <a:off x="7863840" y="1874520"/>
            <a:ext cx="3776472" cy="1371600"/>
          </a:xfrm>
          <a:prstGeom prst="rect">
            <a:avLst/>
          </a:prstGeom>
          <a:solidFill>
            <a:schemeClr val="accent1">
              <a:alpha val="8000"/>
            </a:schemeClr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138160" y="2075688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$[X]</a:t>
            </a:r>
            <a:endParaRPr lang="en-US" sz="3400" dirty="0"/>
          </a:p>
        </p:txBody>
      </p:sp>
      <p:sp>
        <p:nvSpPr>
          <p:cNvPr id="8" name="Text 5"/>
          <p:cNvSpPr txBox="1"/>
          <p:nvPr/>
        </p:nvSpPr>
        <p:spPr>
          <a:xfrm>
            <a:off x="10881360" y="213055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▲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138160" y="27432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Monthly recurring revenue</a:t>
            </a:r>
            <a:endParaRPr lang="en-US" sz="1400" dirty="0"/>
          </a:p>
        </p:txBody>
      </p:sp>
      <p:sp>
        <p:nvSpPr>
          <p:cNvPr id="10" name="Traction stat 2"/>
          <p:cNvSpPr/>
          <p:nvPr/>
        </p:nvSpPr>
        <p:spPr>
          <a:xfrm>
            <a:off x="7863840" y="3246120"/>
            <a:ext cx="3776472" cy="137160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138160" y="3447288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[X]%</a:t>
            </a:r>
            <a:endParaRPr lang="en-US" sz="3400" dirty="0"/>
          </a:p>
        </p:txBody>
      </p:sp>
      <p:sp>
        <p:nvSpPr>
          <p:cNvPr id="12" name="Text 9"/>
          <p:cNvSpPr txBox="1"/>
          <p:nvPr/>
        </p:nvSpPr>
        <p:spPr>
          <a:xfrm>
            <a:off x="10881360" y="350215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▲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8138160" y="41148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Month-over-month growth</a:t>
            </a:r>
            <a:endParaRPr lang="en-US" sz="1400" dirty="0"/>
          </a:p>
        </p:txBody>
      </p:sp>
      <p:sp>
        <p:nvSpPr>
          <p:cNvPr id="14" name="Traction stat 3"/>
          <p:cNvSpPr/>
          <p:nvPr/>
        </p:nvSpPr>
        <p:spPr>
          <a:xfrm>
            <a:off x="7863840" y="4617720"/>
            <a:ext cx="3776472" cy="137160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138160" y="4818888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[X]%</a:t>
            </a:r>
            <a:endParaRPr lang="en-US" sz="3400" dirty="0"/>
          </a:p>
        </p:txBody>
      </p:sp>
      <p:sp>
        <p:nvSpPr>
          <p:cNvPr id="16" name="Text 13"/>
          <p:cNvSpPr txBox="1"/>
          <p:nvPr/>
        </p:nvSpPr>
        <p:spPr>
          <a:xfrm>
            <a:off x="10881360" y="487375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▲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8138160" y="54864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Net revenue retention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bg2"/>
                </a:solidFill>
                <a:latin typeface="+mj-lt"/>
                <a:ea typeface="+mj-lt"/>
                <a:cs typeface="+mj-lt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// 08 · COMPETITION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[Company] is the only [category] that [key differentiator]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1828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↑  [Y axis: e.g., Depth / power]</a:t>
            </a:r>
            <a:endParaRPr lang="en-US" sz="1200" dirty="0"/>
          </a:p>
        </p:txBody>
      </p:sp>
      <p:sp>
        <p:nvSpPr>
          <p:cNvPr id="5" name="Matrix"/>
          <p:cNvSpPr/>
          <p:nvPr/>
        </p:nvSpPr>
        <p:spPr>
          <a:xfrm>
            <a:off x="914400" y="2148840"/>
            <a:ext cx="5486400" cy="352044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0" y="2148840"/>
            <a:ext cx="0" cy="3520440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914400" y="3909060"/>
            <a:ext cx="5486400" cy="0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914400" y="5760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[X axis: e.g., Ease of use]  →</a:t>
            </a:r>
            <a:endParaRPr lang="en-US" sz="1200" dirty="0"/>
          </a:p>
        </p:txBody>
      </p:sp>
      <p:pic>
        <p:nvPicPr>
          <p:cNvPr id="9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0952" y="2057400"/>
            <a:ext cx="1005840" cy="1005840"/>
          </a:xfrm>
          <a:prstGeom prst="rect">
            <a:avLst/>
          </a:prstGeom>
        </p:spPr>
      </p:pic>
      <p:sp>
        <p:nvSpPr>
          <p:cNvPr id="10" name="You marker"/>
          <p:cNvSpPr/>
          <p:nvPr/>
        </p:nvSpPr>
        <p:spPr>
          <a:xfrm>
            <a:off x="5678424" y="2404872"/>
            <a:ext cx="310896" cy="31089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3566160" y="23774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[Your company]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1280160" y="2651760"/>
            <a:ext cx="256032" cy="256032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1691640" y="261518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[Competitor A]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114800" y="4389120"/>
            <a:ext cx="256032" cy="256032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4526280" y="435254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[Competitor B]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1280160" y="4846320"/>
            <a:ext cx="256032" cy="256032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1691640" y="480974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[Competitor C]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6949440" y="2148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// WHY WE WIN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949440" y="2514600"/>
            <a:ext cx="4690872" cy="0"/>
          </a:xfrm>
          <a:prstGeom prst="line">
            <a:avLst/>
          </a:prstGeom>
          <a:noFill/>
          <a:ln w="12700">
            <a:solidFill>
              <a:schemeClr val="tx2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949440" y="267919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01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7543800" y="2660904"/>
            <a:ext cx="4096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[Unfair advantage 1]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7543800" y="2990088"/>
            <a:ext cx="4096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[e.g., proprietary data, network effects, distribution, deep tech]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949440" y="3566160"/>
            <a:ext cx="4690872" cy="0"/>
          </a:xfrm>
          <a:prstGeom prst="line">
            <a:avLst/>
          </a:prstGeom>
          <a:noFill/>
          <a:ln w="12700">
            <a:solidFill>
              <a:schemeClr val="tx2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949440" y="373075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02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7543800" y="3712464"/>
            <a:ext cx="4096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[Unfair advantage 2]</a:t>
            </a:r>
            <a:endParaRPr lang="en-US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7543800" y="4041648"/>
            <a:ext cx="4096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[e.g., proprietary data, network effects, distribution, deep tech]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6949440" y="4617720"/>
            <a:ext cx="4690872" cy="0"/>
          </a:xfrm>
          <a:prstGeom prst="line">
            <a:avLst/>
          </a:prstGeom>
          <a:noFill/>
          <a:ln w="12700">
            <a:solidFill>
              <a:schemeClr val="tx2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949440" y="478231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03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7543800" y="4764024"/>
            <a:ext cx="4096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[Unfair advantage 3]</a:t>
            </a:r>
            <a:endParaRPr lang="en-US" sz="1600" dirty="0"/>
          </a:p>
        </p:txBody>
      </p:sp>
      <p:sp>
        <p:nvSpPr>
          <p:cNvPr id="30" name="Text 27"/>
          <p:cNvSpPr txBox="1"/>
          <p:nvPr/>
        </p:nvSpPr>
        <p:spPr>
          <a:xfrm>
            <a:off x="7543800" y="5093208"/>
            <a:ext cx="4096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[e.g., proprietary data, network effects, distribution, deep tech]</a:t>
            </a:r>
            <a:endParaRPr lang="en-US" sz="1300" dirty="0"/>
          </a:p>
        </p:txBody>
      </p:sp>
      <p:sp>
        <p:nvSpPr>
          <p:cNvPr id="31" name="Shape 28"/>
          <p:cNvSpPr/>
          <p:nvPr/>
        </p:nvSpPr>
        <p:spPr>
          <a:xfrm>
            <a:off x="6949440" y="5669280"/>
            <a:ext cx="4690872" cy="0"/>
          </a:xfrm>
          <a:prstGeom prst="line">
            <a:avLst/>
          </a:prstGeom>
          <a:noFill/>
          <a:ln w="12700">
            <a:solidFill>
              <a:schemeClr val="tx2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bg2"/>
                </a:solidFill>
                <a:latin typeface="+mj-lt"/>
                <a:ea typeface="+mj-lt"/>
                <a:cs typeface="+mj-lt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// 09 · GO-TO-MARKET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How we reach customers: [primary channel]</a:t>
            </a:r>
            <a:endParaRPr lang="en-US" sz="2600" dirty="0"/>
          </a:p>
        </p:txBody>
      </p:sp>
      <p:sp>
        <p:nvSpPr>
          <p:cNvPr id="4" name="GTM step 1"/>
          <p:cNvSpPr/>
          <p:nvPr/>
        </p:nvSpPr>
        <p:spPr>
          <a:xfrm>
            <a:off x="548640" y="1874520"/>
            <a:ext cx="3697224" cy="2606040"/>
          </a:xfrm>
          <a:prstGeom prst="rect">
            <a:avLst/>
          </a:prstGeom>
          <a:solidFill>
            <a:schemeClr val="accent1">
              <a:alpha val="8000"/>
            </a:schemeClr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2075688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01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2782824" y="219456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000" dirty="0">
                <a:solidFill>
                  <a:schemeClr val="accent4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──→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834640"/>
            <a:ext cx="3057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STEP 1 · LAND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154680"/>
            <a:ext cx="3057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[e.g., Founder-led sales to 10 design partners]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3886200"/>
            <a:ext cx="3057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[Timing, target, and what success looks like]</a:t>
            </a:r>
            <a:endParaRPr lang="en-US" sz="1400" dirty="0"/>
          </a:p>
        </p:txBody>
      </p:sp>
      <p:sp>
        <p:nvSpPr>
          <p:cNvPr id="10" name="GTM step 2"/>
          <p:cNvSpPr/>
          <p:nvPr/>
        </p:nvSpPr>
        <p:spPr>
          <a:xfrm>
            <a:off x="4245864" y="1874520"/>
            <a:ext cx="3697224" cy="260604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65904" y="2075688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02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6480048" y="219456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000" dirty="0">
                <a:solidFill>
                  <a:schemeClr val="accent4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──→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4565904" y="2834640"/>
            <a:ext cx="3057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STEP 2 · EXPAND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565904" y="3154680"/>
            <a:ext cx="3057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[e.g., Referrals and upsell within accounts]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4565904" y="3886200"/>
            <a:ext cx="3057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[Timing, target, and what success looks like]</a:t>
            </a:r>
            <a:endParaRPr lang="en-US" sz="1400" dirty="0"/>
          </a:p>
        </p:txBody>
      </p:sp>
      <p:sp>
        <p:nvSpPr>
          <p:cNvPr id="16" name="GTM step 3"/>
          <p:cNvSpPr/>
          <p:nvPr/>
        </p:nvSpPr>
        <p:spPr>
          <a:xfrm>
            <a:off x="7943088" y="1874520"/>
            <a:ext cx="3697224" cy="260604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63128" y="2075688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03</a:t>
            </a:r>
            <a:endParaRPr lang="en-US" sz="4000" dirty="0"/>
          </a:p>
        </p:txBody>
      </p:sp>
      <p:sp>
        <p:nvSpPr>
          <p:cNvPr id="18" name="Text 16"/>
          <p:cNvSpPr txBox="1"/>
          <p:nvPr/>
        </p:nvSpPr>
        <p:spPr>
          <a:xfrm>
            <a:off x="8263128" y="2834640"/>
            <a:ext cx="3057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STEP 3 · SCALE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8263128" y="3154680"/>
            <a:ext cx="3057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[e.g., Inside sales team + partner channel]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8263128" y="3886200"/>
            <a:ext cx="3057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[Timing, target, and what success looks like]</a:t>
            </a:r>
            <a:endParaRPr lang="en-US" sz="1400" dirty="0"/>
          </a:p>
        </p:txBody>
      </p:sp>
      <p:sp>
        <p:nvSpPr>
          <p:cNvPr id="21" name="GTM card 1"/>
          <p:cNvSpPr/>
          <p:nvPr/>
        </p:nvSpPr>
        <p:spPr>
          <a:xfrm>
            <a:off x="548640" y="4663440"/>
            <a:ext cx="3697224" cy="1280160"/>
          </a:xfrm>
          <a:prstGeom prst="rect">
            <a:avLst/>
          </a:prstGeom>
          <a:ln w="12700">
            <a:solidFill>
              <a:schemeClr val="tx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68680" y="4846320"/>
            <a:ext cx="3057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&gt; Ideal customer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868680" y="5212080"/>
            <a:ext cx="3057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[Industry, company size, buyer title]</a:t>
            </a:r>
            <a:endParaRPr lang="en-US" sz="1400" dirty="0"/>
          </a:p>
        </p:txBody>
      </p:sp>
      <p:sp>
        <p:nvSpPr>
          <p:cNvPr id="24" name="GTM card 2"/>
          <p:cNvSpPr/>
          <p:nvPr/>
        </p:nvSpPr>
        <p:spPr>
          <a:xfrm>
            <a:off x="4245864" y="4663440"/>
            <a:ext cx="3697224" cy="1280160"/>
          </a:xfrm>
          <a:prstGeom prst="rect">
            <a:avLst/>
          </a:prstGeom>
          <a:ln w="12700">
            <a:solidFill>
              <a:schemeClr val="tx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565904" y="4846320"/>
            <a:ext cx="3057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&gt; Sales motion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4565904" y="5212080"/>
            <a:ext cx="3057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[Self-serve · Product-led · Sales-led]</a:t>
            </a:r>
            <a:endParaRPr lang="en-US" sz="1400" dirty="0"/>
          </a:p>
        </p:txBody>
      </p:sp>
      <p:sp>
        <p:nvSpPr>
          <p:cNvPr id="27" name="GTM card 3"/>
          <p:cNvSpPr/>
          <p:nvPr/>
        </p:nvSpPr>
        <p:spPr>
          <a:xfrm>
            <a:off x="7943088" y="4663440"/>
            <a:ext cx="3697224" cy="1280160"/>
          </a:xfrm>
          <a:prstGeom prst="rect">
            <a:avLst/>
          </a:prstGeom>
          <a:ln w="12700">
            <a:solidFill>
              <a:schemeClr val="tx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263128" y="4846320"/>
            <a:ext cx="3057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&gt; Proof it works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8263128" y="5212080"/>
            <a:ext cx="3057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[CAC by channel, conversion rate, pipeline]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bg2"/>
                </a:solidFill>
                <a:latin typeface="+mj-lt"/>
                <a:ea typeface="+mj-lt"/>
                <a:cs typeface="+mj-lt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// 10 · TEAM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Why us: [the unfair advantage this team brings]</a:t>
            </a:r>
            <a:endParaRPr lang="en-US" sz="2600" dirty="0"/>
          </a:p>
        </p:txBody>
      </p:sp>
      <p:sp>
        <p:nvSpPr>
          <p:cNvPr id="4" name="Team card 1"/>
          <p:cNvSpPr/>
          <p:nvPr/>
        </p:nvSpPr>
        <p:spPr>
          <a:xfrm>
            <a:off x="548640" y="1874520"/>
            <a:ext cx="2772918" cy="352044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Photo 1"/>
          <p:cNvSpPr/>
          <p:nvPr/>
        </p:nvSpPr>
        <p:spPr>
          <a:xfrm>
            <a:off x="822960" y="2148840"/>
            <a:ext cx="1188720" cy="1188720"/>
          </a:xfrm>
          <a:prstGeom prst="rect">
            <a:avLst/>
          </a:prstGeom>
          <a:solidFill>
            <a:schemeClr val="tx1"/>
          </a:solidFill>
          <a:ln w="12700">
            <a:solidFill>
              <a:schemeClr val="accent4"/>
            </a:solidFill>
            <a:prstDash val="dash"/>
          </a:ln>
        </p:spPr>
      </p:sp>
      <p:sp>
        <p:nvSpPr>
          <p:cNvPr id="6" name="Text 4"/>
          <p:cNvSpPr txBox="1"/>
          <p:nvPr/>
        </p:nvSpPr>
        <p:spPr>
          <a:xfrm>
            <a:off x="822960" y="214884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[Photo]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2498598" y="21488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chemeClr val="accent4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566160"/>
            <a:ext cx="22242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[Name]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931920"/>
            <a:ext cx="22242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[Role]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4297680"/>
            <a:ext cx="222427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[Prior company, exit, or domain expertise: why you're the one to build this]</a:t>
            </a:r>
            <a:endParaRPr lang="en-US" sz="1300" dirty="0"/>
          </a:p>
        </p:txBody>
      </p:sp>
      <p:sp>
        <p:nvSpPr>
          <p:cNvPr id="11" name="Team card 2"/>
          <p:cNvSpPr/>
          <p:nvPr/>
        </p:nvSpPr>
        <p:spPr>
          <a:xfrm>
            <a:off x="3321558" y="1874520"/>
            <a:ext cx="2772918" cy="352044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2" name="Photo 2"/>
          <p:cNvSpPr/>
          <p:nvPr/>
        </p:nvSpPr>
        <p:spPr>
          <a:xfrm>
            <a:off x="3595878" y="2148840"/>
            <a:ext cx="1188720" cy="1188720"/>
          </a:xfrm>
          <a:prstGeom prst="rect">
            <a:avLst/>
          </a:prstGeom>
          <a:solidFill>
            <a:schemeClr val="tx1"/>
          </a:solidFill>
          <a:ln w="12700">
            <a:solidFill>
              <a:schemeClr val="accent4"/>
            </a:solidFill>
            <a:prstDash val="dash"/>
          </a:ln>
        </p:spPr>
      </p:sp>
      <p:sp>
        <p:nvSpPr>
          <p:cNvPr id="13" name="Text 11"/>
          <p:cNvSpPr txBox="1"/>
          <p:nvPr/>
        </p:nvSpPr>
        <p:spPr>
          <a:xfrm>
            <a:off x="3595878" y="214884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[Photo]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5271516" y="21488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chemeClr val="accent4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3595878" y="3566160"/>
            <a:ext cx="22242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[Name]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3595878" y="3931920"/>
            <a:ext cx="22242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[Role]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3595878" y="4297680"/>
            <a:ext cx="222427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[Prior company, exit, or domain expertise: why you're the one to build this]</a:t>
            </a:r>
            <a:endParaRPr lang="en-US" sz="1300" dirty="0"/>
          </a:p>
        </p:txBody>
      </p:sp>
      <p:sp>
        <p:nvSpPr>
          <p:cNvPr id="18" name="Team card 3"/>
          <p:cNvSpPr/>
          <p:nvPr/>
        </p:nvSpPr>
        <p:spPr>
          <a:xfrm>
            <a:off x="6094476" y="1874520"/>
            <a:ext cx="2772918" cy="352044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9" name="Photo 3"/>
          <p:cNvSpPr/>
          <p:nvPr/>
        </p:nvSpPr>
        <p:spPr>
          <a:xfrm>
            <a:off x="6368796" y="2148840"/>
            <a:ext cx="1188720" cy="1188720"/>
          </a:xfrm>
          <a:prstGeom prst="rect">
            <a:avLst/>
          </a:prstGeom>
          <a:solidFill>
            <a:schemeClr val="tx1"/>
          </a:solidFill>
          <a:ln w="12700">
            <a:solidFill>
              <a:schemeClr val="accent4"/>
            </a:solidFill>
            <a:prstDash val="dash"/>
          </a:ln>
        </p:spPr>
      </p:sp>
      <p:sp>
        <p:nvSpPr>
          <p:cNvPr id="20" name="Text 18"/>
          <p:cNvSpPr txBox="1"/>
          <p:nvPr/>
        </p:nvSpPr>
        <p:spPr>
          <a:xfrm>
            <a:off x="6368796" y="214884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[Photo]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8044434" y="21488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chemeClr val="accent4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03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6368796" y="3566160"/>
            <a:ext cx="22242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[Name]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6368796" y="3931920"/>
            <a:ext cx="22242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[Role]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368796" y="4297680"/>
            <a:ext cx="222427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[Prior company, exit, or domain expertise: why you're the one to build this]</a:t>
            </a:r>
            <a:endParaRPr lang="en-US" sz="1300" dirty="0"/>
          </a:p>
        </p:txBody>
      </p:sp>
      <p:sp>
        <p:nvSpPr>
          <p:cNvPr id="25" name="Team card 4"/>
          <p:cNvSpPr/>
          <p:nvPr/>
        </p:nvSpPr>
        <p:spPr>
          <a:xfrm>
            <a:off x="8867394" y="1874520"/>
            <a:ext cx="2772918" cy="352044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6" name="Photo 4"/>
          <p:cNvSpPr/>
          <p:nvPr/>
        </p:nvSpPr>
        <p:spPr>
          <a:xfrm>
            <a:off x="9141714" y="2148840"/>
            <a:ext cx="1188720" cy="1188720"/>
          </a:xfrm>
          <a:prstGeom prst="rect">
            <a:avLst/>
          </a:prstGeom>
          <a:solidFill>
            <a:schemeClr val="tx1"/>
          </a:solidFill>
          <a:ln w="12700">
            <a:solidFill>
              <a:schemeClr val="accent4"/>
            </a:solidFill>
            <a:prstDash val="dash"/>
          </a:ln>
        </p:spPr>
      </p:sp>
      <p:sp>
        <p:nvSpPr>
          <p:cNvPr id="27" name="Text 25"/>
          <p:cNvSpPr txBox="1"/>
          <p:nvPr/>
        </p:nvSpPr>
        <p:spPr>
          <a:xfrm>
            <a:off x="9141714" y="214884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[Photo]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10817352" y="21488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chemeClr val="accent4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04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9141714" y="3566160"/>
            <a:ext cx="22242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[Name]</a:t>
            </a:r>
            <a:endParaRPr lang="en-US" sz="1800" dirty="0"/>
          </a:p>
        </p:txBody>
      </p:sp>
      <p:sp>
        <p:nvSpPr>
          <p:cNvPr id="30" name="Text 28"/>
          <p:cNvSpPr txBox="1"/>
          <p:nvPr/>
        </p:nvSpPr>
        <p:spPr>
          <a:xfrm>
            <a:off x="9141714" y="3931920"/>
            <a:ext cx="22242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[Role]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9141714" y="4297680"/>
            <a:ext cx="222427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[Prior company, exit, or domain expertise: why you're the one to build this]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557784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&gt; </a:t>
            </a:r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Advisors &amp; investors: </a:t>
            </a:r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[Name (credential)]  ·  [Name (credential)]  ·  [Name (credential)]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bg2"/>
                </a:solidFill>
                <a:latin typeface="+mj-lt"/>
                <a:ea typeface="+mj-lt"/>
                <a:cs typeface="+mj-lt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// 11 · FINANCIALS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Path to $[X]M revenue by [year]</a:t>
            </a:r>
            <a:endParaRPr lang="en-US" sz="2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74520"/>
          <a:ext cx="11091672" cy="914400"/>
        </p:xfrm>
        <a:graphic>
          <a:graphicData uri="http://schemas.openxmlformats.org/drawingml/2006/table">
            <a:tbl>
              <a:tblPr/>
              <a:tblGrid>
                <a:gridCol w="2862072"/>
                <a:gridCol w="1645920"/>
                <a:gridCol w="1645920"/>
                <a:gridCol w="1645920"/>
                <a:gridCol w="1645920"/>
                <a:gridCol w="164592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400" dirty="0">
                        <a:latin typeface="+mj-lt" charset="0"/>
                        <a:ea typeface="+mj-lt" charset="0"/>
                        <a:cs typeface="+mj-lt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  <a:latin typeface="+mj-lt" pitchFamily="34" charset="0"/>
                          <a:ea typeface="+mj-lt" pitchFamily="34" charset="-122"/>
                          <a:cs typeface="+mj-lt" pitchFamily="34" charset="-120"/>
                        </a:rPr>
                        <a:t>[Year 1]</a:t>
                      </a:r>
                      <a:endParaRPr lang="en-US" sz="1400" dirty="0">
                        <a:latin typeface="+mj-lt" charset="0"/>
                        <a:ea typeface="+mj-lt" charset="0"/>
                        <a:cs typeface="+mj-lt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  <a:latin typeface="+mj-lt" pitchFamily="34" charset="0"/>
                          <a:ea typeface="+mj-lt" pitchFamily="34" charset="-122"/>
                          <a:cs typeface="+mj-lt" pitchFamily="34" charset="-120"/>
                        </a:rPr>
                        <a:t>[Year 2]</a:t>
                      </a:r>
                      <a:endParaRPr lang="en-US" sz="1400" dirty="0">
                        <a:latin typeface="+mj-lt" charset="0"/>
                        <a:ea typeface="+mj-lt" charset="0"/>
                        <a:cs typeface="+mj-lt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  <a:latin typeface="+mj-lt" pitchFamily="34" charset="0"/>
                          <a:ea typeface="+mj-lt" pitchFamily="34" charset="-122"/>
                          <a:cs typeface="+mj-lt" pitchFamily="34" charset="-120"/>
                        </a:rPr>
                        <a:t>[Year 3]</a:t>
                      </a:r>
                      <a:endParaRPr lang="en-US" sz="1400" dirty="0">
                        <a:latin typeface="+mj-lt" charset="0"/>
                        <a:ea typeface="+mj-lt" charset="0"/>
                        <a:cs typeface="+mj-lt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  <a:latin typeface="+mj-lt" pitchFamily="34" charset="0"/>
                          <a:ea typeface="+mj-lt" pitchFamily="34" charset="-122"/>
                          <a:cs typeface="+mj-lt" pitchFamily="34" charset="-120"/>
                        </a:rPr>
                        <a:t>[Year 4]</a:t>
                      </a:r>
                      <a:endParaRPr lang="en-US" sz="1400" dirty="0">
                        <a:latin typeface="+mj-lt" charset="0"/>
                        <a:ea typeface="+mj-lt" charset="0"/>
                        <a:cs typeface="+mj-lt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  <a:latin typeface="+mj-lt" pitchFamily="34" charset="0"/>
                          <a:ea typeface="+mj-lt" pitchFamily="34" charset="-122"/>
                          <a:cs typeface="+mj-lt" pitchFamily="34" charset="-120"/>
                        </a:rPr>
                        <a:t>[Year 5]</a:t>
                      </a:r>
                      <a:endParaRPr lang="en-US" sz="1400" dirty="0">
                        <a:latin typeface="+mj-lt" charset="0"/>
                        <a:ea typeface="+mj-lt" charset="0"/>
                        <a:cs typeface="+mj-lt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Revenue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+mj-lt" pitchFamily="34" charset="0"/>
                          <a:ea typeface="+mj-lt" pitchFamily="34" charset="-122"/>
                          <a:cs typeface="+mj-lt" pitchFamily="34" charset="-120"/>
                        </a:rPr>
                        <a:t>$[ ]</a:t>
                      </a:r>
                      <a:endParaRPr lang="en-US" sz="1400" dirty="0">
                        <a:latin typeface="+mj-lt" charset="0"/>
                        <a:ea typeface="+mj-lt" charset="0"/>
                        <a:cs typeface="+mj-lt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+mj-lt" pitchFamily="34" charset="0"/>
                          <a:ea typeface="+mj-lt" pitchFamily="34" charset="-122"/>
                          <a:cs typeface="+mj-lt" pitchFamily="34" charset="-120"/>
                        </a:rPr>
                        <a:t>$[ ]</a:t>
                      </a:r>
                      <a:endParaRPr lang="en-US" sz="1400" dirty="0">
                        <a:latin typeface="+mj-lt" charset="0"/>
                        <a:ea typeface="+mj-lt" charset="0"/>
                        <a:cs typeface="+mj-lt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+mj-lt" pitchFamily="34" charset="0"/>
                          <a:ea typeface="+mj-lt" pitchFamily="34" charset="-122"/>
                          <a:cs typeface="+mj-lt" pitchFamily="34" charset="-120"/>
                        </a:rPr>
                        <a:t>$[ ]</a:t>
                      </a:r>
                      <a:endParaRPr lang="en-US" sz="1400" dirty="0">
                        <a:latin typeface="+mj-lt" charset="0"/>
                        <a:ea typeface="+mj-lt" charset="0"/>
                        <a:cs typeface="+mj-lt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+mj-lt" pitchFamily="34" charset="0"/>
                          <a:ea typeface="+mj-lt" pitchFamily="34" charset="-122"/>
                          <a:cs typeface="+mj-lt" pitchFamily="34" charset="-120"/>
                        </a:rPr>
                        <a:t>$[ ]</a:t>
                      </a:r>
                      <a:endParaRPr lang="en-US" sz="1400" dirty="0">
                        <a:latin typeface="+mj-lt" charset="0"/>
                        <a:ea typeface="+mj-lt" charset="0"/>
                        <a:cs typeface="+mj-lt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+mj-lt" pitchFamily="34" charset="0"/>
                          <a:ea typeface="+mj-lt" pitchFamily="34" charset="-122"/>
                          <a:cs typeface="+mj-lt" pitchFamily="34" charset="-120"/>
                        </a:rPr>
                        <a:t>$[ ]</a:t>
                      </a:r>
                      <a:endParaRPr lang="en-US" sz="1400" dirty="0">
                        <a:latin typeface="+mj-lt" charset="0"/>
                        <a:ea typeface="+mj-lt" charset="0"/>
                        <a:cs typeface="+mj-lt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Gross margin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+mj-lt" pitchFamily="34" charset="0"/>
                          <a:ea typeface="+mj-lt" pitchFamily="34" charset="-122"/>
                          <a:cs typeface="+mj-lt" pitchFamily="34" charset="-120"/>
                        </a:rPr>
                        <a:t>[ ]%</a:t>
                      </a:r>
                      <a:endParaRPr lang="en-US" sz="1400" dirty="0">
                        <a:latin typeface="+mj-lt" charset="0"/>
                        <a:ea typeface="+mj-lt" charset="0"/>
                        <a:cs typeface="+mj-lt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+mj-lt" pitchFamily="34" charset="0"/>
                          <a:ea typeface="+mj-lt" pitchFamily="34" charset="-122"/>
                          <a:cs typeface="+mj-lt" pitchFamily="34" charset="-120"/>
                        </a:rPr>
                        <a:t>[ ]%</a:t>
                      </a:r>
                      <a:endParaRPr lang="en-US" sz="1400" dirty="0">
                        <a:latin typeface="+mj-lt" charset="0"/>
                        <a:ea typeface="+mj-lt" charset="0"/>
                        <a:cs typeface="+mj-lt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+mj-lt" pitchFamily="34" charset="0"/>
                          <a:ea typeface="+mj-lt" pitchFamily="34" charset="-122"/>
                          <a:cs typeface="+mj-lt" pitchFamily="34" charset="-120"/>
                        </a:rPr>
                        <a:t>[ ]%</a:t>
                      </a:r>
                      <a:endParaRPr lang="en-US" sz="1400" dirty="0">
                        <a:latin typeface="+mj-lt" charset="0"/>
                        <a:ea typeface="+mj-lt" charset="0"/>
                        <a:cs typeface="+mj-lt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+mj-lt" pitchFamily="34" charset="0"/>
                          <a:ea typeface="+mj-lt" pitchFamily="34" charset="-122"/>
                          <a:cs typeface="+mj-lt" pitchFamily="34" charset="-120"/>
                        </a:rPr>
                        <a:t>[ ]%</a:t>
                      </a:r>
                      <a:endParaRPr lang="en-US" sz="1400" dirty="0">
                        <a:latin typeface="+mj-lt" charset="0"/>
                        <a:ea typeface="+mj-lt" charset="0"/>
                        <a:cs typeface="+mj-lt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+mj-lt" pitchFamily="34" charset="0"/>
                          <a:ea typeface="+mj-lt" pitchFamily="34" charset="-122"/>
                          <a:cs typeface="+mj-lt" pitchFamily="34" charset="-120"/>
                        </a:rPr>
                        <a:t>[ ]%</a:t>
                      </a:r>
                      <a:endParaRPr lang="en-US" sz="1400" dirty="0">
                        <a:latin typeface="+mj-lt" charset="0"/>
                        <a:ea typeface="+mj-lt" charset="0"/>
                        <a:cs typeface="+mj-lt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Operating expenses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+mj-lt" pitchFamily="34" charset="0"/>
                          <a:ea typeface="+mj-lt" pitchFamily="34" charset="-122"/>
                          <a:cs typeface="+mj-lt" pitchFamily="34" charset="-120"/>
                        </a:rPr>
                        <a:t>$[ ]</a:t>
                      </a:r>
                      <a:endParaRPr lang="en-US" sz="1400" dirty="0">
                        <a:latin typeface="+mj-lt" charset="0"/>
                        <a:ea typeface="+mj-lt" charset="0"/>
                        <a:cs typeface="+mj-lt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+mj-lt" pitchFamily="34" charset="0"/>
                          <a:ea typeface="+mj-lt" pitchFamily="34" charset="-122"/>
                          <a:cs typeface="+mj-lt" pitchFamily="34" charset="-120"/>
                        </a:rPr>
                        <a:t>$[ ]</a:t>
                      </a:r>
                      <a:endParaRPr lang="en-US" sz="1400" dirty="0">
                        <a:latin typeface="+mj-lt" charset="0"/>
                        <a:ea typeface="+mj-lt" charset="0"/>
                        <a:cs typeface="+mj-lt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+mj-lt" pitchFamily="34" charset="0"/>
                          <a:ea typeface="+mj-lt" pitchFamily="34" charset="-122"/>
                          <a:cs typeface="+mj-lt" pitchFamily="34" charset="-120"/>
                        </a:rPr>
                        <a:t>$[ ]</a:t>
                      </a:r>
                      <a:endParaRPr lang="en-US" sz="1400" dirty="0">
                        <a:latin typeface="+mj-lt" charset="0"/>
                        <a:ea typeface="+mj-lt" charset="0"/>
                        <a:cs typeface="+mj-lt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+mj-lt" pitchFamily="34" charset="0"/>
                          <a:ea typeface="+mj-lt" pitchFamily="34" charset="-122"/>
                          <a:cs typeface="+mj-lt" pitchFamily="34" charset="-120"/>
                        </a:rPr>
                        <a:t>$[ ]</a:t>
                      </a:r>
                      <a:endParaRPr lang="en-US" sz="1400" dirty="0">
                        <a:latin typeface="+mj-lt" charset="0"/>
                        <a:ea typeface="+mj-lt" charset="0"/>
                        <a:cs typeface="+mj-lt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+mj-lt" pitchFamily="34" charset="0"/>
                          <a:ea typeface="+mj-lt" pitchFamily="34" charset="-122"/>
                          <a:cs typeface="+mj-lt" pitchFamily="34" charset="-120"/>
                        </a:rPr>
                        <a:t>$[ ]</a:t>
                      </a:r>
                      <a:endParaRPr lang="en-US" sz="1400" dirty="0">
                        <a:latin typeface="+mj-lt" charset="0"/>
                        <a:ea typeface="+mj-lt" charset="0"/>
                        <a:cs typeface="+mj-lt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Net burn / EBITDA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+mj-lt" pitchFamily="34" charset="0"/>
                          <a:ea typeface="+mj-lt" pitchFamily="34" charset="-122"/>
                          <a:cs typeface="+mj-lt" pitchFamily="34" charset="-120"/>
                        </a:rPr>
                        <a:t>$[ ]</a:t>
                      </a:r>
                      <a:endParaRPr lang="en-US" sz="1400" dirty="0">
                        <a:latin typeface="+mj-lt" charset="0"/>
                        <a:ea typeface="+mj-lt" charset="0"/>
                        <a:cs typeface="+mj-lt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+mj-lt" pitchFamily="34" charset="0"/>
                          <a:ea typeface="+mj-lt" pitchFamily="34" charset="-122"/>
                          <a:cs typeface="+mj-lt" pitchFamily="34" charset="-120"/>
                        </a:rPr>
                        <a:t>$[ ]</a:t>
                      </a:r>
                      <a:endParaRPr lang="en-US" sz="1400" dirty="0">
                        <a:latin typeface="+mj-lt" charset="0"/>
                        <a:ea typeface="+mj-lt" charset="0"/>
                        <a:cs typeface="+mj-lt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+mj-lt" pitchFamily="34" charset="0"/>
                          <a:ea typeface="+mj-lt" pitchFamily="34" charset="-122"/>
                          <a:cs typeface="+mj-lt" pitchFamily="34" charset="-120"/>
                        </a:rPr>
                        <a:t>$[ ]</a:t>
                      </a:r>
                      <a:endParaRPr lang="en-US" sz="1400" dirty="0">
                        <a:latin typeface="+mj-lt" charset="0"/>
                        <a:ea typeface="+mj-lt" charset="0"/>
                        <a:cs typeface="+mj-lt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+mj-lt" pitchFamily="34" charset="0"/>
                          <a:ea typeface="+mj-lt" pitchFamily="34" charset="-122"/>
                          <a:cs typeface="+mj-lt" pitchFamily="34" charset="-120"/>
                        </a:rPr>
                        <a:t>$[ ]</a:t>
                      </a:r>
                      <a:endParaRPr lang="en-US" sz="1400" dirty="0">
                        <a:latin typeface="+mj-lt" charset="0"/>
                        <a:ea typeface="+mj-lt" charset="0"/>
                        <a:cs typeface="+mj-lt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+mj-lt" pitchFamily="34" charset="0"/>
                          <a:ea typeface="+mj-lt" pitchFamily="34" charset="-122"/>
                          <a:cs typeface="+mj-lt" pitchFamily="34" charset="-120"/>
                        </a:rPr>
                        <a:t>$[ ]</a:t>
                      </a:r>
                      <a:endParaRPr lang="en-US" sz="1400" dirty="0">
                        <a:latin typeface="+mj-lt" charset="0"/>
                        <a:ea typeface="+mj-lt" charset="0"/>
                        <a:cs typeface="+mj-lt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Ending cash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+mj-lt" pitchFamily="34" charset="0"/>
                          <a:ea typeface="+mj-lt" pitchFamily="34" charset="-122"/>
                          <a:cs typeface="+mj-lt" pitchFamily="34" charset="-120"/>
                        </a:rPr>
                        <a:t>$[ ]</a:t>
                      </a:r>
                      <a:endParaRPr lang="en-US" sz="1400" dirty="0">
                        <a:latin typeface="+mj-lt" charset="0"/>
                        <a:ea typeface="+mj-lt" charset="0"/>
                        <a:cs typeface="+mj-lt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+mj-lt" pitchFamily="34" charset="0"/>
                          <a:ea typeface="+mj-lt" pitchFamily="34" charset="-122"/>
                          <a:cs typeface="+mj-lt" pitchFamily="34" charset="-120"/>
                        </a:rPr>
                        <a:t>$[ ]</a:t>
                      </a:r>
                      <a:endParaRPr lang="en-US" sz="1400" dirty="0">
                        <a:latin typeface="+mj-lt" charset="0"/>
                        <a:ea typeface="+mj-lt" charset="0"/>
                        <a:cs typeface="+mj-lt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+mj-lt" pitchFamily="34" charset="0"/>
                          <a:ea typeface="+mj-lt" pitchFamily="34" charset="-122"/>
                          <a:cs typeface="+mj-lt" pitchFamily="34" charset="-120"/>
                        </a:rPr>
                        <a:t>$[ ]</a:t>
                      </a:r>
                      <a:endParaRPr lang="en-US" sz="1400" dirty="0">
                        <a:latin typeface="+mj-lt" charset="0"/>
                        <a:ea typeface="+mj-lt" charset="0"/>
                        <a:cs typeface="+mj-lt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+mj-lt" pitchFamily="34" charset="0"/>
                          <a:ea typeface="+mj-lt" pitchFamily="34" charset="-122"/>
                          <a:cs typeface="+mj-lt" pitchFamily="34" charset="-120"/>
                        </a:rPr>
                        <a:t>$[ ]</a:t>
                      </a:r>
                      <a:endParaRPr lang="en-US" sz="1400" dirty="0">
                        <a:latin typeface="+mj-lt" charset="0"/>
                        <a:ea typeface="+mj-lt" charset="0"/>
                        <a:cs typeface="+mj-lt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+mj-lt" pitchFamily="34" charset="0"/>
                          <a:ea typeface="+mj-lt" pitchFamily="34" charset="-122"/>
                          <a:cs typeface="+mj-lt" pitchFamily="34" charset="-120"/>
                        </a:rPr>
                        <a:t>$[ ]</a:t>
                      </a:r>
                      <a:endParaRPr lang="en-US" sz="1400" dirty="0">
                        <a:latin typeface="+mj-lt" charset="0"/>
                        <a:ea typeface="+mj-lt" charset="0"/>
                        <a:cs typeface="+mj-lt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Headcount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+mj-lt" pitchFamily="34" charset="0"/>
                          <a:ea typeface="+mj-lt" pitchFamily="34" charset="-122"/>
                          <a:cs typeface="+mj-lt" pitchFamily="34" charset="-120"/>
                        </a:rPr>
                        <a:t>[ ]</a:t>
                      </a:r>
                      <a:endParaRPr lang="en-US" sz="1400" dirty="0">
                        <a:latin typeface="+mj-lt" charset="0"/>
                        <a:ea typeface="+mj-lt" charset="0"/>
                        <a:cs typeface="+mj-lt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+mj-lt" pitchFamily="34" charset="0"/>
                          <a:ea typeface="+mj-lt" pitchFamily="34" charset="-122"/>
                          <a:cs typeface="+mj-lt" pitchFamily="34" charset="-120"/>
                        </a:rPr>
                        <a:t>[ ]</a:t>
                      </a:r>
                      <a:endParaRPr lang="en-US" sz="1400" dirty="0">
                        <a:latin typeface="+mj-lt" charset="0"/>
                        <a:ea typeface="+mj-lt" charset="0"/>
                        <a:cs typeface="+mj-lt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+mj-lt" pitchFamily="34" charset="0"/>
                          <a:ea typeface="+mj-lt" pitchFamily="34" charset="-122"/>
                          <a:cs typeface="+mj-lt" pitchFamily="34" charset="-120"/>
                        </a:rPr>
                        <a:t>[ ]</a:t>
                      </a:r>
                      <a:endParaRPr lang="en-US" sz="1400" dirty="0">
                        <a:latin typeface="+mj-lt" charset="0"/>
                        <a:ea typeface="+mj-lt" charset="0"/>
                        <a:cs typeface="+mj-lt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+mj-lt" pitchFamily="34" charset="0"/>
                          <a:ea typeface="+mj-lt" pitchFamily="34" charset="-122"/>
                          <a:cs typeface="+mj-lt" pitchFamily="34" charset="-120"/>
                        </a:rPr>
                        <a:t>[ ]</a:t>
                      </a:r>
                      <a:endParaRPr lang="en-US" sz="1400" dirty="0">
                        <a:latin typeface="+mj-lt" charset="0"/>
                        <a:ea typeface="+mj-lt" charset="0"/>
                        <a:cs typeface="+mj-lt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+mj-lt" pitchFamily="34" charset="0"/>
                          <a:ea typeface="+mj-lt" pitchFamily="34" charset="-122"/>
                          <a:cs typeface="+mj-lt" pitchFamily="34" charset="-120"/>
                        </a:rPr>
                        <a:t>[ ]</a:t>
                      </a:r>
                      <a:endParaRPr lang="en-US" sz="1400" dirty="0">
                        <a:latin typeface="+mj-lt" charset="0"/>
                        <a:ea typeface="+mj-lt" charset="0"/>
                        <a:cs typeface="+mj-lt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</a:tr>
            </a:tbl>
          </a:graphicData>
        </a:graphic>
      </p:graphicFrame>
      <p:sp>
        <p:nvSpPr>
          <p:cNvPr id="5" name="Assumptions pane"/>
          <p:cNvSpPr/>
          <p:nvPr/>
        </p:nvSpPr>
        <p:spPr>
          <a:xfrm>
            <a:off x="548640" y="4754880"/>
            <a:ext cx="11091672" cy="123444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2960" y="4892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// KEY ASSUMPTIONS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519379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▸"/>
            </a:pPr>
            <a:r>
              <a:rPr lang="en-US" sz="1400" dirty="0">
                <a:solidFill>
                  <a:schemeClr val="bg1"/>
                </a:solidFill>
              </a:rPr>
              <a:t>[Growth rate and what drives it]</a:t>
            </a:r>
            <a:endParaRPr lang="en-US" sz="1400" dirty="0"/>
          </a:p>
          <a:p>
            <a:pPr marL="342900" indent="-342900">
              <a:buSzPct val="100000"/>
              <a:buChar char="▸"/>
            </a:pPr>
            <a:r>
              <a:rPr lang="en-US" sz="1400" dirty="0">
                <a:solidFill>
                  <a:schemeClr val="bg1"/>
                </a:solidFill>
              </a:rPr>
              <a:t>[Pricing, churn, and sales capacity assumptions]</a:t>
            </a:r>
            <a:endParaRPr lang="en-US" sz="1400" dirty="0"/>
          </a:p>
          <a:p>
            <a:pPr marL="342900" indent="-342900">
              <a:buSzPct val="100000"/>
              <a:buChar char="▸"/>
            </a:pPr>
            <a:r>
              <a:rPr lang="en-US" sz="1400" dirty="0">
                <a:solidFill>
                  <a:schemeClr val="bg1"/>
                </a:solidFill>
              </a:rPr>
              <a:t>[When you reach breakeven, or what the next round funds]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bg2"/>
                </a:solidFill>
                <a:latin typeface="+mj-lt"/>
                <a:ea typeface="+mj-lt"/>
                <a:cs typeface="+mj-lt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// 12 · THE ASK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We're raising $[X]M to reach [milestone] in [N] months</a:t>
            </a:r>
            <a:endParaRPr lang="en-US" sz="2600" dirty="0"/>
          </a:p>
        </p:txBody>
      </p:sp>
      <p:sp>
        <p:nvSpPr>
          <p:cNvPr id="4" name="Raise pane"/>
          <p:cNvSpPr/>
          <p:nvPr/>
        </p:nvSpPr>
        <p:spPr>
          <a:xfrm>
            <a:off x="548640" y="1874520"/>
            <a:ext cx="4206240" cy="4114800"/>
          </a:xfrm>
          <a:prstGeom prst="rect">
            <a:avLst/>
          </a:prstGeom>
          <a:solidFill>
            <a:schemeClr val="accent1">
              <a:alpha val="8000"/>
            </a:schemeClr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21945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bg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RAISING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560320"/>
            <a:ext cx="3657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4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$[X]M</a:t>
            </a:r>
            <a:endParaRPr lang="en-US" sz="64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886200"/>
            <a:ext cx="3611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[SAFE / priced round]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[Pre-seed / Seed / Series A]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[$X committed · Lead: (name)]</a:t>
            </a:r>
            <a:endParaRPr lang="en-US" sz="1600" dirty="0"/>
          </a:p>
        </p:txBody>
      </p:sp>
      <p:sp>
        <p:nvSpPr>
          <p:cNvPr id="8" name="Use of funds pane"/>
          <p:cNvSpPr/>
          <p:nvPr/>
        </p:nvSpPr>
        <p:spPr>
          <a:xfrm>
            <a:off x="5029200" y="1874520"/>
            <a:ext cx="6611112" cy="251460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tx2"/>
            </a:solidFill>
            <a:prstDash val="solid"/>
          </a:ln>
        </p:spPr>
      </p:sp>
      <p:graphicFrame>
        <p:nvGraphicFramePr>
          <p:cNvPr id="9" name="Chart 0" descr=""/>
          <p:cNvGraphicFramePr/>
          <p:nvPr/>
        </p:nvGraphicFramePr>
        <p:xfrm>
          <a:off x="5120640" y="1920240"/>
          <a:ext cx="6428232" cy="2423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Milestone 1"/>
          <p:cNvSpPr/>
          <p:nvPr/>
        </p:nvSpPr>
        <p:spPr>
          <a:xfrm>
            <a:off x="5029200" y="4572000"/>
            <a:ext cx="2203704" cy="141732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257800" y="4727448"/>
            <a:ext cx="1746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MILESTONE 1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5257800" y="5047488"/>
            <a:ext cx="1792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[e.g., $1M ARR]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5257800" y="5486400"/>
            <a:ext cx="1792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[by month N]</a:t>
            </a:r>
            <a:endParaRPr lang="en-US" sz="1300" dirty="0"/>
          </a:p>
        </p:txBody>
      </p:sp>
      <p:sp>
        <p:nvSpPr>
          <p:cNvPr id="14" name="Milestone 2"/>
          <p:cNvSpPr/>
          <p:nvPr/>
        </p:nvSpPr>
        <p:spPr>
          <a:xfrm>
            <a:off x="7232904" y="4572000"/>
            <a:ext cx="2203704" cy="141732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461504" y="4727448"/>
            <a:ext cx="1746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MILESTONE 2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461504" y="5047488"/>
            <a:ext cx="1792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[e.g., 50 logos]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7461504" y="5486400"/>
            <a:ext cx="1792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[by month N]</a:t>
            </a:r>
            <a:endParaRPr lang="en-US" sz="1300" dirty="0"/>
          </a:p>
        </p:txBody>
      </p:sp>
      <p:sp>
        <p:nvSpPr>
          <p:cNvPr id="18" name="Milestone 3"/>
          <p:cNvSpPr/>
          <p:nvPr/>
        </p:nvSpPr>
        <p:spPr>
          <a:xfrm>
            <a:off x="9436608" y="4572000"/>
            <a:ext cx="2203704" cy="141732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9665208" y="4727448"/>
            <a:ext cx="1746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RUNWAY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9665208" y="5047488"/>
            <a:ext cx="1792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[N] months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9665208" y="5486400"/>
            <a:ext cx="1792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[to Series X metrics]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bg2"/>
                </a:solidFill>
                <a:latin typeface="+mj-lt"/>
                <a:ea typeface="+mj-lt"/>
                <a:cs typeface="+mj-lt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8288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$ </a:t>
            </a:r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echo $VISION</a:t>
            </a:r>
            <a:endParaRPr lang="en-US" sz="1600" dirty="0"/>
          </a:p>
        </p:txBody>
      </p:sp>
      <p:sp>
        <p:nvSpPr>
          <p:cNvPr id="3" name="Cursor"/>
          <p:cNvSpPr/>
          <p:nvPr/>
        </p:nvSpPr>
        <p:spPr>
          <a:xfrm>
            <a:off x="2651760" y="1856232"/>
            <a:ext cx="128016" cy="24688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[Your vision in one bold sentence: what the world looks like if you win]</a:t>
            </a:r>
            <a:endParaRPr lang="en-US" sz="36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731520" y="4572000"/>
            <a:ext cx="10698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[Founder name]  ·  [email@company.com]  ·  [phone]  ·  [company.com]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2461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$ </a:t>
            </a:r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ls ./appendix</a:t>
            </a:r>
            <a:endParaRPr lang="en-US" sz="1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Appendix</a:t>
            </a:r>
            <a:endParaRPr lang="en-US" sz="36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4572000"/>
            <a:ext cx="10698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[Detailed financials  ·  Cohort and retention data  ·  Customer case studies  ·  Technical architecture  ·  Product roadmap  ·  Cap table]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rminal Ledger">
  <a:themeElements>
    <a:clrScheme name="Terminal Ledger">
      <a:dk1>
        <a:srgbClr val="0A0A0A"/>
      </a:dk1>
      <a:lt1>
        <a:srgbClr val="EDEDED"/>
      </a:lt1>
      <a:dk2>
        <a:srgbClr val="2A2A2A"/>
      </a:dk2>
      <a:lt2>
        <a:srgbClr val="8F8F8F"/>
      </a:lt2>
      <a:accent1>
        <a:srgbClr val="3DFF8A"/>
      </a:accent1>
      <a:accent2>
        <a:srgbClr val="FFB000"/>
      </a:accent2>
      <a:accent3>
        <a:srgbClr val="141414"/>
      </a:accent3>
      <a:accent4>
        <a:srgbClr val="5C5C5C"/>
      </a:accent4>
      <a:accent5>
        <a:srgbClr val="1F1F1F"/>
      </a:accent5>
      <a:accent6>
        <a:srgbClr val="B8FFD3"/>
      </a:accent6>
      <a:hlink>
        <a:srgbClr val="3DFF8A"/>
      </a:hlink>
      <a:folHlink>
        <a:srgbClr val="8F8F8F"/>
      </a:folHlink>
    </a:clrScheme>
    <a:fontScheme name="Terminal Ledger">
      <a:majorFont>
        <a:latin typeface="Geist Mon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Geis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>PptxGenJS Presentation</dc:subject>
  <dc:creator>PptxGenJS</dc:creator>
  <cp:lastModifiedBy>PptxGenJS</cp:lastModifiedBy>
  <cp:revision>1</cp:revision>
  <dcterms:created xsi:type="dcterms:W3CDTF">2026-10-11T23:51:31Z</dcterms:created>
  <dcterms:modified xsi:type="dcterms:W3CDTF">2026-10-11T23:51:31Z</dcterms:modified>
</cp:coreProperties>
</file>